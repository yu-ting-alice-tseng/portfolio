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dia/image1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31" r:id="rId2"/>
    <p:sldId id="327" r:id="rId3"/>
    <p:sldId id="325" r:id="rId4"/>
    <p:sldId id="329" r:id="rId6"/>
    <p:sldId id="332" r:id="rId13"/>
    <p:sldId id="320" r:id="rId7"/>
    <p:sldId id="330" r:id="rId8"/>
    <p:sldId id="333" r:id="rId14"/>
    <p:sldId id="334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10D23"/>
    <a:srgbClr val="9E0D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7" y="6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Feuil1!$B$1</c:f>
              <c:strCache>
                <c:ptCount val="1"/>
                <c:pt idx="0">
                  <c:v>Vues</c:v>
                </c:pt>
              </c:strCache>
            </c:strRef>
          </c:tx>
          <c:spPr>
            <a:solidFill>
              <a:srgbClr val="C8102E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(Feuil1!$A$2:$A$8,Feuil1!$M$2:$M$8)</c:f>
              <c:strCache>
                <c:ptCount val="14"/>
                <c:pt idx="0">
                  <c:v>Lun 27 / 20</c:v>
                </c:pt>
                <c:pt idx="1">
                  <c:v>Mar 28 / 21</c:v>
                </c:pt>
                <c:pt idx="2">
                  <c:v>Mer 29 / 22</c:v>
                </c:pt>
                <c:pt idx="3">
                  <c:v>Jeu 30 / 23</c:v>
                </c:pt>
                <c:pt idx="4">
                  <c:v>Ven 31 / 24</c:v>
                </c:pt>
                <c:pt idx="5">
                  <c:v>Sam 1 / 25</c:v>
                </c:pt>
                <c:pt idx="6">
                  <c:v>Dim 2 / 26</c:v>
                </c:pt>
                <c:pt idx="7">
                  <c:v>Lun 20</c:v>
                </c:pt>
                <c:pt idx="8">
                  <c:v>Mar 21</c:v>
                </c:pt>
                <c:pt idx="9">
                  <c:v>Mer 22</c:v>
                </c:pt>
                <c:pt idx="10">
                  <c:v>Jeu 23</c:v>
                </c:pt>
                <c:pt idx="11">
                  <c:v>Ven 24</c:v>
                </c:pt>
                <c:pt idx="12">
                  <c:v>Sam 25</c:v>
                </c:pt>
                <c:pt idx="13">
                  <c:v>Dim 26</c:v>
                </c:pt>
              </c:strCache>
            </c:strRef>
          </c:cat>
          <c:val>
            <c:numRef>
              <c:f>Feuil1!$B$2:$B$8</c:f>
              <c:numCache>
                <c:formatCode>General</c:formatCode>
                <c:ptCount val="7"/>
                <c:pt idx="0">
                  <c:v>436</c:v>
                </c:pt>
                <c:pt idx="1">
                  <c:v>523</c:v>
                </c:pt>
                <c:pt idx="2">
                  <c:v>450</c:v>
                </c:pt>
                <c:pt idx="3">
                  <c:v>516</c:v>
                </c:pt>
                <c:pt idx="4">
                  <c:v>413</c:v>
                </c:pt>
                <c:pt idx="5">
                  <c:v>515</c:v>
                </c:pt>
                <c:pt idx="6">
                  <c:v>210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7E4-4EDE-829C-F87658C2AF63}"/>
            </c:ext>
          </c:extLst>
        </c:ser>
        <c:ser>
          <c:idx val="1"/>
          <c:order val="2"/>
          <c:tx>
            <c:v>Vues (semaine précédente)</c:v>
          </c:tx>
          <c:spPr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2B2D42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val>
            <c:numRef>
              <c:f>Feuil1!$N$2:$N$8</c:f>
              <c:numCache>
                <c:formatCode>General</c:formatCode>
                <c:ptCount val="7"/>
                <c:pt idx="0">
                  <c:v>173</c:v>
                </c:pt>
                <c:pt idx="1">
                  <c:v>174</c:v>
                </c:pt>
                <c:pt idx="2">
                  <c:v>177</c:v>
                </c:pt>
                <c:pt idx="3">
                  <c:v>517</c:v>
                </c:pt>
                <c:pt idx="4">
                  <c:v>185</c:v>
                </c:pt>
                <c:pt idx="5">
                  <c:v>240</c:v>
                </c:pt>
                <c:pt idx="6">
                  <c:v>582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C511-4BF4-91DD-C12B2E928A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"/>
        <c:axId val="2"/>
      </c:barChart>
      <c:lineChart>
        <c:grouping val="standard"/>
        <c:varyColors val="1"/>
        <c:ser>
          <c:idx val="5"/>
          <c:order val="1"/>
          <c:tx>
            <c:strRef>
              <c:f>Feuil1!$J$1</c:f>
              <c:strCache>
                <c:ptCount val="1"/>
                <c:pt idx="0">
                  <c:v>Taux d'engagement</c:v>
                </c:pt>
              </c:strCache>
            </c:strRef>
          </c:tx>
          <c:spPr>
            <a:ln>
              <a:solidFill>
                <a:schemeClr val="accent1">
                  <a:lumMod val="40000"/>
                  <a:lumOff val="60000"/>
                </a:schemeClr>
              </a:solidFill>
            </a:ln>
          </c:spPr>
          <c:marker>
            <c:symbol val="none"/>
          </c:marker>
          <c:dLbls>
            <c:dLbl>
              <c:idx val="0"/>
              <c:layout>
                <c:manualLayout>
                  <c:x val="-4.3390138732658415E-2"/>
                  <c:y val="-5.784951132923507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0D7-4346-9C30-AC9512C95ACB}"/>
                </c:ext>
              </c:extLst>
            </c:dLbl>
            <c:dLbl>
              <c:idx val="1"/>
              <c:layout>
                <c:manualLayout>
                  <c:x val="-3.981871016122987E-2"/>
                  <c:y val="-6.855894828269540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0D7-4346-9C30-AC9512C95ACB}"/>
                </c:ext>
              </c:extLst>
            </c:dLbl>
            <c:dLbl>
              <c:idx val="3"/>
              <c:layout>
                <c:manualLayout>
                  <c:x val="-2.3152043494563138E-2"/>
                  <c:y val="1.711654734498712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0D7-4346-9C30-AC9512C95ACB}"/>
                </c:ext>
              </c:extLst>
            </c:dLbl>
            <c:dLbl>
              <c:idx val="4"/>
              <c:layout>
                <c:manualLayout>
                  <c:x val="-2.1961567304087076E-2"/>
                  <c:y val="-8.997782218961605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0D7-4346-9C30-AC9512C95ACB}"/>
                </c:ext>
              </c:extLst>
            </c:dLbl>
            <c:dLbl>
              <c:idx val="6"/>
              <c:layout>
                <c:manualLayout>
                  <c:x val="-4.1044244469441316E-3"/>
                  <c:y val="-6.32042298059652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0D7-4346-9C30-AC9512C95ACB}"/>
                </c:ext>
              </c:extLst>
            </c:dLbl>
            <c:spPr>
              <a:solidFill>
                <a:srgbClr val="FFFFFF">
                  <a:alpha val="80000"/>
                </a:srgbClr>
              </a:solidFill>
              <a:ln>
                <a:noFill/>
              </a:ln>
              <a:effectLst/>
            </c:spPr>
            <c:txPr>
              <a:bodyPr wrap="square" lIns="19050" tIns="9525" rIns="19050" bIns="9525" anchor="ctr">
                <a:spAutoFit/>
              </a:bodyPr>
              <a:lstStyle/>
              <a:p>
                <a:pPr>
                  <a:defRPr sz="900" b="1">
                    <a:solidFill>
                      <a:srgbClr val="C8102E"/>
                    </a:solidFill>
                  </a:defRPr>
                </a:pPr>
                <a:endParaRPr lang="zh-TW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</c:ext>
            </c:extLst>
          </c:dLbls>
          <c:cat>
            <c:strRef>
              <c:f>Feuil1!$A$2:$A$8</c:f>
              <c:strCache>
                <c:ptCount val="7"/>
                <c:pt idx="0">
                  <c:v>Lun 27 / 20</c:v>
                </c:pt>
                <c:pt idx="1">
                  <c:v>Mar 28 / 21</c:v>
                </c:pt>
                <c:pt idx="2">
                  <c:v>Mer 29 / 22</c:v>
                </c:pt>
                <c:pt idx="3">
                  <c:v>Jeu 30 / 23</c:v>
                </c:pt>
                <c:pt idx="4">
                  <c:v>Ven 31 / 24</c:v>
                </c:pt>
                <c:pt idx="5">
                  <c:v>Sam 1 / 25</c:v>
                </c:pt>
                <c:pt idx="6">
                  <c:v>Dim 2 / 26</c:v>
                </c:pt>
              </c:strCache>
            </c:strRef>
          </c:cat>
          <c:val>
            <c:numRef>
              <c:f>Feuil1!$J$2:$J$8</c:f>
              <c:numCache>
                <c:formatCode>0.00%</c:formatCode>
                <c:ptCount val="7"/>
                <c:pt idx="0">
                  <c:v>4.82E-2</c:v>
                </c:pt>
                <c:pt idx="1">
                  <c:v>5.5399999999999998E-2</c:v>
                </c:pt>
                <c:pt idx="2">
                  <c:v>7.1099999999999997E-2</c:v>
                </c:pt>
                <c:pt idx="3">
                  <c:v>5.04E-2</c:v>
                </c:pt>
                <c:pt idx="4">
                  <c:v>6.0499999999999998E-2</c:v>
                </c:pt>
                <c:pt idx="5">
                  <c:v>4.6600000000000003E-2</c:v>
                </c:pt>
                <c:pt idx="6">
                  <c:v>5.7099999999999998E-2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C511-4BF4-91DD-C12B2E928AD4}"/>
            </c:ext>
          </c:extLst>
        </c:ser>
        <c:ser>
          <c:idx val="2"/>
          <c:order val="3"/>
          <c:tx>
            <c:v>Taux d'engagement (semaine précédente)</c:v>
          </c:tx>
          <c:spPr>
            <a:ln>
              <a:solidFill>
                <a:schemeClr val="accent2">
                  <a:lumMod val="75000"/>
                </a:schemeClr>
              </a:solidFill>
            </a:ln>
          </c:spPr>
          <c:marker>
            <c:symbol val="none"/>
          </c:marker>
          <c:dLbls>
            <c:dLbl>
              <c:idx val="3"/>
              <c:layout>
                <c:manualLayout>
                  <c:x val="-2.3152043494563138E-2"/>
                  <c:y val="-6.4071103915268957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0D7-4346-9C30-AC9512C95ACB}"/>
                </c:ext>
              </c:extLst>
            </c:dLbl>
            <c:spPr>
              <a:solidFill>
                <a:srgbClr val="FFFFFF">
                  <a:alpha val="80000"/>
                </a:srgbClr>
              </a:solidFill>
              <a:ln>
                <a:noFill/>
              </a:ln>
              <a:effectLst/>
            </c:spPr>
            <c:txPr>
              <a:bodyPr wrap="square" lIns="19050" tIns="9525" rIns="19050" bIns="9525" anchor="ctr">
                <a:spAutoFit/>
              </a:bodyPr>
              <a:lstStyle/>
              <a:p>
                <a:pPr>
                  <a:defRPr sz="900" b="1">
                    <a:solidFill>
                      <a:srgbClr val="8A6D00"/>
                    </a:solidFill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</c:ext>
            </c:extLst>
          </c:dLbls>
          <c:val>
            <c:numRef>
              <c:f>Feuil1!$V$2:$V$8</c:f>
              <c:numCache>
                <c:formatCode>0.00%</c:formatCode>
                <c:ptCount val="7"/>
                <c:pt idx="0">
                  <c:v>4.046242774566474E-2</c:v>
                </c:pt>
                <c:pt idx="1">
                  <c:v>2.8735632183908046E-2</c:v>
                </c:pt>
                <c:pt idx="2">
                  <c:v>5.6497175141242938E-2</c:v>
                </c:pt>
                <c:pt idx="3">
                  <c:v>7.3500967117988397E-2</c:v>
                </c:pt>
                <c:pt idx="4">
                  <c:v>6.4864864864864868E-2</c:v>
                </c:pt>
                <c:pt idx="5">
                  <c:v>4.1666666666666664E-2</c:v>
                </c:pt>
                <c:pt idx="6">
                  <c:v>3.951890034364261E-2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C511-4BF4-91DD-C12B2E928AD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19528671"/>
        <c:axId val="1519531551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 rot="0"/>
          <a:lstStyle/>
          <a:p>
            <a:pPr>
              <a:defRPr sz="1100"/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1"/>
        <c:crosses val="autoZero"/>
        <c:crossBetween val="between"/>
      </c:valAx>
      <c:valAx>
        <c:axId val="1519531551"/>
        <c:scaling>
          <c:orientation val="minMax"/>
          <c:max val="0.2"/>
        </c:scaling>
        <c:delete val="0"/>
        <c:axPos val="r"/>
        <c:numFmt formatCode="0%" sourceLinked="0"/>
        <c:majorTickMark val="none"/>
        <c:minorTickMark val="none"/>
        <c:tickLblPos val="nextTo"/>
        <c:crossAx val="1519528671"/>
        <c:crosses val="max"/>
        <c:crossBetween val="between"/>
      </c:valAx>
      <c:catAx>
        <c:axId val="151952867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19531551"/>
        <c:crosses val="autoZero"/>
        <c:auto val="1"/>
        <c:lblAlgn val="ctr"/>
        <c:lblOffset val="100"/>
        <c:noMultiLvlLbl val="0"/>
      </c:catAx>
    </c:plotArea>
    <c:legend>
      <c:legendPos val="r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zero"/>
    <c:showDLblsOverMax val="1"/>
  </c:chart>
  <c:spPr>
    <a:ln>
      <a:noFill/>
    </a:ln>
  </c:sp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A782A0-30E2-C156-CFBC-C959B1FEB3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05EA457-22D3-D0DE-8551-20380F8882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altLang="zh-TW"/>
              <a:t>Modifiez le style des sous-titres du masque</a:t>
            </a:r>
            <a:endParaRPr lang="zh-TW" alt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B162023-06EB-6AF3-621F-D3C272D6F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7BD87E1-77E0-24C3-B245-34735914A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0A7955-30B6-46EA-55A8-441BFDCB2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7878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HeaderBand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A50D2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1" name="HeaderGold"/>
          <p:cNvSpPr/>
          <p:nvPr/>
        </p:nvSpPr>
        <p:spPr>
          <a:xfrm>
            <a:off x="0" y="1524000"/>
            <a:ext cx="12192000" cy="762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2" name="HeaderAccent"/>
          <p:cNvSpPr/>
          <p:nvPr/>
        </p:nvSpPr>
        <p:spPr>
          <a:xfrm>
            <a:off x="0" y="0"/>
            <a:ext cx="177800" cy="15240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209B077-7621-FFE1-EE94-80C87BBE1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B3493B-3CA9-00D0-0086-EF94FBFD3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2FA6384-8AFD-2E89-7ABE-60C467EEA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54F59CA-1F3B-AB78-4A89-7BBC9E777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586E9F5-FFB5-567A-0F42-D256C2923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1844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17FF3D-2EFB-9341-0539-65FA01520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BD049B4-FD94-58C3-1577-B96239C31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 altLang="zh-TW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692803F-5A41-4504-43E5-253B0A924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5BBDCC3-B904-ADE6-E03D-3198F44F7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49F2B01-125C-80FB-3950-0C6604507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6296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0E786B-F5D7-6225-738E-CD6F7B844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0A8228-0798-FAD8-D29F-23DBE32B11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118A7DE-D6DF-CA1A-366F-0BA327873C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8CBA178-AC1D-AF9C-58CE-344C15693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BFB9D48-7149-FB8A-8C72-33021C50F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935249D-C0F2-4674-B508-610DE7CD7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5271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F0F125-2DF8-C1BB-D03D-CAC7E54D7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00BECB3-3AC4-6D87-905B-4736E09F2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altLang="zh-TW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449CF12-A3EB-E2DC-08AB-00093F1603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5CB1A26-1E35-E682-937F-8C34E22304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altLang="zh-TW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8185A9C-92DA-80AE-70BD-8622DE5765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CA66921-C209-5532-638A-12D0D7832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94D078A-68DE-4011-1B94-D014A7270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1589B5C-B7C7-EA67-4051-76D21053C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2343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HeaderBand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A50D2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1" name="HeaderGold"/>
          <p:cNvSpPr/>
          <p:nvPr/>
        </p:nvSpPr>
        <p:spPr>
          <a:xfrm>
            <a:off x="0" y="1524000"/>
            <a:ext cx="12192000" cy="762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2" name="HeaderAccent"/>
          <p:cNvSpPr/>
          <p:nvPr/>
        </p:nvSpPr>
        <p:spPr>
          <a:xfrm>
            <a:off x="0" y="0"/>
            <a:ext cx="177800" cy="15240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C81DC9D-B75B-36F4-4CBE-A3297A41D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B94CAEF-A751-E884-0AF2-30B0A8D7D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8AADDE3-9436-308F-168C-F346A7842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4A42E11-92C9-1955-F52D-B1CDBDB87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4658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02DB7EB-0D4E-CE5A-A7B4-D1FDAE87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FB80BFD-8FA0-2F80-9E25-EB6969CA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6D31B7A-B68F-A11E-C396-AEFB5285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4910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9BFE90-0B3B-2F34-E0EC-0664DE483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E7A82D1-07DA-4F41-BC58-79016FE15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892DBDE-68D4-28E9-7865-F9E5985CD5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altLang="zh-TW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3598812-8040-AE1D-FF32-426376E95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1EA53B8-00C7-0C28-3108-C00B2B89E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F8A805C-9039-9A17-05EA-98D4F7C1F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8258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41CB7A-9A8C-D80F-0D41-F5D44E44D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22F2E8E-0899-0155-4656-F431111860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371931A-4F92-2ADF-8D48-16B082F336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altLang="zh-TW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E27891B-F877-3DB7-676B-020CBCD34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06125F6-4D0D-0F9E-1262-48AEFCF34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67643CA-85A0-C19C-1FAD-84ADB6955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4466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02BBD9-C103-7D39-4CC5-F6B1536D4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5004B08-9C7F-2BB9-7572-5B00A80F22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9430FBF-4497-0357-2B8B-157369020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D5AFA34-37D7-7C6F-7FF9-5FB9626D0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94D7F5-CE75-DFD1-7D56-25174AC5A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9850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8E9554E-D173-6E1C-5B7A-5B176EE62D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1DFBB09-246F-42EA-452B-0E1306B38A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6D0F0B7-A06A-8D35-7A30-355968351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45DA886-1141-E1A8-EC66-DD49BEE3C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753DCC-79A6-F866-6E7A-909EE181B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303801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4546168-1C02-390E-D19F-E8F7C5F71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7DB620-804D-B4E9-CE1D-B00B9EA637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63A12C-2B0A-500E-7E9D-C55A1F4050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92B5687-96E3-C3BD-F440-AB63BC38E5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A96ACDC-678C-7B31-E99F-3C157DA870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  <p:sp>
        <p:nvSpPr>
          <p:cNvPr id="900" name="AccentBar"/>
          <p:cNvSpPr/>
          <p:nvPr/>
        </p:nvSpPr>
        <p:spPr>
          <a:xfrm>
            <a:off x="0" y="0"/>
            <a:ext cx="60960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31292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A1A2E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B2D4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sv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50D24"/>
            </a:gs>
            <a:gs pos="100000">
              <a:srgbClr val="6E071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ring950"/>
          <p:cNvSpPr/>
          <p:nvPr/>
        </p:nvSpPr>
        <p:spPr>
          <a:xfrm>
            <a:off x="10160000" y="381000"/>
            <a:ext cx="1778000" cy="1778000"/>
          </a:xfrm>
          <a:prstGeom prst="ellipse">
            <a:avLst/>
          </a:prstGeom>
          <a:noFill/>
          <a:ln w="25400">
            <a:solidFill>
              <a:srgbClr val="F4C43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1" name="ring951"/>
          <p:cNvSpPr/>
          <p:nvPr/>
        </p:nvSpPr>
        <p:spPr>
          <a:xfrm>
            <a:off x="10477500" y="698500"/>
            <a:ext cx="1143000" cy="1143000"/>
          </a:xfrm>
          <a:prstGeom prst="ellipse">
            <a:avLst/>
          </a:prstGeom>
          <a:noFill/>
          <a:ln w="19050">
            <a:solidFill>
              <a:srgbClr val="F4C43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4" name="dot954"/>
          <p:cNvSpPr/>
          <p:nvPr/>
        </p:nvSpPr>
        <p:spPr>
          <a:xfrm>
            <a:off x="10033000" y="2286000"/>
            <a:ext cx="228600" cy="228600"/>
          </a:xfrm>
          <a:prstGeom prst="ellipse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5" name="dot955"/>
          <p:cNvSpPr/>
          <p:nvPr/>
        </p:nvSpPr>
        <p:spPr>
          <a:xfrm>
            <a:off x="11557000" y="1524000"/>
            <a:ext cx="152400" cy="152400"/>
          </a:xfrm>
          <a:prstGeom prst="ellipse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2" name="ring952"/>
          <p:cNvSpPr/>
          <p:nvPr/>
        </p:nvSpPr>
        <p:spPr>
          <a:xfrm>
            <a:off x="229508" y="4923310"/>
            <a:ext cx="1778000" cy="1778000"/>
          </a:xfrm>
          <a:prstGeom prst="ellipse">
            <a:avLst/>
          </a:prstGeom>
          <a:noFill/>
          <a:ln w="25400">
            <a:solidFill>
              <a:srgbClr val="F4C43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3" name="ring953"/>
          <p:cNvSpPr/>
          <p:nvPr/>
        </p:nvSpPr>
        <p:spPr>
          <a:xfrm>
            <a:off x="547008" y="5240810"/>
            <a:ext cx="1143000" cy="1143000"/>
          </a:xfrm>
          <a:prstGeom prst="ellipse">
            <a:avLst/>
          </a:prstGeom>
          <a:noFill/>
          <a:ln w="19050">
            <a:solidFill>
              <a:srgbClr val="F4C43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6" name="dot956"/>
          <p:cNvSpPr/>
          <p:nvPr/>
        </p:nvSpPr>
        <p:spPr>
          <a:xfrm>
            <a:off x="2261508" y="5812310"/>
            <a:ext cx="228600" cy="228600"/>
          </a:xfrm>
          <a:prstGeom prst="ellipse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7" name="dot957"/>
          <p:cNvSpPr/>
          <p:nvPr/>
        </p:nvSpPr>
        <p:spPr>
          <a:xfrm>
            <a:off x="991508" y="4923310"/>
            <a:ext cx="152400" cy="152400"/>
          </a:xfrm>
          <a:prstGeom prst="ellipse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C4C6A9C-99E8-A192-C2DD-E64D4A09DE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3500" y="328185"/>
            <a:ext cx="9144000" cy="292100"/>
          </a:xfrm>
        </p:spPr>
        <p:txBody>
          <a:bodyPr>
            <a:normAutofit/>
          </a:bodyPr>
          <a:lstStyle/>
          <a:p>
            <a:pPr algn="ctr"/>
            <a:r>
              <a:rPr lang="en-US" sz="1400" b="1" dirty="0">
                <a:solidFill>
                  <a:srgbClr val="F4C430"/>
                </a:solidFill>
              </a:rPr>
              <a:t>ENGOO · XIAOHONGSHU  |  PERFORMANCE SOCIALE HEBDOMADAIRE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3BE4F6D-8B17-4249-D6FE-55F3EE0F28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9920"/>
            <a:ext cx="9144000" cy="1655762"/>
          </a:xfrm>
        </p:spPr>
        <p:txBody>
          <a:bodyPr>
            <a:noAutofit/>
          </a:bodyPr>
          <a:lstStyle/>
          <a:p>
            <a:pPr algn="ctr"/>
            <a:r>
              <a:rPr lang="en-US" sz="2000" b="1" dirty="0">
                <a:solidFill>
                  <a:srgbClr val="FFE9A8"/>
                </a:solidFill>
              </a:rPr>
              <a:t>Semaine du rapport : 27 janv. – 2 févr. 2025</a:t>
            </a:r>
          </a:p>
          <a:p>
            <a:pPr algn="ctr"/>
            <a:r>
              <a:rPr lang="en-US" sz="1600" dirty="0">
                <a:solidFill>
                  <a:srgbClr val="FBE3E5"/>
                </a:solidFill>
              </a:rPr>
              <a:t>La campagne du Nouvel An chinois signe la meilleure semaine depuis le début du suivi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7AED07-148B-43CC-B024-2629818852F5}"/>
              </a:ext>
            </a:extLst>
          </p:cNvPr>
          <p:cNvSpPr/>
          <p:nvPr/>
        </p:nvSpPr>
        <p:spPr>
          <a:xfrm>
            <a:off x="4635500" y="5649787"/>
            <a:ext cx="25400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pic>
        <p:nvPicPr>
          <p:cNvPr id="22" name="Graphique 21" descr="Serpent contour">
            <a:extLst>
              <a:ext uri="{FF2B5EF4-FFF2-40B4-BE49-F238E27FC236}">
                <a16:creationId xmlns:a16="http://schemas.microsoft.com/office/drawing/2014/main" id="{0FD45922-C970-9EEF-470A-EA3C885448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428" b="3446"/>
          <a:stretch>
            <a:fillRect/>
          </a:stretch>
        </p:blipFill>
        <p:spPr>
          <a:xfrm rot="2605941">
            <a:off x="4164695" y="656904"/>
            <a:ext cx="3731978" cy="3618865"/>
          </a:xfrm>
          <a:custGeom>
            <a:avLst/>
            <a:gdLst>
              <a:gd name="csX0" fmla="*/ 2412037 w 3731978"/>
              <a:gd name="csY0" fmla="*/ 3618865 h 3618865"/>
              <a:gd name="csX1" fmla="*/ 3731978 w 3731978"/>
              <a:gd name="csY1" fmla="*/ 2369246 h 3618865"/>
              <a:gd name="csX2" fmla="*/ 3731978 w 3731978"/>
              <a:gd name="csY2" fmla="*/ 3618865 h 3618865"/>
              <a:gd name="csX3" fmla="*/ 0 w 3731978"/>
              <a:gd name="csY3" fmla="*/ 0 h 3618865"/>
              <a:gd name="csX4" fmla="*/ 3731978 w 3731978"/>
              <a:gd name="csY4" fmla="*/ 0 h 3618865"/>
              <a:gd name="csX5" fmla="*/ 3731978 w 3731978"/>
              <a:gd name="csY5" fmla="*/ 407452 h 3618865"/>
              <a:gd name="csX6" fmla="*/ 339842 w 3731978"/>
              <a:gd name="csY6" fmla="*/ 3618865 h 3618865"/>
              <a:gd name="csX7" fmla="*/ 0 w 3731978"/>
              <a:gd name="csY7" fmla="*/ 3618865 h 36188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731978" h="3618865">
                <a:moveTo>
                  <a:pt x="2412037" y="3618865"/>
                </a:moveTo>
                <a:lnTo>
                  <a:pt x="3731978" y="2369246"/>
                </a:lnTo>
                <a:lnTo>
                  <a:pt x="3731978" y="3618865"/>
                </a:lnTo>
                <a:close/>
                <a:moveTo>
                  <a:pt x="0" y="0"/>
                </a:moveTo>
                <a:lnTo>
                  <a:pt x="3731978" y="0"/>
                </a:lnTo>
                <a:lnTo>
                  <a:pt x="3731978" y="407452"/>
                </a:lnTo>
                <a:lnTo>
                  <a:pt x="339842" y="3618865"/>
                </a:lnTo>
                <a:lnTo>
                  <a:pt x="0" y="3618865"/>
                </a:lnTo>
                <a:close/>
              </a:path>
            </a:pathLst>
          </a:cu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8EEA42D7-3074-85C7-D6A6-BE715463E056}"/>
              </a:ext>
            </a:extLst>
          </p:cNvPr>
          <p:cNvSpPr txBox="1">
            <a:spLocks/>
          </p:cNvSpPr>
          <p:nvPr/>
        </p:nvSpPr>
        <p:spPr>
          <a:xfrm>
            <a:off x="1524000" y="2592815"/>
            <a:ext cx="9144000" cy="768350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1A1A2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solidFill>
                  <a:srgbClr val="FFFFFF"/>
                </a:solidFill>
              </a:rPr>
              <a:t>L'année du Serpent prend son envol</a:t>
            </a:r>
          </a:p>
        </p:txBody>
      </p:sp>
      <p:pic>
        <p:nvPicPr>
          <p:cNvPr id="25" name="Graphique 24" descr="Serpent contour">
            <a:extLst>
              <a:ext uri="{FF2B5EF4-FFF2-40B4-BE49-F238E27FC236}">
                <a16:creationId xmlns:a16="http://schemas.microsoft.com/office/drawing/2014/main" id="{FE965CA8-C1CF-6C31-2512-EA0B052D22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 rot="2605941">
            <a:off x="4106431" y="1144465"/>
            <a:ext cx="3748038" cy="3748038"/>
          </a:xfrm>
          <a:custGeom>
            <a:avLst/>
            <a:gdLst>
              <a:gd name="csX0" fmla="*/ 487711 w 3748038"/>
              <a:gd name="csY0" fmla="*/ 3748038 h 3748038"/>
              <a:gd name="csX1" fmla="*/ 3748038 w 3748038"/>
              <a:gd name="csY1" fmla="*/ 661411 h 3748038"/>
              <a:gd name="csX2" fmla="*/ 3748038 w 3748038"/>
              <a:gd name="csY2" fmla="*/ 3748038 h 3748038"/>
              <a:gd name="csX3" fmla="*/ 0 w 3748038"/>
              <a:gd name="csY3" fmla="*/ 0 h 3748038"/>
              <a:gd name="csX4" fmla="*/ 2064998 w 3748038"/>
              <a:gd name="csY4" fmla="*/ 0 h 3748038"/>
              <a:gd name="csX5" fmla="*/ 0 w 3748038"/>
              <a:gd name="csY5" fmla="*/ 1954981 h 37480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748038" h="3748038">
                <a:moveTo>
                  <a:pt x="487711" y="3748038"/>
                </a:moveTo>
                <a:lnTo>
                  <a:pt x="3748038" y="661411"/>
                </a:lnTo>
                <a:lnTo>
                  <a:pt x="3748038" y="3748038"/>
                </a:lnTo>
                <a:close/>
                <a:moveTo>
                  <a:pt x="0" y="0"/>
                </a:moveTo>
                <a:lnTo>
                  <a:pt x="2064998" y="0"/>
                </a:lnTo>
                <a:lnTo>
                  <a:pt x="0" y="1954981"/>
                </a:lnTo>
                <a:close/>
              </a:path>
            </a:pathLst>
          </a:cu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8E84728F-B217-2A61-7B82-43D7CEB95D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888" t="66808" r="31241" b="16144"/>
          <a:stretch>
            <a:fillRect/>
          </a:stretch>
        </p:blipFill>
        <p:spPr>
          <a:xfrm>
            <a:off x="10638975" y="937785"/>
            <a:ext cx="840700" cy="738615"/>
          </a:xfrm>
          <a:prstGeom prst="rect">
            <a:avLst/>
          </a:prstGeom>
        </p:spPr>
      </p:pic>
      <p:pic>
        <p:nvPicPr>
          <p:cNvPr id="28" name="Image 27" descr="Announcing the Winners of Engoo's 2022 Halloween Costume Contest | Engoo  Blog">
            <a:extLst>
              <a:ext uri="{FF2B5EF4-FFF2-40B4-BE49-F238E27FC236}">
                <a16:creationId xmlns:a16="http://schemas.microsoft.com/office/drawing/2014/main" id="{4A48D0ED-2F7C-765C-E719-69068C6169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57538" y="5546541"/>
            <a:ext cx="670392" cy="531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005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3F0BE7-76D6-9834-CD60-551035205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Synthèse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D757346B-D271-49A5-987A-83EE90E98CE3}"/>
              </a:ext>
            </a:extLst>
          </p:cNvPr>
          <p:cNvSpPr/>
          <p:nvPr/>
        </p:nvSpPr>
        <p:spPr>
          <a:xfrm>
            <a:off x="762000" y="1879600"/>
            <a:ext cx="10668000" cy="863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F25B3784-EEEE-4D9C-9BDB-83F0E316E455}"/>
              </a:ext>
            </a:extLst>
          </p:cNvPr>
          <p:cNvSpPr/>
          <p:nvPr/>
        </p:nvSpPr>
        <p:spPr>
          <a:xfrm>
            <a:off x="965200" y="2032000"/>
            <a:ext cx="558800" cy="5588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000" b="1" dirty="0">
                <a:solidFill>
                  <a:srgbClr val="FFFFFF"/>
                </a:solidFill>
                <a:latin typeface="Poppins"/>
                <a:cs typeface="Poppins"/>
              </a:rPr>
              <a:t>1</a:t>
            </a:r>
            <a:endParaRPr lang="zh-TW" altLang="en-US" sz="2000" b="1" dirty="0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55EA1F2-5653-4985-990C-97EAB40140AC}"/>
              </a:ext>
            </a:extLst>
          </p:cNvPr>
          <p:cNvSpPr txBox="1"/>
          <p:nvPr/>
        </p:nvSpPr>
        <p:spPr>
          <a:xfrm>
            <a:off x="1727200" y="1993900"/>
            <a:ext cx="94996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600" b="1">
                <a:solidFill>
                  <a:srgbClr val="1A1A2E"/>
                </a:solidFill>
                <a:latin typeface="Poppins"/>
                <a:cs typeface="Poppins"/>
              </a:rPr>
              <a:t>Meilleure semaine depuis le début du suivi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50A473C-6AEE-4DCF-8B67-511C3D76994A}"/>
              </a:ext>
            </a:extLst>
          </p:cNvPr>
          <p:cNvSpPr txBox="1"/>
          <p:nvPr/>
        </p:nvSpPr>
        <p:spPr>
          <a:xfrm>
            <a:off x="1727200" y="2298700"/>
            <a:ext cx="94996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 b="1" dirty="0">
                <a:solidFill>
                  <a:srgbClr val="C8102E"/>
                </a:solidFill>
                <a:latin typeface="Poppins"/>
                <a:cs typeface="Poppins"/>
              </a:rPr>
              <a:t>3 063 vues  ·  +50 % vs S-1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A1A8B3F1-7DB2-45C0-B8DD-2F5B32872A58}"/>
              </a:ext>
            </a:extLst>
          </p:cNvPr>
          <p:cNvSpPr/>
          <p:nvPr/>
        </p:nvSpPr>
        <p:spPr>
          <a:xfrm>
            <a:off x="762000" y="2819400"/>
            <a:ext cx="10668000" cy="863600"/>
          </a:xfrm>
          <a:prstGeom prst="roundRect">
            <a:avLst/>
          </a:prstGeom>
          <a:solidFill>
            <a:srgbClr val="FBF3EE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E93A8583-8A18-4B36-9288-BF07FF07215B}"/>
              </a:ext>
            </a:extLst>
          </p:cNvPr>
          <p:cNvSpPr/>
          <p:nvPr/>
        </p:nvSpPr>
        <p:spPr>
          <a:xfrm>
            <a:off x="965200" y="2971800"/>
            <a:ext cx="558800" cy="5588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000" b="1" dirty="0">
                <a:solidFill>
                  <a:srgbClr val="FFFFFF"/>
                </a:solidFill>
                <a:latin typeface="Poppins"/>
                <a:cs typeface="Poppins"/>
              </a:rPr>
              <a:t>2</a:t>
            </a:r>
            <a:endParaRPr lang="zh-TW" altLang="en-US" sz="2000" b="1" dirty="0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2175490-B236-46C7-AD13-9189EF5D3FDE}"/>
              </a:ext>
            </a:extLst>
          </p:cNvPr>
          <p:cNvSpPr txBox="1"/>
          <p:nvPr/>
        </p:nvSpPr>
        <p:spPr>
          <a:xfrm>
            <a:off x="1727200" y="2933700"/>
            <a:ext cx="94996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600" b="1">
                <a:solidFill>
                  <a:srgbClr val="1A1A2E"/>
                </a:solidFill>
                <a:latin typeface="Poppins"/>
                <a:cs typeface="Poppins"/>
              </a:rPr>
              <a:t>Les nouveaux abonnés ont plus que doublé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EE769D9-2FDB-4B2C-85FD-7EBC8297CE7C}"/>
              </a:ext>
            </a:extLst>
          </p:cNvPr>
          <p:cNvSpPr txBox="1"/>
          <p:nvPr/>
        </p:nvSpPr>
        <p:spPr>
          <a:xfrm>
            <a:off x="1727200" y="3238500"/>
            <a:ext cx="94996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 b="1" dirty="0">
                <a:solidFill>
                  <a:srgbClr val="C8102E"/>
                </a:solidFill>
                <a:latin typeface="Poppins"/>
                <a:cs typeface="Poppins"/>
              </a:rPr>
              <a:t>+47 nouveaux abonnés  ·  +147 % vs S-1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7BBF506E-3077-47B3-9F76-4FB3641A2E03}"/>
              </a:ext>
            </a:extLst>
          </p:cNvPr>
          <p:cNvSpPr/>
          <p:nvPr/>
        </p:nvSpPr>
        <p:spPr>
          <a:xfrm>
            <a:off x="762000" y="3759200"/>
            <a:ext cx="10668000" cy="863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6744EA7F-4BC7-4CF6-A693-F9E16FC0C56E}"/>
              </a:ext>
            </a:extLst>
          </p:cNvPr>
          <p:cNvSpPr/>
          <p:nvPr/>
        </p:nvSpPr>
        <p:spPr>
          <a:xfrm>
            <a:off x="965200" y="3911600"/>
            <a:ext cx="558800" cy="5588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000" b="1" dirty="0">
                <a:solidFill>
                  <a:srgbClr val="FFFFFF"/>
                </a:solidFill>
                <a:latin typeface="Poppins"/>
                <a:cs typeface="Poppins"/>
              </a:rPr>
              <a:t>3</a:t>
            </a:r>
            <a:endParaRPr lang="zh-TW" altLang="en-US" sz="2000" b="1" dirty="0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8AD878D2-D2E1-40FC-BE0C-BBB1A8BC49AB}"/>
              </a:ext>
            </a:extLst>
          </p:cNvPr>
          <p:cNvSpPr txBox="1"/>
          <p:nvPr/>
        </p:nvSpPr>
        <p:spPr>
          <a:xfrm>
            <a:off x="1727200" y="3873500"/>
            <a:ext cx="94996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600" b="1">
                <a:solidFill>
                  <a:srgbClr val="1A1A2E"/>
                </a:solidFill>
                <a:latin typeface="Poppins"/>
                <a:cs typeface="Poppins"/>
              </a:rPr>
              <a:t>Taux d'engagement à 5,5 %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958F2C64-23F6-46BE-AB01-58E4CE6E8C3D}"/>
              </a:ext>
            </a:extLst>
          </p:cNvPr>
          <p:cNvSpPr txBox="1"/>
          <p:nvPr/>
        </p:nvSpPr>
        <p:spPr>
          <a:xfrm>
            <a:off x="1727200" y="4178300"/>
            <a:ext cx="94996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 b="1" dirty="0">
                <a:solidFill>
                  <a:srgbClr val="C8102E"/>
                </a:solidFill>
                <a:latin typeface="Poppins"/>
                <a:cs typeface="Poppins"/>
              </a:rPr>
              <a:t>Enregistrements +67 %  ·  Commentaires +75 %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5564B6F4-C80B-4294-900E-6FCD0045A463}"/>
              </a:ext>
            </a:extLst>
          </p:cNvPr>
          <p:cNvSpPr/>
          <p:nvPr/>
        </p:nvSpPr>
        <p:spPr>
          <a:xfrm>
            <a:off x="762000" y="4699000"/>
            <a:ext cx="10668000" cy="863600"/>
          </a:xfrm>
          <a:prstGeom prst="roundRect">
            <a:avLst/>
          </a:prstGeom>
          <a:solidFill>
            <a:srgbClr val="FBF3EE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6BBFB6BE-7B99-4983-B706-544E3EA37DA1}"/>
              </a:ext>
            </a:extLst>
          </p:cNvPr>
          <p:cNvSpPr/>
          <p:nvPr/>
        </p:nvSpPr>
        <p:spPr>
          <a:xfrm>
            <a:off x="965200" y="4851400"/>
            <a:ext cx="558800" cy="5588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000" b="1" dirty="0">
                <a:solidFill>
                  <a:srgbClr val="FFFFFF"/>
                </a:solidFill>
                <a:latin typeface="Poppins"/>
                <a:cs typeface="Poppins"/>
              </a:rPr>
              <a:t>4</a:t>
            </a:r>
            <a:endParaRPr lang="zh-TW" altLang="en-US" sz="2000" b="1" dirty="0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F95C94BC-1A7F-4EBD-92BF-1885B699509B}"/>
              </a:ext>
            </a:extLst>
          </p:cNvPr>
          <p:cNvSpPr txBox="1"/>
          <p:nvPr/>
        </p:nvSpPr>
        <p:spPr>
          <a:xfrm>
            <a:off x="1727200" y="4813300"/>
            <a:ext cx="94996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600" b="1">
                <a:solidFill>
                  <a:srgbClr val="1A1A2E"/>
                </a:solidFill>
                <a:latin typeface="Poppins"/>
                <a:cs typeface="Poppins"/>
              </a:rPr>
              <a:t>Visites du profil en hausse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E565FDDB-742A-44D1-9E82-3FC05AA49E33}"/>
              </a:ext>
            </a:extLst>
          </p:cNvPr>
          <p:cNvSpPr txBox="1"/>
          <p:nvPr/>
        </p:nvSpPr>
        <p:spPr>
          <a:xfrm>
            <a:off x="1727200" y="5118100"/>
            <a:ext cx="94996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 b="1" dirty="0">
                <a:solidFill>
                  <a:srgbClr val="C8102E"/>
                </a:solidFill>
                <a:latin typeface="Poppins"/>
                <a:cs typeface="Poppins"/>
              </a:rPr>
              <a:t>175 visites du profil  ·  +36 % vs S-1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E4E25FF9-9ED1-4ADF-81E2-156DB1032DE3}"/>
              </a:ext>
            </a:extLst>
          </p:cNvPr>
          <p:cNvSpPr/>
          <p:nvPr/>
        </p:nvSpPr>
        <p:spPr>
          <a:xfrm>
            <a:off x="762000" y="5638800"/>
            <a:ext cx="10668000" cy="863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0F4B1B87-2655-4CCA-9AAC-19BE3CD15541}"/>
              </a:ext>
            </a:extLst>
          </p:cNvPr>
          <p:cNvSpPr/>
          <p:nvPr/>
        </p:nvSpPr>
        <p:spPr>
          <a:xfrm>
            <a:off x="965200" y="5791200"/>
            <a:ext cx="558800" cy="558800"/>
          </a:xfrm>
          <a:prstGeom prst="ellipse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zh-TW" altLang="en-US" sz="2000" b="1" dirty="0">
                <a:solidFill>
                  <a:srgbClr val="7A0019"/>
                </a:solidFill>
                <a:latin typeface="Poppins"/>
                <a:cs typeface="Poppins"/>
              </a:rPr>
              <a:t>★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FB349C35-2BA5-4544-8884-6179FAD48AF1}"/>
              </a:ext>
            </a:extLst>
          </p:cNvPr>
          <p:cNvSpPr txBox="1"/>
          <p:nvPr/>
        </p:nvSpPr>
        <p:spPr>
          <a:xfrm>
            <a:off x="1727200" y="5753100"/>
            <a:ext cx="94996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600" b="1">
                <a:solidFill>
                  <a:srgbClr val="A8132B"/>
                </a:solidFill>
                <a:latin typeface="Poppins"/>
                <a:cs typeface="Poppins"/>
              </a:rPr>
              <a:t>À retenir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ADA856A6-88CB-4B99-A49E-87FCE6854459}"/>
              </a:ext>
            </a:extLst>
          </p:cNvPr>
          <p:cNvSpPr txBox="1"/>
          <p:nvPr/>
        </p:nvSpPr>
        <p:spPr>
          <a:xfrm>
            <a:off x="1727200" y="6057900"/>
            <a:ext cx="94996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3A3A44"/>
                </a:solidFill>
              </a:rPr>
              <a:t>La dynamique est réelle : surveiller la baisse post-fêtes.</a:t>
            </a:r>
          </a:p>
        </p:txBody>
      </p:sp>
    </p:spTree>
    <p:extLst>
      <p:ext uri="{BB962C8B-B14F-4D97-AF65-F5344CB8AC3E}">
        <p14:creationId xmlns:p14="http://schemas.microsoft.com/office/powerpoint/2010/main" val="4050364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47C511-7E5B-6A4C-75D5-E3E2996BF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Tableau de bord des KPI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18E2FB19-5B08-4EC0-BFB1-849EE1EC9D21}"/>
              </a:ext>
            </a:extLst>
          </p:cNvPr>
          <p:cNvSpPr/>
          <p:nvPr/>
        </p:nvSpPr>
        <p:spPr>
          <a:xfrm>
            <a:off x="762000" y="1905000"/>
            <a:ext cx="3352800" cy="1028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4620643-1E2C-4499-8223-62D850E73262}"/>
              </a:ext>
            </a:extLst>
          </p:cNvPr>
          <p:cNvSpPr txBox="1"/>
          <p:nvPr/>
        </p:nvSpPr>
        <p:spPr>
          <a:xfrm>
            <a:off x="990600" y="2026920"/>
            <a:ext cx="28956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Vues</a:t>
            </a:r>
            <a:endParaRPr lang="zh-TW" altLang="en-US" sz="1600" b="1">
              <a:solidFill>
                <a:srgbClr val="6B7280"/>
              </a:solidFill>
              <a:latin typeface="Calibri"/>
              <a:cs typeface="Calibri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63AFD5F-6EB7-4E14-8E41-C8B7F1FCB6A5}"/>
              </a:ext>
            </a:extLst>
          </p:cNvPr>
          <p:cNvSpPr txBox="1"/>
          <p:nvPr/>
        </p:nvSpPr>
        <p:spPr>
          <a:xfrm>
            <a:off x="990600" y="2311400"/>
            <a:ext cx="28956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2800" b="1">
                <a:solidFill>
                  <a:srgbClr val="C8102E"/>
                </a:solidFill>
                <a:latin typeface="Poppins"/>
                <a:cs typeface="Poppins"/>
              </a:rPr>
              <a:t>3 063</a:t>
            </a:r>
            <a:endParaRPr lang="zh-TW" altLang="en-US" sz="2800" b="1">
              <a:solidFill>
                <a:srgbClr val="C8102E"/>
              </a:solidFill>
              <a:latin typeface="Poppins"/>
              <a:cs typeface="Poppins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99F25297-0409-4671-A292-6F8B08DCC10F}"/>
              </a:ext>
            </a:extLst>
          </p:cNvPr>
          <p:cNvSpPr/>
          <p:nvPr/>
        </p:nvSpPr>
        <p:spPr>
          <a:xfrm>
            <a:off x="2692400" y="2349500"/>
            <a:ext cx="1219200" cy="3810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zh-TW" altLang="en-US" sz="1400" b="1" dirty="0">
                <a:solidFill>
                  <a:srgbClr val="196B24"/>
                </a:solidFill>
                <a:latin typeface="Calibri"/>
                <a:cs typeface="Calibri"/>
              </a:rPr>
              <a:t>▲ +50 %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F2240592-22B7-46E3-825A-47D351EDBE72}"/>
              </a:ext>
            </a:extLst>
          </p:cNvPr>
          <p:cNvSpPr/>
          <p:nvPr/>
        </p:nvSpPr>
        <p:spPr>
          <a:xfrm>
            <a:off x="4419600" y="1905000"/>
            <a:ext cx="3352800" cy="1028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B1776DE-380B-4FA5-805F-E93811DC04CE}"/>
              </a:ext>
            </a:extLst>
          </p:cNvPr>
          <p:cNvSpPr txBox="1"/>
          <p:nvPr/>
        </p:nvSpPr>
        <p:spPr>
          <a:xfrm>
            <a:off x="4648200" y="2026920"/>
            <a:ext cx="28956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Nouveaux abonnés</a:t>
            </a:r>
            <a:endParaRPr lang="zh-TW" altLang="en-US" sz="1600" b="1">
              <a:solidFill>
                <a:srgbClr val="6B7280"/>
              </a:solidFill>
              <a:latin typeface="Calibri"/>
              <a:cs typeface="Calibri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1160AAA-A214-416C-BC4F-01A8B32F2ED8}"/>
              </a:ext>
            </a:extLst>
          </p:cNvPr>
          <p:cNvSpPr txBox="1"/>
          <p:nvPr/>
        </p:nvSpPr>
        <p:spPr>
          <a:xfrm>
            <a:off x="4648200" y="2311400"/>
            <a:ext cx="28956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2800" b="1">
                <a:solidFill>
                  <a:srgbClr val="C8102E"/>
                </a:solidFill>
                <a:latin typeface="Poppins"/>
                <a:cs typeface="Poppins"/>
              </a:rPr>
              <a:t>47</a:t>
            </a:r>
            <a:endParaRPr lang="zh-TW" altLang="en-US" sz="2800" b="1">
              <a:solidFill>
                <a:srgbClr val="C8102E"/>
              </a:solidFill>
              <a:latin typeface="Poppins"/>
              <a:cs typeface="Poppins"/>
            </a:endParaRP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ED8D2222-C682-4609-B4D0-D3B144554039}"/>
              </a:ext>
            </a:extLst>
          </p:cNvPr>
          <p:cNvSpPr/>
          <p:nvPr/>
        </p:nvSpPr>
        <p:spPr>
          <a:xfrm>
            <a:off x="6350000" y="2349500"/>
            <a:ext cx="1219200" cy="3810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zh-TW" altLang="en-US" sz="1400" b="1">
                <a:solidFill>
                  <a:srgbClr val="196B24"/>
                </a:solidFill>
                <a:latin typeface="Calibri"/>
                <a:cs typeface="Calibri"/>
              </a:rPr>
              <a:t>▲ +147 %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ACE850E8-FA82-41FD-BBB7-AD0A022E78BC}"/>
              </a:ext>
            </a:extLst>
          </p:cNvPr>
          <p:cNvSpPr/>
          <p:nvPr/>
        </p:nvSpPr>
        <p:spPr>
          <a:xfrm>
            <a:off x="8077200" y="1905000"/>
            <a:ext cx="3352800" cy="1028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C7A5BB4-9625-4061-BB6A-AC8D10E694F1}"/>
              </a:ext>
            </a:extLst>
          </p:cNvPr>
          <p:cNvSpPr txBox="1"/>
          <p:nvPr/>
        </p:nvSpPr>
        <p:spPr>
          <a:xfrm>
            <a:off x="8305800" y="2026920"/>
            <a:ext cx="28956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Taux d'engagement</a:t>
            </a:r>
            <a:endParaRPr lang="zh-TW" altLang="en-US" sz="1600" b="1">
              <a:solidFill>
                <a:srgbClr val="6B7280"/>
              </a:solidFill>
              <a:latin typeface="Calibri"/>
              <a:cs typeface="Calibri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F420857-7F91-499F-8393-DF7CB454B014}"/>
              </a:ext>
            </a:extLst>
          </p:cNvPr>
          <p:cNvSpPr txBox="1"/>
          <p:nvPr/>
        </p:nvSpPr>
        <p:spPr>
          <a:xfrm>
            <a:off x="8305800" y="2311400"/>
            <a:ext cx="28956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2800" b="1">
                <a:solidFill>
                  <a:srgbClr val="1A1A2E"/>
                </a:solidFill>
                <a:latin typeface="Poppins"/>
                <a:cs typeface="Poppins"/>
              </a:rPr>
              <a:t>5,5 %</a:t>
            </a:r>
            <a:endParaRPr lang="zh-TW" altLang="en-US" sz="2800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19A35F48-672F-4B64-8B9B-BB91077E0F89}"/>
              </a:ext>
            </a:extLst>
          </p:cNvPr>
          <p:cNvSpPr/>
          <p:nvPr/>
        </p:nvSpPr>
        <p:spPr>
          <a:xfrm>
            <a:off x="10007600" y="2349500"/>
            <a:ext cx="1219200" cy="3810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altLang="zh-TW" sz="1400" b="1">
                <a:solidFill>
                  <a:srgbClr val="196B24"/>
                </a:solidFill>
                <a:latin typeface="Calibri"/>
                <a:ea typeface="Calibri"/>
                <a:cs typeface="Calibri"/>
              </a:rPr>
              <a:t>▲ +0,4 pt</a:t>
            </a:r>
            <a:endParaRPr lang="zh-TW" altLang="en-US" sz="1400" b="1">
              <a:solidFill>
                <a:srgbClr val="196B24"/>
              </a:solidFill>
              <a:latin typeface="Calibri"/>
              <a:cs typeface="Calibri"/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F3B86BA3-CB8E-4905-9C08-FBB74272628A}"/>
              </a:ext>
            </a:extLst>
          </p:cNvPr>
          <p:cNvSpPr/>
          <p:nvPr/>
        </p:nvSpPr>
        <p:spPr>
          <a:xfrm>
            <a:off x="762000" y="3136900"/>
            <a:ext cx="3352800" cy="1028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AD930C86-A9F3-4345-8C8B-7803D151B817}"/>
              </a:ext>
            </a:extLst>
          </p:cNvPr>
          <p:cNvSpPr txBox="1"/>
          <p:nvPr/>
        </p:nvSpPr>
        <p:spPr>
          <a:xfrm>
            <a:off x="990600" y="3258820"/>
            <a:ext cx="28956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Enregistrements</a:t>
            </a:r>
            <a:endParaRPr lang="zh-TW" altLang="en-US" sz="1600" b="1">
              <a:solidFill>
                <a:srgbClr val="6B7280"/>
              </a:solidFill>
              <a:latin typeface="Calibri"/>
              <a:cs typeface="Calibri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42221BB9-59F2-479C-AE30-E549A72905BE}"/>
              </a:ext>
            </a:extLst>
          </p:cNvPr>
          <p:cNvSpPr txBox="1"/>
          <p:nvPr/>
        </p:nvSpPr>
        <p:spPr>
          <a:xfrm>
            <a:off x="990600" y="3543300"/>
            <a:ext cx="28956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2800" b="1">
                <a:solidFill>
                  <a:srgbClr val="1A1A2E"/>
                </a:solidFill>
                <a:latin typeface="Poppins"/>
                <a:cs typeface="Poppins"/>
              </a:rPr>
              <a:t>40</a:t>
            </a:r>
            <a:endParaRPr lang="zh-TW" altLang="en-US" sz="2800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D160988F-ED28-4C2E-BE6C-45515D97314F}"/>
              </a:ext>
            </a:extLst>
          </p:cNvPr>
          <p:cNvSpPr/>
          <p:nvPr/>
        </p:nvSpPr>
        <p:spPr>
          <a:xfrm>
            <a:off x="2692400" y="3581400"/>
            <a:ext cx="1219200" cy="3810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zh-TW" altLang="en-US" sz="1400" b="1">
                <a:solidFill>
                  <a:srgbClr val="196B24"/>
                </a:solidFill>
                <a:latin typeface="Calibri"/>
                <a:cs typeface="Calibri"/>
              </a:rPr>
              <a:t>▲ +67 %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89C893AA-9C06-4E22-B806-CD2E68D9CF49}"/>
              </a:ext>
            </a:extLst>
          </p:cNvPr>
          <p:cNvSpPr/>
          <p:nvPr/>
        </p:nvSpPr>
        <p:spPr>
          <a:xfrm>
            <a:off x="4419600" y="3136900"/>
            <a:ext cx="3352800" cy="1028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502DD2D9-7607-4216-9CD8-D3D958F37E08}"/>
              </a:ext>
            </a:extLst>
          </p:cNvPr>
          <p:cNvSpPr txBox="1"/>
          <p:nvPr/>
        </p:nvSpPr>
        <p:spPr>
          <a:xfrm>
            <a:off x="4648200" y="3258820"/>
            <a:ext cx="28956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Commentaires</a:t>
            </a:r>
            <a:endParaRPr lang="zh-TW" altLang="en-US" sz="1600" b="1">
              <a:solidFill>
                <a:srgbClr val="6B7280"/>
              </a:solidFill>
              <a:latin typeface="Calibri"/>
              <a:cs typeface="Calibri"/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8A2DC342-82C4-4E81-A841-AFBA0356D0F3}"/>
              </a:ext>
            </a:extLst>
          </p:cNvPr>
          <p:cNvSpPr txBox="1"/>
          <p:nvPr/>
        </p:nvSpPr>
        <p:spPr>
          <a:xfrm>
            <a:off x="4648200" y="3543300"/>
            <a:ext cx="28956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2800" b="1" dirty="0">
                <a:solidFill>
                  <a:srgbClr val="1A1A2E"/>
                </a:solidFill>
                <a:latin typeface="Poppins"/>
                <a:cs typeface="Poppins"/>
              </a:rPr>
              <a:t>14</a:t>
            </a:r>
            <a:endParaRPr lang="zh-TW" altLang="en-US" sz="2800" b="1" dirty="0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5E53546A-34CC-4D11-9A5C-22AC7229792F}"/>
              </a:ext>
            </a:extLst>
          </p:cNvPr>
          <p:cNvSpPr/>
          <p:nvPr/>
        </p:nvSpPr>
        <p:spPr>
          <a:xfrm>
            <a:off x="6350000" y="3581400"/>
            <a:ext cx="1219200" cy="3810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zh-TW" altLang="en-US" sz="1400" b="1" dirty="0">
                <a:solidFill>
                  <a:srgbClr val="196B24"/>
                </a:solidFill>
                <a:latin typeface="Calibri"/>
                <a:cs typeface="Calibri"/>
              </a:rPr>
              <a:t>▲ +75 %</a:t>
            </a: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251E108D-C3D2-4C76-B9B7-13860BB6F439}"/>
              </a:ext>
            </a:extLst>
          </p:cNvPr>
          <p:cNvSpPr/>
          <p:nvPr/>
        </p:nvSpPr>
        <p:spPr>
          <a:xfrm>
            <a:off x="8077200" y="3136900"/>
            <a:ext cx="3352800" cy="1028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EC884E1A-9387-42FC-B5C3-128A13D8B10B}"/>
              </a:ext>
            </a:extLst>
          </p:cNvPr>
          <p:cNvSpPr txBox="1"/>
          <p:nvPr/>
        </p:nvSpPr>
        <p:spPr>
          <a:xfrm>
            <a:off x="8305800" y="3258820"/>
            <a:ext cx="28956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Temps de visionnage</a:t>
            </a:r>
            <a:endParaRPr lang="zh-TW" altLang="en-US" sz="1600" b="1">
              <a:solidFill>
                <a:srgbClr val="6B7280"/>
              </a:solidFill>
              <a:latin typeface="Calibri"/>
              <a:cs typeface="Calibri"/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30912550-550C-48BB-83EB-B41D730E6897}"/>
              </a:ext>
            </a:extLst>
          </p:cNvPr>
          <p:cNvSpPr txBox="1"/>
          <p:nvPr/>
        </p:nvSpPr>
        <p:spPr>
          <a:xfrm>
            <a:off x="8305800" y="3543300"/>
            <a:ext cx="28956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2800" b="1" dirty="0">
                <a:solidFill>
                  <a:srgbClr val="1A1A2E"/>
                </a:solidFill>
                <a:latin typeface="Poppins"/>
                <a:cs typeface="Poppins"/>
              </a:rPr>
              <a:t>22 h</a:t>
            </a:r>
            <a:endParaRPr lang="zh-TW" altLang="en-US" sz="2800" b="1" dirty="0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3DDC2291-CFBD-4B16-BF66-B9698FF550C7}"/>
              </a:ext>
            </a:extLst>
          </p:cNvPr>
          <p:cNvSpPr/>
          <p:nvPr/>
        </p:nvSpPr>
        <p:spPr>
          <a:xfrm>
            <a:off x="10007600" y="3581400"/>
            <a:ext cx="1219200" cy="3810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zh-TW" altLang="en-US" sz="1400" b="1">
                <a:solidFill>
                  <a:srgbClr val="196B24"/>
                </a:solidFill>
                <a:latin typeface="Calibri"/>
                <a:cs typeface="Calibri"/>
              </a:rPr>
              <a:t>▲ +46 %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4F4ED926-B44C-49FF-998E-C2F47D881308}"/>
              </a:ext>
            </a:extLst>
          </p:cNvPr>
          <p:cNvSpPr txBox="1"/>
          <p:nvPr/>
        </p:nvSpPr>
        <p:spPr>
          <a:xfrm>
            <a:off x="762000" y="63246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400" i="1" dirty="0">
                <a:solidFill>
                  <a:srgbClr val="6B7280"/>
                </a:solidFill>
              </a:rPr>
              <a:t>Semaine du 27 janv. au 2 févr. 2025 vs semaine du 20 au 26 janv. 2025</a:t>
            </a:r>
            <a:endParaRPr lang="zh-TW" altLang="en-US" sz="1400" i="1" dirty="0">
              <a:solidFill>
                <a:srgbClr val="6B7280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7457A9F-DFE5-43B3-B977-78C1426D24C8}"/>
              </a:ext>
            </a:extLst>
          </p:cNvPr>
          <p:cNvSpPr/>
          <p:nvPr/>
        </p:nvSpPr>
        <p:spPr>
          <a:xfrm>
            <a:off x="762000" y="1905000"/>
            <a:ext cx="33528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597592-1691-4BE8-AEA5-2D61E844A16A}"/>
              </a:ext>
            </a:extLst>
          </p:cNvPr>
          <p:cNvSpPr/>
          <p:nvPr/>
        </p:nvSpPr>
        <p:spPr>
          <a:xfrm>
            <a:off x="4419600" y="1905000"/>
            <a:ext cx="33528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87B87B2-C084-4658-A623-41D2EDDEA355}"/>
              </a:ext>
            </a:extLst>
          </p:cNvPr>
          <p:cNvSpPr/>
          <p:nvPr/>
        </p:nvSpPr>
        <p:spPr>
          <a:xfrm>
            <a:off x="8077200" y="1905000"/>
            <a:ext cx="33528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049422B-8A96-4E2C-98FE-59DF39F7400F}"/>
              </a:ext>
            </a:extLst>
          </p:cNvPr>
          <p:cNvSpPr/>
          <p:nvPr/>
        </p:nvSpPr>
        <p:spPr>
          <a:xfrm>
            <a:off x="762000" y="3136900"/>
            <a:ext cx="33528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AB8C831-5C81-422C-9AF9-13FFDF5CC3B3}"/>
              </a:ext>
            </a:extLst>
          </p:cNvPr>
          <p:cNvSpPr/>
          <p:nvPr/>
        </p:nvSpPr>
        <p:spPr>
          <a:xfrm>
            <a:off x="4419600" y="3136900"/>
            <a:ext cx="33528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5049B33-2CEC-4A4C-B62A-0FDF9A7E653F}"/>
              </a:ext>
            </a:extLst>
          </p:cNvPr>
          <p:cNvSpPr/>
          <p:nvPr/>
        </p:nvSpPr>
        <p:spPr>
          <a:xfrm>
            <a:off x="8077200" y="3136900"/>
            <a:ext cx="33528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graphicFrame>
        <p:nvGraphicFramePr>
          <p:cNvPr id="201" name="Daily Trend Chart"/>
          <p:cNvGraphicFramePr/>
          <p:nvPr>
            <p:extLst>
              <p:ext uri="{D42A27DB-BD31-4B8C-83A1-F6EECF244321}">
                <p14:modId xmlns:p14="http://schemas.microsoft.com/office/powerpoint/2010/main" val="1771525519"/>
              </p:ext>
            </p:extLst>
          </p:nvPr>
        </p:nvGraphicFramePr>
        <p:xfrm>
          <a:off x="762000" y="4292600"/>
          <a:ext cx="10668000" cy="2006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29620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B1EE8E-5EA8-75CA-BF44-31EF69AD8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Les moteurs de la semaine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43294660-46E7-4FF0-BF4B-0E5F4A5D71F9}"/>
              </a:ext>
            </a:extLst>
          </p:cNvPr>
          <p:cNvSpPr/>
          <p:nvPr/>
        </p:nvSpPr>
        <p:spPr>
          <a:xfrm>
            <a:off x="762000" y="1905000"/>
            <a:ext cx="51562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ACDEAD-E3FF-4BB5-800D-3FDE834E269D}"/>
              </a:ext>
            </a:extLst>
          </p:cNvPr>
          <p:cNvSpPr/>
          <p:nvPr/>
        </p:nvSpPr>
        <p:spPr>
          <a:xfrm>
            <a:off x="762000" y="2082800"/>
            <a:ext cx="76200" cy="1549400"/>
          </a:xfrm>
          <a:prstGeom prst="rect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9CB82E14-6CC4-43F7-BC11-F4B9B0998E40}"/>
              </a:ext>
            </a:extLst>
          </p:cNvPr>
          <p:cNvSpPr/>
          <p:nvPr/>
        </p:nvSpPr>
        <p:spPr>
          <a:xfrm>
            <a:off x="4445000" y="2082800"/>
            <a:ext cx="1270000" cy="3048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altLang="zh-TW" sz="1200" b="1">
                <a:solidFill>
                  <a:srgbClr val="196B24"/>
                </a:solidFill>
              </a:rPr>
              <a:t>RÉUSSI</a:t>
            </a:r>
            <a:endParaRPr lang="zh-TW" altLang="en-US" sz="1200" b="1">
              <a:solidFill>
                <a:srgbClr val="196B24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FA9A761-AF84-409F-BF4F-96766B6442F4}"/>
              </a:ext>
            </a:extLst>
          </p:cNvPr>
          <p:cNvSpPr txBox="1"/>
          <p:nvPr/>
        </p:nvSpPr>
        <p:spPr>
          <a:xfrm>
            <a:off x="1066800" y="2082800"/>
            <a:ext cx="33274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Le calendrier culturel a payé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079B5B9-5F2B-422B-AC64-8D341AD65A98}"/>
              </a:ext>
            </a:extLst>
          </p:cNvPr>
          <p:cNvSpPr txBox="1"/>
          <p:nvPr/>
        </p:nvSpPr>
        <p:spPr>
          <a:xfrm>
            <a:off x="1066800" y="2844800"/>
            <a:ext cx="4648200" cy="7386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Publier le contenu Zodiaque aux dates exactes du Nouvel An chinois nous a placés face à une audience en forte hausse et motivée.</a:t>
            </a:r>
            <a:endParaRPr lang="zh-TW" altLang="en-US" sz="1400">
              <a:solidFill>
                <a:srgbClr val="2B2D42"/>
              </a:solidFill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3C772483-E4EB-4D1A-8368-229E30B1D59E}"/>
              </a:ext>
            </a:extLst>
          </p:cNvPr>
          <p:cNvSpPr/>
          <p:nvPr/>
        </p:nvSpPr>
        <p:spPr>
          <a:xfrm>
            <a:off x="6273800" y="1905000"/>
            <a:ext cx="51562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E3A54E-0B28-4466-AE9A-ACF41BFCCAC5}"/>
              </a:ext>
            </a:extLst>
          </p:cNvPr>
          <p:cNvSpPr/>
          <p:nvPr/>
        </p:nvSpPr>
        <p:spPr>
          <a:xfrm>
            <a:off x="6273800" y="2082800"/>
            <a:ext cx="76200" cy="1549400"/>
          </a:xfrm>
          <a:prstGeom prst="rect">
            <a:avLst/>
          </a:prstGeom>
          <a:solidFill>
            <a:srgbClr val="F4A3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5E514AE4-8E1B-4E88-ABEC-8210677EAB15}"/>
              </a:ext>
            </a:extLst>
          </p:cNvPr>
          <p:cNvSpPr/>
          <p:nvPr/>
        </p:nvSpPr>
        <p:spPr>
          <a:xfrm>
            <a:off x="9956800" y="2082800"/>
            <a:ext cx="1270000" cy="3048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altLang="zh-TW" sz="1200" b="1">
                <a:solidFill>
                  <a:srgbClr val="196B24"/>
                </a:solidFill>
              </a:rPr>
              <a:t>RÉUSSI</a:t>
            </a:r>
            <a:endParaRPr lang="zh-TW" altLang="en-US" sz="1200" b="1">
              <a:solidFill>
                <a:srgbClr val="196B24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9AAFE91-4755-416B-A767-BCD219DE739B}"/>
              </a:ext>
            </a:extLst>
          </p:cNvPr>
          <p:cNvSpPr txBox="1"/>
          <p:nvPr/>
        </p:nvSpPr>
        <p:spPr>
          <a:xfrm>
            <a:off x="6578600" y="2082800"/>
            <a:ext cx="33274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Plus d'enregistrements que de j'aime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45189C8-050B-438D-801C-5A556271C93F}"/>
              </a:ext>
            </a:extLst>
          </p:cNvPr>
          <p:cNvSpPr txBox="1"/>
          <p:nvPr/>
        </p:nvSpPr>
        <p:spPr>
          <a:xfrm>
            <a:off x="6578600" y="2844800"/>
            <a:ext cx="4648200" cy="7386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40 enregistrements (+67 %) : les utilisateurs gardent les posts comme supports d'étude et y reviennent, un comportement à forte valeur.</a:t>
            </a:r>
            <a:endParaRPr lang="zh-TW" altLang="en-US" sz="1400">
              <a:solidFill>
                <a:srgbClr val="2B2D42"/>
              </a:solidFill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1F014CE7-B377-4D38-B59E-B6808BB868A0}"/>
              </a:ext>
            </a:extLst>
          </p:cNvPr>
          <p:cNvSpPr/>
          <p:nvPr/>
        </p:nvSpPr>
        <p:spPr>
          <a:xfrm>
            <a:off x="762000" y="4114800"/>
            <a:ext cx="51562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BEBA7F-0412-4355-BD67-27D8DD39F378}"/>
              </a:ext>
            </a:extLst>
          </p:cNvPr>
          <p:cNvSpPr/>
          <p:nvPr/>
        </p:nvSpPr>
        <p:spPr>
          <a:xfrm>
            <a:off x="762000" y="4292600"/>
            <a:ext cx="76200" cy="1549400"/>
          </a:xfrm>
          <a:prstGeom prst="rect">
            <a:avLst/>
          </a:prstGeom>
          <a:solidFill>
            <a:srgbClr val="3A7D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F54F0823-1284-4E42-9BED-F0E950EA261A}"/>
              </a:ext>
            </a:extLst>
          </p:cNvPr>
          <p:cNvSpPr/>
          <p:nvPr/>
        </p:nvSpPr>
        <p:spPr>
          <a:xfrm>
            <a:off x="4445000" y="4292600"/>
            <a:ext cx="1270000" cy="3048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altLang="zh-TW" sz="1200" b="1">
                <a:solidFill>
                  <a:srgbClr val="196B24"/>
                </a:solidFill>
              </a:rPr>
              <a:t>RÉUSSI</a:t>
            </a:r>
            <a:endParaRPr lang="zh-TW" altLang="en-US" sz="1200" b="1">
              <a:solidFill>
                <a:srgbClr val="196B24"/>
              </a:solidFill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33362FF-9692-467C-BCDE-B12620F9C234}"/>
              </a:ext>
            </a:extLst>
          </p:cNvPr>
          <p:cNvSpPr txBox="1"/>
          <p:nvPr/>
        </p:nvSpPr>
        <p:spPr>
          <a:xfrm>
            <a:off x="1066800" y="4292600"/>
            <a:ext cx="33274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Les abonnés ont fortement progressé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AC9B10B-3E23-4F88-AC21-20684F115ACC}"/>
              </a:ext>
            </a:extLst>
          </p:cNvPr>
          <p:cNvSpPr txBox="1"/>
          <p:nvPr/>
        </p:nvSpPr>
        <p:spPr>
          <a:xfrm>
            <a:off x="1066800" y="5054600"/>
            <a:ext cx="46482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+47 nouveaux abonnés (+147 %) : la série des fêtes a converti les visiteurs en abonnés.</a:t>
            </a:r>
            <a:endParaRPr lang="zh-TW" altLang="en-US" sz="1400">
              <a:solidFill>
                <a:srgbClr val="2B2D42"/>
              </a:solidFill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8FA23EED-00DE-427F-9418-810C93DDD6D4}"/>
              </a:ext>
            </a:extLst>
          </p:cNvPr>
          <p:cNvSpPr/>
          <p:nvPr/>
        </p:nvSpPr>
        <p:spPr>
          <a:xfrm>
            <a:off x="6273800" y="4114800"/>
            <a:ext cx="51562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D6698F-A4BF-4643-AACD-FECD8FB67D91}"/>
              </a:ext>
            </a:extLst>
          </p:cNvPr>
          <p:cNvSpPr/>
          <p:nvPr/>
        </p:nvSpPr>
        <p:spPr>
          <a:xfrm>
            <a:off x="6273800" y="4292600"/>
            <a:ext cx="76200" cy="1549400"/>
          </a:xfrm>
          <a:prstGeom prst="rect">
            <a:avLst/>
          </a:prstGeom>
          <a:solidFill>
            <a:srgbClr val="6B72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96F207F0-7525-4DF8-BBA2-3528399A1702}"/>
              </a:ext>
            </a:extLst>
          </p:cNvPr>
          <p:cNvSpPr/>
          <p:nvPr/>
        </p:nvSpPr>
        <p:spPr>
          <a:xfrm>
            <a:off x="9956800" y="4292600"/>
            <a:ext cx="1270000" cy="304800"/>
          </a:xfrm>
          <a:prstGeom prst="roundRect">
            <a:avLst/>
          </a:prstGeom>
          <a:solidFill>
            <a:srgbClr val="FBE9C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altLang="zh-TW" sz="1200" b="1">
                <a:solidFill>
                  <a:srgbClr val="8A5A00"/>
                </a:solidFill>
              </a:rPr>
              <a:t>À SURVEILLER</a:t>
            </a:r>
            <a:endParaRPr lang="zh-TW" altLang="en-US" sz="1200" b="1">
              <a:solidFill>
                <a:srgbClr val="8A5A00"/>
              </a:solidFill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88DAE924-AFA7-4A0F-BE20-4FA579C2EED4}"/>
              </a:ext>
            </a:extLst>
          </p:cNvPr>
          <p:cNvSpPr txBox="1"/>
          <p:nvPr/>
        </p:nvSpPr>
        <p:spPr>
          <a:xfrm>
            <a:off x="6578600" y="4292600"/>
            <a:ext cx="33274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Surveiller la baisse après les fêtes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8C52A10A-64FE-4284-B040-902F62266209}"/>
              </a:ext>
            </a:extLst>
          </p:cNvPr>
          <p:cNvSpPr txBox="1"/>
          <p:nvPr/>
        </p:nvSpPr>
        <p:spPr>
          <a:xfrm>
            <a:off x="6578600" y="5054600"/>
            <a:ext cx="4648200" cy="7386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Dimanche 2 févr., les vues sont tombées à 210 avec la fin des fêtes. Retour à la normale attendu la semaine prochaine sans nouvelle accroche.</a:t>
            </a:r>
            <a:endParaRPr lang="zh-TW" altLang="en-US" sz="1400">
              <a:solidFill>
                <a:srgbClr val="2B2D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3676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9F294C-6AE3-1367-DD15-A082DDC1A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Recommandations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C5BAA9C5-06BF-412A-8590-5333B298BEE7}"/>
              </a:ext>
            </a:extLst>
          </p:cNvPr>
          <p:cNvSpPr/>
          <p:nvPr/>
        </p:nvSpPr>
        <p:spPr>
          <a:xfrm>
            <a:off x="762000" y="2032000"/>
            <a:ext cx="10668000" cy="990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02C96E92-F959-46CF-AABE-0E41F5E763BD}"/>
              </a:ext>
            </a:extLst>
          </p:cNvPr>
          <p:cNvSpPr/>
          <p:nvPr/>
        </p:nvSpPr>
        <p:spPr>
          <a:xfrm>
            <a:off x="965200" y="2247900"/>
            <a:ext cx="558800" cy="5588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000" b="1" dirty="0">
                <a:solidFill>
                  <a:srgbClr val="FFFFFF"/>
                </a:solidFill>
                <a:latin typeface="Poppins"/>
                <a:cs typeface="Poppins"/>
              </a:rPr>
              <a:t>1</a:t>
            </a:r>
            <a:endParaRPr lang="zh-TW" altLang="en-US" sz="2000" b="1" dirty="0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555490F-3749-4D5C-99C4-C923507F4961}"/>
              </a:ext>
            </a:extLst>
          </p:cNvPr>
          <p:cNvSpPr txBox="1"/>
          <p:nvPr/>
        </p:nvSpPr>
        <p:spPr>
          <a:xfrm>
            <a:off x="1727200" y="2171700"/>
            <a:ext cx="9499600" cy="34624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1A1A2E"/>
                </a:solidFill>
                <a:latin typeface="Poppins"/>
                <a:cs typeface="Poppins"/>
              </a:rPr>
              <a:t>Planifier les contenus selon le calendrier culturel</a:t>
            </a:r>
            <a:endParaRPr lang="zh-TW" altLang="en-US" sz="1600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472ACE2-D13C-4A1E-BCCD-B25D1CD131F8}"/>
              </a:ext>
            </a:extLst>
          </p:cNvPr>
          <p:cNvSpPr txBox="1"/>
          <p:nvPr/>
        </p:nvSpPr>
        <p:spPr>
          <a:xfrm>
            <a:off x="1727200" y="2501900"/>
            <a:ext cx="94996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3A3A44"/>
                </a:solidFill>
              </a:rPr>
              <a:t>Préparer des posts bilingues pour la Fête des lanternes, Qingming et le 1er mai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34E1EF83-AEE3-4C65-BE32-C88751F432A2}"/>
              </a:ext>
            </a:extLst>
          </p:cNvPr>
          <p:cNvSpPr/>
          <p:nvPr/>
        </p:nvSpPr>
        <p:spPr>
          <a:xfrm>
            <a:off x="762000" y="3149600"/>
            <a:ext cx="10668000" cy="990600"/>
          </a:xfrm>
          <a:prstGeom prst="roundRect">
            <a:avLst/>
          </a:prstGeom>
          <a:solidFill>
            <a:srgbClr val="FBF3EE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75370F2C-D940-4DC0-BFBA-5B70B82D88BA}"/>
              </a:ext>
            </a:extLst>
          </p:cNvPr>
          <p:cNvSpPr/>
          <p:nvPr/>
        </p:nvSpPr>
        <p:spPr>
          <a:xfrm>
            <a:off x="965200" y="3365500"/>
            <a:ext cx="558800" cy="5588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000" b="1">
                <a:solidFill>
                  <a:srgbClr val="FFFFFF"/>
                </a:solidFill>
                <a:latin typeface="Poppins"/>
                <a:cs typeface="Poppins"/>
              </a:rPr>
              <a:t>2</a:t>
            </a:r>
            <a:endParaRPr lang="zh-TW" altLang="en-US" sz="2000" b="1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99D4CED-BC29-4DC3-A42C-BC4C22678553}"/>
              </a:ext>
            </a:extLst>
          </p:cNvPr>
          <p:cNvSpPr txBox="1"/>
          <p:nvPr/>
        </p:nvSpPr>
        <p:spPr>
          <a:xfrm>
            <a:off x="1727200" y="3289300"/>
            <a:ext cx="9499600" cy="34624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1A1A2E"/>
                </a:solidFill>
                <a:latin typeface="Poppins"/>
                <a:cs typeface="Poppins"/>
              </a:rPr>
              <a:t>Miser sur les formats « à enregistrer »</a:t>
            </a:r>
            <a:endParaRPr lang="zh-TW" altLang="en-US" sz="1600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9AAD0EE-393A-4EEB-9B26-E2AE141FF671}"/>
              </a:ext>
            </a:extLst>
          </p:cNvPr>
          <p:cNvSpPr txBox="1"/>
          <p:nvPr/>
        </p:nvSpPr>
        <p:spPr>
          <a:xfrm>
            <a:off x="1727200" y="3619500"/>
            <a:ext cx="94996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3A3A44"/>
                </a:solidFill>
              </a:rPr>
              <a:t>Un carrousel de référence par semaine : classements, devinettes, glossaires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B8C3FE41-D6BE-4202-BD9D-2445732CFDE7}"/>
              </a:ext>
            </a:extLst>
          </p:cNvPr>
          <p:cNvSpPr/>
          <p:nvPr/>
        </p:nvSpPr>
        <p:spPr>
          <a:xfrm>
            <a:off x="762000" y="4267200"/>
            <a:ext cx="10668000" cy="990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3BDBB9D8-072B-418D-A273-78B86F3C5BA2}"/>
              </a:ext>
            </a:extLst>
          </p:cNvPr>
          <p:cNvSpPr/>
          <p:nvPr/>
        </p:nvSpPr>
        <p:spPr>
          <a:xfrm>
            <a:off x="965200" y="4483100"/>
            <a:ext cx="558800" cy="5588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000" b="1">
                <a:solidFill>
                  <a:srgbClr val="FFFFFF"/>
                </a:solidFill>
                <a:latin typeface="Poppins"/>
                <a:cs typeface="Poppins"/>
              </a:rPr>
              <a:t>3</a:t>
            </a:r>
            <a:endParaRPr lang="zh-TW" altLang="en-US" sz="2000" b="1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1C5FE9B5-258F-4790-8B63-33F6C6A9B96F}"/>
              </a:ext>
            </a:extLst>
          </p:cNvPr>
          <p:cNvSpPr txBox="1"/>
          <p:nvPr/>
        </p:nvSpPr>
        <p:spPr>
          <a:xfrm>
            <a:off x="1727200" y="4406900"/>
            <a:ext cx="9499600" cy="34624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1A1A2E"/>
                </a:solidFill>
                <a:latin typeface="Poppins"/>
                <a:cs typeface="Poppins"/>
              </a:rPr>
              <a:t>Convertir le pic d'abonnés</a:t>
            </a:r>
            <a:endParaRPr lang="zh-TW" altLang="en-US" sz="1600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16CC5DF-5A94-4444-A2BB-2130C9712A00}"/>
              </a:ext>
            </a:extLst>
          </p:cNvPr>
          <p:cNvSpPr txBox="1"/>
          <p:nvPr/>
        </p:nvSpPr>
        <p:spPr>
          <a:xfrm>
            <a:off x="1727200" y="4737100"/>
            <a:ext cx="94996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3A3A44"/>
                </a:solidFill>
              </a:rPr>
              <a:t>Épingler un post « commencez ici » + CTA d'essai gratuit tant que l'intérêt est fort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D5861290-1E5D-4D03-9CBD-F51096A9E9D3}"/>
              </a:ext>
            </a:extLst>
          </p:cNvPr>
          <p:cNvSpPr/>
          <p:nvPr/>
        </p:nvSpPr>
        <p:spPr>
          <a:xfrm>
            <a:off x="762000" y="5384800"/>
            <a:ext cx="10668000" cy="990600"/>
          </a:xfrm>
          <a:prstGeom prst="roundRect">
            <a:avLst/>
          </a:prstGeom>
          <a:solidFill>
            <a:srgbClr val="FBF3EE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07CA9D2A-A764-4D20-AB0A-3246E9B44D2C}"/>
              </a:ext>
            </a:extLst>
          </p:cNvPr>
          <p:cNvSpPr/>
          <p:nvPr/>
        </p:nvSpPr>
        <p:spPr>
          <a:xfrm>
            <a:off x="965200" y="5600700"/>
            <a:ext cx="558800" cy="5588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000" b="1">
                <a:solidFill>
                  <a:srgbClr val="FFFFFF"/>
                </a:solidFill>
                <a:latin typeface="Poppins"/>
                <a:cs typeface="Poppins"/>
              </a:rPr>
              <a:t>4</a:t>
            </a:r>
            <a:endParaRPr lang="zh-TW" altLang="en-US" sz="2000" b="1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D634312-10C5-4DA2-9EF1-B9F3ACB5E4F1}"/>
              </a:ext>
            </a:extLst>
          </p:cNvPr>
          <p:cNvSpPr txBox="1"/>
          <p:nvPr/>
        </p:nvSpPr>
        <p:spPr>
          <a:xfrm>
            <a:off x="1727200" y="5524500"/>
            <a:ext cx="9499600" cy="34624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600" b="1">
                <a:solidFill>
                  <a:srgbClr val="1A1A2E"/>
                </a:solidFill>
                <a:latin typeface="Poppins"/>
                <a:cs typeface="Poppins"/>
              </a:rPr>
              <a:t>Répondre à chaque commentaire sous 24 h</a:t>
            </a:r>
            <a:endParaRPr lang="zh-TW" altLang="en-US" sz="1600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7E81E51B-CAE0-4AC8-A932-6BA895E02052}"/>
              </a:ext>
            </a:extLst>
          </p:cNvPr>
          <p:cNvSpPr txBox="1"/>
          <p:nvPr/>
        </p:nvSpPr>
        <p:spPr>
          <a:xfrm>
            <a:off x="1727200" y="5854700"/>
            <a:ext cx="94996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3A3A44"/>
                </a:solidFill>
              </a:rPr>
              <a:t>Commentaires +75 % : des réponses régulières envoient un signal à l'algorithme</a:t>
            </a:r>
          </a:p>
        </p:txBody>
      </p:sp>
    </p:spTree>
    <p:extLst>
      <p:ext uri="{BB962C8B-B14F-4D97-AF65-F5344CB8AC3E}">
        <p14:creationId xmlns:p14="http://schemas.microsoft.com/office/powerpoint/2010/main" val="2024313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79E01E-8748-FAE8-B9DB-90CF6C5B0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Semaine prochaine — Plan d'action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FF398227-9EC2-4AAC-B004-3679E77E04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5744817"/>
              </p:ext>
            </p:extLst>
          </p:nvPr>
        </p:nvGraphicFramePr>
        <p:xfrm>
          <a:off x="762000" y="1905000"/>
          <a:ext cx="10668000" cy="347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648991615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149463495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041318134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4271670775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anchor="ctr">
                    <a:solidFill>
                      <a:srgbClr val="A50D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>
                          <a:solidFill>
                            <a:srgbClr val="FFFFFF"/>
                          </a:solidFill>
                        </a:rPr>
                        <a:t>Responsable</a:t>
                      </a:r>
                    </a:p>
                  </a:txBody>
                  <a:tcPr anchor="ctr">
                    <a:solidFill>
                      <a:srgbClr val="A50D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>
                          <a:solidFill>
                            <a:srgbClr val="FFFFFF"/>
                          </a:solidFill>
                        </a:rPr>
                        <a:t>Échéance</a:t>
                      </a:r>
                    </a:p>
                  </a:txBody>
                  <a:tcPr anchor="ctr">
                    <a:solidFill>
                      <a:srgbClr val="A50D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>
                          <a:solidFill>
                            <a:srgbClr val="FFFFFF"/>
                          </a:solidFill>
                        </a:rPr>
                        <a:t>Indicateur de réussite</a:t>
                      </a:r>
                    </a:p>
                  </a:txBody>
                  <a:tcPr anchor="ctr">
                    <a:solidFill>
                      <a:srgbClr val="A50D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326768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 dirty="0">
                          <a:solidFill>
                            <a:srgbClr val="1A1A2E"/>
                          </a:solidFill>
                        </a:rPr>
                        <a:t>Préparer en amont le carrousel de devinettes de la Fête des lanternes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C8102E"/>
                          </a:solidFill>
                        </a:rPr>
                        <a:t>Contenu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Lun–Mar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Publier le jour de la fête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520177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1A1A2E"/>
                          </a:solidFill>
                        </a:rPr>
                        <a:t>Épingler le post d'accueil « commencez ici » + CTA d'essai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C8102E"/>
                          </a:solidFill>
                        </a:rPr>
                        <a:t>Réseaux sociaux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Lun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Visites du profil → clics d'essai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286118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1A1A2E"/>
                          </a:solidFill>
                        </a:rPr>
                        <a:t>Post d'actualité bilingue quotidien (prêt à étudier)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C8102E"/>
                          </a:solidFill>
                        </a:rPr>
                        <a:t>Contenu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Quotidien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Maintenir le taux d'enregistrement ≥ 1,3 %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340131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1A1A2E"/>
                          </a:solidFill>
                        </a:rPr>
                        <a:t>Répondre à tous les commentaires sous 24 h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C8102E"/>
                          </a:solidFill>
                        </a:rPr>
                        <a:t>Communauté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Quotidien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100 % de taux de réponse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63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1A1A2E"/>
                          </a:solidFill>
                        </a:rPr>
                        <a:t>Tester 1 post de référence argot/glossaire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C8102E"/>
                          </a:solidFill>
                        </a:rPr>
                        <a:t>Contenu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Jeudi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dirty="0">
                          <a:solidFill>
                            <a:srgbClr val="3A3A44"/>
                          </a:solidFill>
                        </a:rPr>
                        <a:t>Dépasser la moyenne d'enregistrements (5,7/jour)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641772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A0A35D4B-E195-4387-9DC0-EF3404D6EA81}"/>
              </a:ext>
            </a:extLst>
          </p:cNvPr>
          <p:cNvSpPr/>
          <p:nvPr/>
        </p:nvSpPr>
        <p:spPr>
          <a:xfrm>
            <a:off x="762000" y="5537200"/>
            <a:ext cx="10668000" cy="508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02E96E9-059D-4FF7-A2BB-01EF67652DF5}"/>
              </a:ext>
            </a:extLst>
          </p:cNvPr>
          <p:cNvSpPr txBox="1"/>
          <p:nvPr/>
        </p:nvSpPr>
        <p:spPr>
          <a:xfrm>
            <a:off x="762000" y="5664200"/>
            <a:ext cx="10668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 i="1">
                <a:solidFill>
                  <a:srgbClr val="6B7280"/>
                </a:solidFill>
              </a:rPr>
              <a:t>Un responsable par action · Bilan des résultats à la prochaine réunion hebdomadaire</a:t>
            </a:r>
            <a:endParaRPr lang="zh-TW" altLang="en-US" sz="1400" i="1">
              <a:solidFill>
                <a:srgbClr val="6B72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812729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re 1">
            <a:extLst>
              <a:ext uri="{FF2B5EF4-FFF2-40B4-BE49-F238E27FC236}">
                <a16:creationId xmlns:a16="http://schemas.microsoft.com/office/drawing/2014/main" id="{E5B1EE8E-5EA8-75CA-BF44-31EF69AD8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Des constats aux hypothèses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43294660-46E7-4FF0-BF4B-0E5F4A5D71F9}"/>
              </a:ext>
            </a:extLst>
          </p:cNvPr>
          <p:cNvSpPr/>
          <p:nvPr/>
        </p:nvSpPr>
        <p:spPr>
          <a:xfrm>
            <a:off x="762000" y="1905000"/>
            <a:ext cx="51562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ACDEAD-E3FF-4BB5-800D-3FDE834E269D}"/>
              </a:ext>
            </a:extLst>
          </p:cNvPr>
          <p:cNvSpPr/>
          <p:nvPr/>
        </p:nvSpPr>
        <p:spPr>
          <a:xfrm>
            <a:off x="762000" y="2082800"/>
            <a:ext cx="76200" cy="1549400"/>
          </a:xfrm>
          <a:prstGeom prst="rect">
            <a:avLst/>
          </a:prstGeom>
          <a:solidFill>
            <a:srgbClr val="6B72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9CB82E14-6CC4-43F7-BC11-F4B9B0998E40}"/>
              </a:ext>
            </a:extLst>
          </p:cNvPr>
          <p:cNvSpPr/>
          <p:nvPr/>
        </p:nvSpPr>
        <p:spPr>
          <a:xfrm>
            <a:off x="4445000" y="2082800"/>
            <a:ext cx="1270000" cy="304800"/>
          </a:xfrm>
          <a:prstGeom prst="roundRect">
            <a:avLst/>
          </a:prstGeom>
          <a:solidFill>
            <a:srgbClr val="FBE9C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altLang="zh-TW" sz="1200" b="1">
                <a:solidFill>
                  <a:srgbClr val="8A5A00"/>
                </a:solidFill>
              </a:rPr>
              <a:t>H1 · THÈME</a:t>
            </a:r>
            <a:endParaRPr lang="zh-TW" altLang="en-US" sz="1200" b="1">
              <a:solidFill>
                <a:srgbClr val="196B24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FA9A761-AF84-409F-BF4F-96766B6442F4}"/>
              </a:ext>
            </a:extLst>
          </p:cNvPr>
          <p:cNvSpPr txBox="1"/>
          <p:nvPr/>
        </p:nvSpPr>
        <p:spPr>
          <a:xfrm>
            <a:off x="1066800" y="2082800"/>
            <a:ext cx="33274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Le calendrier culturel attire plus de vues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079B5B9-5F2B-422B-AC64-8D341AD65A98}"/>
              </a:ext>
            </a:extLst>
          </p:cNvPr>
          <p:cNvSpPr txBox="1"/>
          <p:nvPr/>
        </p:nvSpPr>
        <p:spPr>
          <a:xfrm>
            <a:off x="1066800" y="2844800"/>
            <a:ext cx="4648200" cy="7386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25 déc., 31 déc. et 1er janv. : 306 à 328 vues, contre une médiane de 172 vues par jour en déc. – janv.</a:t>
            </a:r>
            <a:endParaRPr lang="zh-TW" altLang="en-US" sz="1400">
              <a:solidFill>
                <a:srgbClr val="2B2D42"/>
              </a:solidFill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3C772483-E4EB-4D1A-8368-229E30B1D59E}"/>
              </a:ext>
            </a:extLst>
          </p:cNvPr>
          <p:cNvSpPr/>
          <p:nvPr/>
        </p:nvSpPr>
        <p:spPr>
          <a:xfrm>
            <a:off x="6273800" y="1905000"/>
            <a:ext cx="51562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E3A54E-0B28-4466-AE9A-ACF41BFCCAC5}"/>
              </a:ext>
            </a:extLst>
          </p:cNvPr>
          <p:cNvSpPr/>
          <p:nvPr/>
        </p:nvSpPr>
        <p:spPr>
          <a:xfrm>
            <a:off x="6273800" y="2082800"/>
            <a:ext cx="76200" cy="1549400"/>
          </a:xfrm>
          <a:prstGeom prst="rect">
            <a:avLst/>
          </a:prstGeom>
          <a:solidFill>
            <a:srgbClr val="6B72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5E514AE4-8E1B-4E88-ABEC-8210677EAB15}"/>
              </a:ext>
            </a:extLst>
          </p:cNvPr>
          <p:cNvSpPr/>
          <p:nvPr/>
        </p:nvSpPr>
        <p:spPr>
          <a:xfrm>
            <a:off x="9956800" y="2082800"/>
            <a:ext cx="1270000" cy="304800"/>
          </a:xfrm>
          <a:prstGeom prst="roundRect">
            <a:avLst/>
          </a:prstGeom>
          <a:solidFill>
            <a:srgbClr val="FBE9C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altLang="zh-TW" sz="1200" b="1">
                <a:solidFill>
                  <a:srgbClr val="8A5A00"/>
                </a:solidFill>
              </a:rPr>
              <a:t>H2 · THÈME</a:t>
            </a:r>
            <a:endParaRPr lang="zh-TW" altLang="en-US" sz="1200" b="1">
              <a:solidFill>
                <a:srgbClr val="196B24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9AAFE91-4755-416B-A767-BCD219DE739B}"/>
              </a:ext>
            </a:extLst>
          </p:cNvPr>
          <p:cNvSpPr txBox="1"/>
          <p:nvPr/>
        </p:nvSpPr>
        <p:spPr>
          <a:xfrm>
            <a:off x="6578600" y="2082800"/>
            <a:ext cx="33274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Les contenus de référence sont plus enregistrés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45189C8-050B-438D-801C-5A556271C93F}"/>
              </a:ext>
            </a:extLst>
          </p:cNvPr>
          <p:cNvSpPr txBox="1"/>
          <p:nvPr/>
        </p:nvSpPr>
        <p:spPr>
          <a:xfrm>
            <a:off x="6578600" y="2844800"/>
            <a:ext cx="4648200" cy="7386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Enregistrements +67 % cette semaine (1,3 % des vues) : les posts sont gardés comme supports d'étude.</a:t>
            </a:r>
            <a:endParaRPr lang="zh-TW" altLang="en-US" sz="1400">
              <a:solidFill>
                <a:srgbClr val="2B2D42"/>
              </a:solidFill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1F014CE7-B377-4D38-B59E-B6808BB868A0}"/>
              </a:ext>
            </a:extLst>
          </p:cNvPr>
          <p:cNvSpPr/>
          <p:nvPr/>
        </p:nvSpPr>
        <p:spPr>
          <a:xfrm>
            <a:off x="762000" y="4114800"/>
            <a:ext cx="51562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BEBA7F-0412-4355-BD67-27D8DD39F378}"/>
              </a:ext>
            </a:extLst>
          </p:cNvPr>
          <p:cNvSpPr/>
          <p:nvPr/>
        </p:nvSpPr>
        <p:spPr>
          <a:xfrm>
            <a:off x="762000" y="4292600"/>
            <a:ext cx="76200" cy="1549400"/>
          </a:xfrm>
          <a:prstGeom prst="rect">
            <a:avLst/>
          </a:prstGeom>
          <a:solidFill>
            <a:srgbClr val="6B72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F54F0823-1284-4E42-9BED-F0E950EA261A}"/>
              </a:ext>
            </a:extLst>
          </p:cNvPr>
          <p:cNvSpPr/>
          <p:nvPr/>
        </p:nvSpPr>
        <p:spPr>
          <a:xfrm>
            <a:off x="4445000" y="4292600"/>
            <a:ext cx="1270000" cy="304800"/>
          </a:xfrm>
          <a:prstGeom prst="roundRect">
            <a:avLst/>
          </a:prstGeom>
          <a:solidFill>
            <a:srgbClr val="FBE9C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altLang="zh-TW" sz="1200" b="1">
                <a:solidFill>
                  <a:srgbClr val="8A5A00"/>
                </a:solidFill>
              </a:rPr>
              <a:t>H3 · JOUR</a:t>
            </a:r>
            <a:endParaRPr lang="zh-TW" altLang="en-US" sz="1200" b="1">
              <a:solidFill>
                <a:srgbClr val="196B24"/>
              </a:solidFill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33362FF-9692-467C-BCDE-B12620F9C234}"/>
              </a:ext>
            </a:extLst>
          </p:cNvPr>
          <p:cNvSpPr txBox="1"/>
          <p:nvPr/>
        </p:nvSpPr>
        <p:spPr>
          <a:xfrm>
            <a:off x="1066800" y="4292600"/>
            <a:ext cx="33274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Le dimanche porte mieux le post clé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AC9B10B-3E23-4F88-AC21-20684F115ACC}"/>
              </a:ext>
            </a:extLst>
          </p:cNvPr>
          <p:cNvSpPr txBox="1"/>
          <p:nvPr/>
        </p:nvSpPr>
        <p:spPr>
          <a:xfrm>
            <a:off x="1066800" y="5054600"/>
            <a:ext cx="46482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Médiane du dimanche : 173 vues, contre 144 à 160 les autres jours (oct. – févr.). Écart faible, à confirmer.</a:t>
            </a:r>
            <a:endParaRPr lang="zh-TW" altLang="en-US" sz="1400">
              <a:solidFill>
                <a:srgbClr val="2B2D42"/>
              </a:solidFill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8FA23EED-00DE-427F-9418-810C93DDD6D4}"/>
              </a:ext>
            </a:extLst>
          </p:cNvPr>
          <p:cNvSpPr/>
          <p:nvPr/>
        </p:nvSpPr>
        <p:spPr>
          <a:xfrm>
            <a:off x="6273800" y="4114800"/>
            <a:ext cx="51562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D6698F-A4BF-4643-AACD-FECD8FB67D91}"/>
              </a:ext>
            </a:extLst>
          </p:cNvPr>
          <p:cNvSpPr/>
          <p:nvPr/>
        </p:nvSpPr>
        <p:spPr>
          <a:xfrm>
            <a:off x="6273800" y="4292600"/>
            <a:ext cx="76200" cy="1549400"/>
          </a:xfrm>
          <a:prstGeom prst="rect">
            <a:avLst/>
          </a:prstGeom>
          <a:solidFill>
            <a:srgbClr val="6B72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96F207F0-7525-4DF8-BBA2-3528399A1702}"/>
              </a:ext>
            </a:extLst>
          </p:cNvPr>
          <p:cNvSpPr/>
          <p:nvPr/>
        </p:nvSpPr>
        <p:spPr>
          <a:xfrm>
            <a:off x="9956800" y="4292600"/>
            <a:ext cx="1270000" cy="304800"/>
          </a:xfrm>
          <a:prstGeom prst="roundRect">
            <a:avLst/>
          </a:prstGeom>
          <a:solidFill>
            <a:srgbClr val="FBE9C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altLang="zh-TW" sz="1200" b="1">
                <a:solidFill>
                  <a:srgbClr val="8A5A00"/>
                </a:solidFill>
              </a:rPr>
              <a:t>H4 · HEURE</a:t>
            </a:r>
            <a:endParaRPr lang="zh-TW" altLang="en-US" sz="1200" b="1">
              <a:solidFill>
                <a:srgbClr val="8A5A00"/>
              </a:solidFill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88DAE924-AFA7-4A0F-BE20-4FA579C2EED4}"/>
              </a:ext>
            </a:extLst>
          </p:cNvPr>
          <p:cNvSpPr txBox="1"/>
          <p:nvPr/>
        </p:nvSpPr>
        <p:spPr>
          <a:xfrm>
            <a:off x="6578600" y="4292600"/>
            <a:ext cx="33274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Le soir touche un public plus disponible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8C52A10A-64FE-4284-B040-902F62266209}"/>
              </a:ext>
            </a:extLst>
          </p:cNvPr>
          <p:cNvSpPr txBox="1"/>
          <p:nvPr/>
        </p:nvSpPr>
        <p:spPr>
          <a:xfrm>
            <a:off x="6578600" y="5054600"/>
            <a:ext cx="4648200" cy="7386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Le dashboard n'a que des totaux par jour : hypothèse tirée des habitudes du public (étudiants, actifs), à tester.</a:t>
            </a:r>
            <a:endParaRPr lang="zh-TW" altLang="en-US" sz="1400">
              <a:solidFill>
                <a:srgbClr val="2B2D42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02E96E9-059D-4FF7-A2BB-01EF67652DF5}"/>
              </a:ext>
            </a:extLst>
          </p:cNvPr>
          <p:cNvSpPr txBox="1"/>
          <p:nvPr/>
        </p:nvSpPr>
        <p:spPr>
          <a:xfrm>
            <a:off x="762000" y="6172200"/>
            <a:ext cx="10668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 i="1">
                <a:solidFill>
                  <a:srgbClr val="6B7280"/>
                </a:solidFill>
              </a:rPr>
              <a:t>Chaque hypothèse part d'un constat et se vérifie par un indicateur · Dashboard Excel, 10/2024 – 02/2025</a:t>
            </a:r>
            <a:endParaRPr lang="zh-TW" altLang="en-US" sz="1400" i="1">
              <a:solidFill>
                <a:srgbClr val="6B728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re 1">
            <a:extLst>
              <a:ext uri="{FF2B5EF4-FFF2-40B4-BE49-F238E27FC236}">
                <a16:creationId xmlns:a16="http://schemas.microsoft.com/office/drawing/2014/main" id="{6279E01E-8748-FAE8-B9DB-90CF6C5B0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Plan de test A/B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FF398227-9EC2-4AAC-B004-3679E77E04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5744817"/>
              </p:ext>
            </p:extLst>
          </p:nvPr>
        </p:nvGraphicFramePr>
        <p:xfrm>
          <a:off x="762000" y="1905000"/>
          <a:ext cx="10668000" cy="347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000">
                  <a:extLst>
                    <a:ext uri="{9D8B030D-6E8A-4147-A177-3AD203B41FA5}">
                      <a16:colId xmlns:a16="http://schemas.microsoft.com/office/drawing/2014/main" val="3648991615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1494634959"/>
                    </a:ext>
                  </a:extLst>
                </a:gridCol>
                <a:gridCol w="2900000">
                  <a:extLst>
                    <a:ext uri="{9D8B030D-6E8A-4147-A177-3AD203B41FA5}">
                      <a16:colId xmlns:a16="http://schemas.microsoft.com/office/drawing/2014/main" val="4041318134"/>
                    </a:ext>
                  </a:extLst>
                </a:gridCol>
                <a:gridCol w="2768000">
                  <a:extLst>
                    <a:ext uri="{9D8B030D-6E8A-4147-A177-3AD203B41FA5}">
                      <a16:colId xmlns:a16="http://schemas.microsoft.com/office/drawing/2014/main" val="4271670775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>
                          <a:solidFill>
                            <a:srgbClr val="FFFFFF"/>
                          </a:solidFill>
                        </a:rPr>
                        <a:t>Hypothèse</a:t>
                      </a:r>
                    </a:p>
                  </a:txBody>
                  <a:tcPr anchor="ctr">
                    <a:solidFill>
                      <a:srgbClr val="A50D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>
                          <a:solidFill>
                            <a:srgbClr val="FFFFFF"/>
                          </a:solidFill>
                        </a:rPr>
                        <a:t>Version A contre version B</a:t>
                      </a:r>
                    </a:p>
                  </a:txBody>
                  <a:tcPr anchor="ctr">
                    <a:solidFill>
                      <a:srgbClr val="A50D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>
                          <a:solidFill>
                            <a:srgbClr val="FFFFFF"/>
                          </a:solidFill>
                        </a:rPr>
                        <a:t>Mesure</a:t>
                      </a:r>
                    </a:p>
                  </a:txBody>
                  <a:tcPr anchor="ctr">
                    <a:solidFill>
                      <a:srgbClr val="A50D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>
                          <a:solidFill>
                            <a:srgbClr val="FFFFFF"/>
                          </a:solidFill>
                        </a:rPr>
                        <a:t>Règle de décision</a:t>
                      </a:r>
                    </a:p>
                  </a:txBody>
                  <a:tcPr anchor="ctr">
                    <a:solidFill>
                      <a:srgbClr val="A50D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326768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 dirty="0">
                          <a:solidFill>
                            <a:srgbClr val="1A1A2E"/>
                          </a:solidFill>
                        </a:rPr>
                        <a:t>H1 · Thème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Post de fête contre post d'actualité, même format, même heure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Vues à 48 h par post · Lanternes, Qingming, 1er mai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Calendrier culturel adopté si A dépasse B à chaque fête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520177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1A1A2E"/>
                          </a:solidFill>
                        </a:rPr>
                        <a:t>H2 · Thème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Carrousel glossaire contre post d'actualité sur le même sujet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Taux d'enregistrement par post · 4 semaines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Un carrousel par semaine si A l'emporte 3 semaines sur 4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286118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1A1A2E"/>
                          </a:solidFill>
                        </a:rPr>
                        <a:t>H3 · Jour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Même post clé le dimanche contre le vendredi, en alternance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Vues à 7 jours par post · 4 semaines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Post clé fixé au dimanche si l'écart dépasse 20 %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340131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1A1A2E"/>
                          </a:solidFill>
                        </a:rPr>
                        <a:t>H4 · Heure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Même format publié à 12 h contre 20 h, en alternance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Vues et nouveaux abonnés à 24 h · 2 semaines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Créneau retenu s'il gagne sur les deux indicateurs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633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A0A35D4B-E195-4387-9DC0-EF3404D6EA81}"/>
              </a:ext>
            </a:extLst>
          </p:cNvPr>
          <p:cNvSpPr/>
          <p:nvPr/>
        </p:nvSpPr>
        <p:spPr>
          <a:xfrm>
            <a:off x="762000" y="5537200"/>
            <a:ext cx="10668000" cy="508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02E96E9-059D-4FF7-A2BB-01EF67652DF5}"/>
              </a:ext>
            </a:extLst>
          </p:cNvPr>
          <p:cNvSpPr txBox="1"/>
          <p:nvPr/>
        </p:nvSpPr>
        <p:spPr>
          <a:xfrm>
            <a:off x="762000" y="5664200"/>
            <a:ext cx="10668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 i="1">
                <a:solidFill>
                  <a:srgbClr val="6B7280"/>
                </a:solidFill>
              </a:rPr>
              <a:t>Une seule variable change à la fois · Mesure par post dans les statistiques de chaque note (le dashboard n'a que des totaux par jour)</a:t>
            </a:r>
            <a:endParaRPr lang="zh-TW" altLang="en-US" sz="1400" i="1">
              <a:solidFill>
                <a:srgbClr val="6B728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re 1">
            <a:extLst>
              <a:ext uri="{FF2B5EF4-FFF2-40B4-BE49-F238E27FC236}">
                <a16:creationId xmlns:a16="http://schemas.microsoft.com/office/drawing/2014/main" id="{E5B1EE8E-5EA8-75CA-BF44-31EF69AD8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Vérification : semaine du 3 au 9 févr.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43294660-46E7-4FF0-BF4B-0E5F4A5D71F9}"/>
              </a:ext>
            </a:extLst>
          </p:cNvPr>
          <p:cNvSpPr/>
          <p:nvPr/>
        </p:nvSpPr>
        <p:spPr>
          <a:xfrm>
            <a:off x="762000" y="1905000"/>
            <a:ext cx="51562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ACDEAD-E3FF-4BB5-800D-3FDE834E269D}"/>
              </a:ext>
            </a:extLst>
          </p:cNvPr>
          <p:cNvSpPr/>
          <p:nvPr/>
        </p:nvSpPr>
        <p:spPr>
          <a:xfrm>
            <a:off x="762000" y="2082800"/>
            <a:ext cx="76200" cy="1549400"/>
          </a:xfrm>
          <a:prstGeom prst="rect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9CB82E14-6CC4-43F7-BC11-F4B9B0998E40}"/>
              </a:ext>
            </a:extLst>
          </p:cNvPr>
          <p:cNvSpPr/>
          <p:nvPr/>
        </p:nvSpPr>
        <p:spPr>
          <a:xfrm>
            <a:off x="4445000" y="2082800"/>
            <a:ext cx="1270000" cy="3048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altLang="zh-TW" sz="1200" b="1">
                <a:solidFill>
                  <a:srgbClr val="196B24"/>
                </a:solidFill>
              </a:rPr>
              <a:t>CONFIRMÉE</a:t>
            </a:r>
            <a:endParaRPr lang="zh-TW" altLang="en-US" sz="1200" b="1">
              <a:solidFill>
                <a:srgbClr val="196B24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FA9A761-AF84-409F-BF4F-96766B6442F4}"/>
              </a:ext>
            </a:extLst>
          </p:cNvPr>
          <p:cNvSpPr txBox="1"/>
          <p:nvPr/>
        </p:nvSpPr>
        <p:spPr>
          <a:xfrm>
            <a:off x="1066800" y="2082800"/>
            <a:ext cx="33274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La baisse annoncée s'est vérifiée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079B5B9-5F2B-422B-AC64-8D341AD65A98}"/>
              </a:ext>
            </a:extLst>
          </p:cNvPr>
          <p:cNvSpPr txBox="1"/>
          <p:nvPr/>
        </p:nvSpPr>
        <p:spPr>
          <a:xfrm>
            <a:off x="1066800" y="2844800"/>
            <a:ext cx="4648200" cy="7386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1 310 vues (−57 %) et 13 nouveaux abonnés contre 47 : sans l'effet des fêtes, le volume retombe.</a:t>
            </a:r>
            <a:endParaRPr lang="zh-TW" altLang="en-US" sz="1400">
              <a:solidFill>
                <a:srgbClr val="2B2D42"/>
              </a:solidFill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3C772483-E4EB-4D1A-8368-229E30B1D59E}"/>
              </a:ext>
            </a:extLst>
          </p:cNvPr>
          <p:cNvSpPr/>
          <p:nvPr/>
        </p:nvSpPr>
        <p:spPr>
          <a:xfrm>
            <a:off x="6273800" y="1905000"/>
            <a:ext cx="51562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E3A54E-0B28-4466-AE9A-ACF41BFCCAC5}"/>
              </a:ext>
            </a:extLst>
          </p:cNvPr>
          <p:cNvSpPr/>
          <p:nvPr/>
        </p:nvSpPr>
        <p:spPr>
          <a:xfrm>
            <a:off x="6273800" y="2082800"/>
            <a:ext cx="76200" cy="1549400"/>
          </a:xfrm>
          <a:prstGeom prst="rect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5E514AE4-8E1B-4E88-ABEC-8210677EAB15}"/>
              </a:ext>
            </a:extLst>
          </p:cNvPr>
          <p:cNvSpPr/>
          <p:nvPr/>
        </p:nvSpPr>
        <p:spPr>
          <a:xfrm>
            <a:off x="9956800" y="2082800"/>
            <a:ext cx="1270000" cy="3048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altLang="zh-TW" sz="1200" b="1">
                <a:solidFill>
                  <a:srgbClr val="196B24"/>
                </a:solidFill>
              </a:rPr>
              <a:t>ATTEINT</a:t>
            </a:r>
            <a:endParaRPr lang="zh-TW" altLang="en-US" sz="1200" b="1">
              <a:solidFill>
                <a:srgbClr val="196B24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9AAFE91-4755-416B-A767-BCD219DE739B}"/>
              </a:ext>
            </a:extLst>
          </p:cNvPr>
          <p:cNvSpPr txBox="1"/>
          <p:nvPr/>
        </p:nvSpPr>
        <p:spPr>
          <a:xfrm>
            <a:off x="6578600" y="2082800"/>
            <a:ext cx="33274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Le taux d'enregistrement a tenu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45189C8-050B-438D-801C-5A556271C93F}"/>
              </a:ext>
            </a:extLst>
          </p:cNvPr>
          <p:cNvSpPr txBox="1"/>
          <p:nvPr/>
        </p:nvSpPr>
        <p:spPr>
          <a:xfrm>
            <a:off x="6578600" y="2844800"/>
            <a:ext cx="4648200" cy="7386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19 enregistrements, soit 1,45 % des vues (objectif ≥ 1,3 %), et un engagement à 6,1 % : le public resté est fidèle.</a:t>
            </a:r>
            <a:endParaRPr lang="zh-TW" altLang="en-US" sz="1400">
              <a:solidFill>
                <a:srgbClr val="2B2D42"/>
              </a:solidFill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1F014CE7-B377-4D38-B59E-B6808BB868A0}"/>
              </a:ext>
            </a:extLst>
          </p:cNvPr>
          <p:cNvSpPr/>
          <p:nvPr/>
        </p:nvSpPr>
        <p:spPr>
          <a:xfrm>
            <a:off x="762000" y="4114800"/>
            <a:ext cx="51562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BEBA7F-0412-4355-BD67-27D8DD39F378}"/>
              </a:ext>
            </a:extLst>
          </p:cNvPr>
          <p:cNvSpPr/>
          <p:nvPr/>
        </p:nvSpPr>
        <p:spPr>
          <a:xfrm>
            <a:off x="762000" y="4292600"/>
            <a:ext cx="76200" cy="1549400"/>
          </a:xfrm>
          <a:prstGeom prst="rect">
            <a:avLst/>
          </a:prstGeom>
          <a:solidFill>
            <a:srgbClr val="6B72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F54F0823-1284-4E42-9BED-F0E950EA261A}"/>
              </a:ext>
            </a:extLst>
          </p:cNvPr>
          <p:cNvSpPr/>
          <p:nvPr/>
        </p:nvSpPr>
        <p:spPr>
          <a:xfrm>
            <a:off x="4445000" y="4292600"/>
            <a:ext cx="1270000" cy="304800"/>
          </a:xfrm>
          <a:prstGeom prst="roundRect">
            <a:avLst/>
          </a:prstGeom>
          <a:solidFill>
            <a:srgbClr val="FBE9C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altLang="zh-TW" sz="1200" b="1">
                <a:solidFill>
                  <a:srgbClr val="8A5A00"/>
                </a:solidFill>
              </a:rPr>
              <a:t>NON ATTEINT</a:t>
            </a:r>
            <a:endParaRPr lang="zh-TW" altLang="en-US" sz="1200" b="1">
              <a:solidFill>
                <a:srgbClr val="196B24"/>
              </a:solidFill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33362FF-9692-467C-BCDE-B12620F9C234}"/>
              </a:ext>
            </a:extLst>
          </p:cNvPr>
          <p:cNvSpPr txBox="1"/>
          <p:nvPr/>
        </p:nvSpPr>
        <p:spPr>
          <a:xfrm>
            <a:off x="1066800" y="4292600"/>
            <a:ext cx="33274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Test glossaire : objectif manqué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AC9B10B-3E23-4F88-AC21-20684F115ACC}"/>
              </a:ext>
            </a:extLst>
          </p:cNvPr>
          <p:cNvSpPr txBox="1"/>
          <p:nvPr/>
        </p:nvSpPr>
        <p:spPr>
          <a:xfrm>
            <a:off x="1066800" y="5054600"/>
            <a:ext cx="46482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Jeudi 6 févr. : 3 enregistrements contre 5,7 visés. L'objectif venait de la semaine des fêtes ; le résultat égale un jeudi ordinaire (3).</a:t>
            </a:r>
            <a:endParaRPr lang="zh-TW" altLang="en-US" sz="1400">
              <a:solidFill>
                <a:srgbClr val="2B2D42"/>
              </a:solidFill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8FA23EED-00DE-427F-9418-810C93DDD6D4}"/>
              </a:ext>
            </a:extLst>
          </p:cNvPr>
          <p:cNvSpPr/>
          <p:nvPr/>
        </p:nvSpPr>
        <p:spPr>
          <a:xfrm>
            <a:off x="6273800" y="4114800"/>
            <a:ext cx="51562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D6698F-A4BF-4643-AACD-FECD8FB67D91}"/>
              </a:ext>
            </a:extLst>
          </p:cNvPr>
          <p:cNvSpPr/>
          <p:nvPr/>
        </p:nvSpPr>
        <p:spPr>
          <a:xfrm>
            <a:off x="6273800" y="4292600"/>
            <a:ext cx="76200" cy="1549400"/>
          </a:xfrm>
          <a:prstGeom prst="rect">
            <a:avLst/>
          </a:prstGeom>
          <a:solidFill>
            <a:srgbClr val="6B72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96F207F0-7525-4DF8-BBA2-3528399A1702}"/>
              </a:ext>
            </a:extLst>
          </p:cNvPr>
          <p:cNvSpPr/>
          <p:nvPr/>
        </p:nvSpPr>
        <p:spPr>
          <a:xfrm>
            <a:off x="9956800" y="4292600"/>
            <a:ext cx="1270000" cy="304800"/>
          </a:xfrm>
          <a:prstGeom prst="roundRect">
            <a:avLst/>
          </a:prstGeom>
          <a:solidFill>
            <a:srgbClr val="FBE9C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altLang="zh-TW" sz="1200" b="1">
                <a:solidFill>
                  <a:srgbClr val="8A5A00"/>
                </a:solidFill>
              </a:rPr>
              <a:t>À REVOIR</a:t>
            </a:r>
            <a:endParaRPr lang="zh-TW" altLang="en-US" sz="1200" b="1">
              <a:solidFill>
                <a:srgbClr val="8A5A00"/>
              </a:solidFill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88DAE924-AFA7-4A0F-BE20-4FA579C2EED4}"/>
              </a:ext>
            </a:extLst>
          </p:cNvPr>
          <p:cNvSpPr txBox="1"/>
          <p:nvPr/>
        </p:nvSpPr>
        <p:spPr>
          <a:xfrm>
            <a:off x="6578600" y="4292600"/>
            <a:ext cx="33274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Fête des lanternes : effet décalé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8C52A10A-64FE-4284-B040-902F62266209}"/>
              </a:ext>
            </a:extLst>
          </p:cNvPr>
          <p:cNvSpPr txBox="1"/>
          <p:nvPr/>
        </p:nvSpPr>
        <p:spPr>
          <a:xfrm>
            <a:off x="6578600" y="5054600"/>
            <a:ext cx="4648200" cy="7386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12 févr. : 176 vues ; 13 févr. : 355, deux fois la médiane. Le pic arrive le lendemain : tester le jour et l'heure (H3, H4).</a:t>
            </a:r>
            <a:endParaRPr lang="zh-TW" altLang="en-US" sz="1400">
              <a:solidFill>
                <a:srgbClr val="2B2D42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02E96E9-059D-4FF7-A2BB-01EF67652DF5}"/>
              </a:ext>
            </a:extLst>
          </p:cNvPr>
          <p:cNvSpPr txBox="1"/>
          <p:nvPr/>
        </p:nvSpPr>
        <p:spPr>
          <a:xfrm>
            <a:off x="762000" y="6172200"/>
            <a:ext cx="10668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 i="1">
                <a:solidFill>
                  <a:srgbClr val="6B7280"/>
                </a:solidFill>
              </a:rPr>
              <a:t>Lecture sur les totaux quotidiens du dashboard Excel : un post n'y est pas isolé des autres publications du jour</a:t>
            </a:r>
            <a:endParaRPr lang="zh-TW" altLang="en-US" sz="1400" i="1">
              <a:solidFill>
                <a:srgbClr val="6B728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 [1780680433428]">
  <a:themeElements>
    <a:clrScheme name="Office">
      <a:dk1>
        <a:srgbClr val="1A1A2E"/>
      </a:dk1>
      <a:lt1>
        <a:srgbClr val="FFFFFF"/>
      </a:lt1>
      <a:dk2>
        <a:srgbClr val="2B2D42"/>
      </a:dk2>
      <a:lt2>
        <a:srgbClr val="FBF7F2"/>
      </a:lt2>
      <a:accent1>
        <a:srgbClr val="C8102E"/>
      </a:accent1>
      <a:accent2>
        <a:srgbClr val="F4A300"/>
      </a:accent2>
      <a:accent3>
        <a:srgbClr val="2B2D42"/>
      </a:accent3>
      <a:accent4>
        <a:srgbClr val="E8825A"/>
      </a:accent4>
      <a:accent5>
        <a:srgbClr val="3A7D8C"/>
      </a:accent5>
      <a:accent6>
        <a:srgbClr val="6B7280"/>
      </a:accent6>
      <a:hlink>
        <a:srgbClr val="467886"/>
      </a:hlink>
      <a:folHlink>
        <a:srgbClr val="96607D"/>
      </a:folHlink>
    </a:clrScheme>
    <a:fontScheme name="Office">
      <a:majorFont>
        <a:latin typeface="Poppins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DF86862-D519-40AA-91B8-2CE1ACBDEEF2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51fb6c2b-a2f1-40e7-a5dd-7f025dc0eec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554</TotalTime>
  <Words>572</Words>
  <Application>Microsoft Office PowerPoint</Application>
  <PresentationFormat>Grand écran</PresentationFormat>
  <Paragraphs>105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Arial</vt:lpstr>
      <vt:lpstr>Calibri</vt:lpstr>
      <vt:lpstr>Poppins</vt:lpstr>
      <vt:lpstr>Thème Office [1780680433428]</vt:lpstr>
      <vt:lpstr>ENGOO · XIAOHONGSHU  |  PERFORMANCE SOCIALE HEBDOMADAIRE</vt:lpstr>
      <vt:lpstr>Synthèse</vt:lpstr>
      <vt:lpstr>Tableau de bord des KPI</vt:lpstr>
      <vt:lpstr>Aperçu des contenus</vt:lpstr>
      <vt:lpstr>Les moteurs de la semaine</vt:lpstr>
      <vt:lpstr>Recommandations</vt:lpstr>
      <vt:lpstr>Semaine prochaine — Plan d'action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TSENG Yu-Ting</dc:creator>
  <cp:lastModifiedBy>TSENG Yu-Ting</cp:lastModifiedBy>
  <cp:revision>15</cp:revision>
  <dcterms:created xsi:type="dcterms:W3CDTF">2026-06-05T16:38:19Z</dcterms:created>
  <dcterms:modified xsi:type="dcterms:W3CDTF">2026-10-23T06:13:24Z</dcterms:modified>
</cp:coreProperties>
</file>