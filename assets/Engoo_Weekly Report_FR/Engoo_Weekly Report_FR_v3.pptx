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31" r:id="rId2"/>
    <p:sldId id="327" r:id="rId3"/>
    <p:sldId id="325" r:id="rId4"/>
    <p:sldId id="328" r:id="rId5"/>
    <p:sldId id="329" r:id="rId6"/>
    <p:sldId id="320" r:id="rId7"/>
    <p:sldId id="330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D23"/>
    <a:srgbClr val="9E0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Vues</c:v>
                </c:pt>
              </c:strCache>
            </c:strRef>
          </c:tx>
          <c:spPr>
            <a:solidFill>
              <a:srgbClr val="C8102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(Feuil1!$A$2:$A$8,Feuil1!$M$2:$M$8)</c:f>
              <c:strCache>
                <c:ptCount val="14"/>
                <c:pt idx="0">
                  <c:v>Lun 27 / 20</c:v>
                </c:pt>
                <c:pt idx="1">
                  <c:v>Mar 28 / 21</c:v>
                </c:pt>
                <c:pt idx="2">
                  <c:v>Mer 29 / 22</c:v>
                </c:pt>
                <c:pt idx="3">
                  <c:v>Jeu 30 / 23</c:v>
                </c:pt>
                <c:pt idx="4">
                  <c:v>Ven 31 / 24</c:v>
                </c:pt>
                <c:pt idx="5">
                  <c:v>Sam 1 / 25</c:v>
                </c:pt>
                <c:pt idx="6">
                  <c:v>Dim 2 / 26</c:v>
                </c:pt>
                <c:pt idx="7">
                  <c:v>Lun 20</c:v>
                </c:pt>
                <c:pt idx="8">
                  <c:v>Mar 21</c:v>
                </c:pt>
                <c:pt idx="9">
                  <c:v>Mer 22</c:v>
                </c:pt>
                <c:pt idx="10">
                  <c:v>Jeu 23</c:v>
                </c:pt>
                <c:pt idx="11">
                  <c:v>Ven 24</c:v>
                </c:pt>
                <c:pt idx="12">
                  <c:v>Sam 25</c:v>
                </c:pt>
                <c:pt idx="13">
                  <c:v>Dim 26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436</c:v>
                </c:pt>
                <c:pt idx="1">
                  <c:v>523</c:v>
                </c:pt>
                <c:pt idx="2">
                  <c:v>450</c:v>
                </c:pt>
                <c:pt idx="3">
                  <c:v>516</c:v>
                </c:pt>
                <c:pt idx="4">
                  <c:v>413</c:v>
                </c:pt>
                <c:pt idx="5">
                  <c:v>515</c:v>
                </c:pt>
                <c:pt idx="6">
                  <c:v>210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E4-4EDE-829C-F87658C2AF63}"/>
            </c:ext>
          </c:extLst>
        </c:ser>
        <c:ser>
          <c:idx val="1"/>
          <c:order val="2"/>
          <c:tx>
            <c:v>Vues (semaine précédente)</c:v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B2D42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Feuil1!$N$2:$N$8</c:f>
              <c:numCache>
                <c:formatCode>General</c:formatCode>
                <c:ptCount val="7"/>
                <c:pt idx="0">
                  <c:v>173</c:v>
                </c:pt>
                <c:pt idx="1">
                  <c:v>174</c:v>
                </c:pt>
                <c:pt idx="2">
                  <c:v>177</c:v>
                </c:pt>
                <c:pt idx="3">
                  <c:v>517</c:v>
                </c:pt>
                <c:pt idx="4">
                  <c:v>185</c:v>
                </c:pt>
                <c:pt idx="5">
                  <c:v>240</c:v>
                </c:pt>
                <c:pt idx="6">
                  <c:v>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511-4BF4-91DD-C12B2E928A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lineChart>
        <c:grouping val="standard"/>
        <c:varyColors val="1"/>
        <c:ser>
          <c:idx val="5"/>
          <c:order val="1"/>
          <c:tx>
            <c:strRef>
              <c:f>Feuil1!$J$1</c:f>
              <c:strCache>
                <c:ptCount val="1"/>
                <c:pt idx="0">
                  <c:v>Taux d'engagement</c:v>
                </c:pt>
              </c:strCache>
            </c:strRef>
          </c:tx>
          <c:spPr>
            <a:ln>
              <a:solidFill>
                <a:schemeClr val="accent1">
                  <a:lumMod val="40000"/>
                  <a:lumOff val="60000"/>
                </a:schemeClr>
              </a:solidFill>
            </a:ln>
          </c:spPr>
          <c:marker>
            <c:symbol val="none"/>
          </c:marker>
          <c:dLbls>
            <c:dLbl>
              <c:idx val="0"/>
              <c:layout>
                <c:manualLayout>
                  <c:x val="-4.3390138732658415E-2"/>
                  <c:y val="-5.78495113292350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D7-4346-9C30-AC9512C95ACB}"/>
                </c:ext>
              </c:extLst>
            </c:dLbl>
            <c:dLbl>
              <c:idx val="1"/>
              <c:layout>
                <c:manualLayout>
                  <c:x val="-3.981871016122987E-2"/>
                  <c:y val="-6.85589482826954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D7-4346-9C30-AC9512C95ACB}"/>
                </c:ext>
              </c:extLst>
            </c:dLbl>
            <c:dLbl>
              <c:idx val="3"/>
              <c:layout>
                <c:manualLayout>
                  <c:x val="-2.3152043494563138E-2"/>
                  <c:y val="1.71165473449871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D7-4346-9C30-AC9512C95ACB}"/>
                </c:ext>
              </c:extLst>
            </c:dLbl>
            <c:dLbl>
              <c:idx val="4"/>
              <c:layout>
                <c:manualLayout>
                  <c:x val="-2.1961567304087076E-2"/>
                  <c:y val="-8.99778221896160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0D7-4346-9C30-AC9512C95ACB}"/>
                </c:ext>
              </c:extLst>
            </c:dLbl>
            <c:dLbl>
              <c:idx val="6"/>
              <c:layout>
                <c:manualLayout>
                  <c:x val="-4.1044244469441316E-3"/>
                  <c:y val="-6.3204229805965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C8102E"/>
                    </a:solidFill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Feuil1!$A$2:$A$8</c:f>
              <c:strCache>
                <c:ptCount val="7"/>
                <c:pt idx="0">
                  <c:v>Lun 27 / 20</c:v>
                </c:pt>
                <c:pt idx="1">
                  <c:v>Mar 28 / 21</c:v>
                </c:pt>
                <c:pt idx="2">
                  <c:v>Mer 29 / 22</c:v>
                </c:pt>
                <c:pt idx="3">
                  <c:v>Jeu 30 / 23</c:v>
                </c:pt>
                <c:pt idx="4">
                  <c:v>Ven 31 / 24</c:v>
                </c:pt>
                <c:pt idx="5">
                  <c:v>Sam 1 / 25</c:v>
                </c:pt>
                <c:pt idx="6">
                  <c:v>Dim 2 / 26</c:v>
                </c:pt>
              </c:strCache>
            </c:strRef>
          </c:cat>
          <c:val>
            <c:numRef>
              <c:f>Feuil1!$J$2:$J$8</c:f>
              <c:numCache>
                <c:formatCode>0.00%</c:formatCode>
                <c:ptCount val="7"/>
                <c:pt idx="0">
                  <c:v>4.82E-2</c:v>
                </c:pt>
                <c:pt idx="1">
                  <c:v>5.5399999999999998E-2</c:v>
                </c:pt>
                <c:pt idx="2">
                  <c:v>7.1099999999999997E-2</c:v>
                </c:pt>
                <c:pt idx="3">
                  <c:v>5.04E-2</c:v>
                </c:pt>
                <c:pt idx="4">
                  <c:v>6.0499999999999998E-2</c:v>
                </c:pt>
                <c:pt idx="5">
                  <c:v>4.6600000000000003E-2</c:v>
                </c:pt>
                <c:pt idx="6">
                  <c:v>5.7099999999999998E-2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511-4BF4-91DD-C12B2E928AD4}"/>
            </c:ext>
          </c:extLst>
        </c:ser>
        <c:ser>
          <c:idx val="2"/>
          <c:order val="3"/>
          <c:tx>
            <c:v>Taux d'engagement (semaine précédente)</c:v>
          </c:tx>
          <c:spPr>
            <a:ln>
              <a:solidFill>
                <a:schemeClr val="accent2">
                  <a:lumMod val="75000"/>
                </a:schemeClr>
              </a:solidFill>
            </a:ln>
          </c:spPr>
          <c:marker>
            <c:symbol val="none"/>
          </c:marker>
          <c:dLbls>
            <c:dLbl>
              <c:idx val="3"/>
              <c:layout>
                <c:manualLayout>
                  <c:x val="-2.3152043494563138E-2"/>
                  <c:y val="-6.407110391526895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8A6D00"/>
                    </a:solidFill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val>
            <c:numRef>
              <c:f>Feuil1!$V$2:$V$8</c:f>
              <c:numCache>
                <c:formatCode>0.00%</c:formatCode>
                <c:ptCount val="7"/>
                <c:pt idx="0">
                  <c:v>4.046242774566474E-2</c:v>
                </c:pt>
                <c:pt idx="1">
                  <c:v>2.8735632183908046E-2</c:v>
                </c:pt>
                <c:pt idx="2">
                  <c:v>5.6497175141242938E-2</c:v>
                </c:pt>
                <c:pt idx="3">
                  <c:v>7.3500967117988397E-2</c:v>
                </c:pt>
                <c:pt idx="4">
                  <c:v>6.4864864864864868E-2</c:v>
                </c:pt>
                <c:pt idx="5">
                  <c:v>4.1666666666666664E-2</c:v>
                </c:pt>
                <c:pt idx="6">
                  <c:v>3.951890034364261E-2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511-4BF4-91DD-C12B2E928A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9528671"/>
        <c:axId val="1519531551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11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"/>
        <c:crosses val="autoZero"/>
        <c:crossBetween val="between"/>
      </c:valAx>
      <c:valAx>
        <c:axId val="1519531551"/>
        <c:scaling>
          <c:orientation val="minMax"/>
          <c:max val="0.2"/>
        </c:scaling>
        <c:delete val="0"/>
        <c:axPos val="r"/>
        <c:numFmt formatCode="0%" sourceLinked="0"/>
        <c:majorTickMark val="none"/>
        <c:minorTickMark val="none"/>
        <c:tickLblPos val="nextTo"/>
        <c:crossAx val="1519528671"/>
        <c:crosses val="max"/>
        <c:crossBetween val="between"/>
      </c:valAx>
      <c:catAx>
        <c:axId val="15195286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19531551"/>
        <c:crosses val="autoZero"/>
        <c:auto val="1"/>
        <c:lblAlgn val="ctr"/>
        <c:lblOffset val="100"/>
        <c:noMultiLvlLbl val="0"/>
      </c:catAx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  <c:spPr>
    <a:ln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782A0-30E2-C156-CFBC-C959B1FEB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5EA457-22D3-D0DE-8551-20380F88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altLang="zh-TW"/>
              <a:t>Modifiez le style des sous-titres du masque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162023-06EB-6AF3-621F-D3C272D6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BD87E1-77E0-24C3-B245-34735914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0A7955-30B6-46EA-55A8-441BFDCB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87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09B077-7621-FFE1-EE94-80C87BBE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3493B-3CA9-00D0-0086-EF94FBFD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FA6384-8AFD-2E89-7ABE-60C467EE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F59CA-1F3B-AB78-4A89-7BBC9E77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86E9F5-FFB5-567A-0F42-D256C292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84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7FF3D-2EFB-9341-0539-65FA0152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D049B4-FD94-58C3-1577-B96239C31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92803F-5A41-4504-43E5-253B0A92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BBDCC3-B904-ADE6-E03D-3198F44F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F2B01-125C-80FB-3950-0C660450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29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E786B-F5D7-6225-738E-CD6F7B84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0A8228-0798-FAD8-D29F-23DBE32B1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18A7DE-D6DF-CA1A-366F-0BA327873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CBA178-AC1D-AF9C-58CE-344C1569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FB9D48-7149-FB8A-8C72-33021C50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35249D-C0F2-4674-B508-610DE7CD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27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0F125-2DF8-C1BB-D03D-CAC7E54D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0BECB3-3AC4-6D87-905B-4736E09F2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49CF12-A3EB-E2DC-08AB-00093F160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CB1A26-1E35-E682-937F-8C34E2230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185A9C-92DA-80AE-70BD-8622DE576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A66921-C209-5532-638A-12D0D783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4D078A-68DE-4011-1B94-D014A727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589B5C-B7C7-EA67-4051-76D21053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34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81DC9D-B75B-36F4-4CBE-A3297A41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B94CAEF-A751-E884-0AF2-30B0A8D7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AADDE3-9436-308F-168C-F346A784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A42E11-92C9-1955-F52D-B1CDBDB8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5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2DB7EB-0D4E-CE5A-A7B4-D1FDAE87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FB80BFD-8FA0-2F80-9E25-EB6969CA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D31B7A-B68F-A11E-C396-AEFB5285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1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BFE90-0B3B-2F34-E0EC-0664DE48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A82D1-07DA-4F41-BC58-79016FE1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92DBDE-68D4-28E9-7865-F9E5985CD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598812-8040-AE1D-FF32-426376E9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EA53B8-00C7-0C28-3108-C00B2B89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8A805C-9039-9A17-05EA-98D4F7C1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25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1CB7A-9A8C-D80F-0D41-F5D44E44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22F2E8E-0899-0155-4656-F43111186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71931A-4F92-2ADF-8D48-16B082F33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27891B-F877-3DB7-676B-020CBCD3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6125F6-4D0D-0F9E-1262-48AEFCF3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7643CA-85A0-C19C-1FAD-84ADB695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46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2BBD9-C103-7D39-4CC5-F6B1536D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004B08-9C7F-2BB9-7572-5B00A80F2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430FBF-4497-0357-2B8B-15736902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AFA34-37D7-7C6F-7FF9-5FB9626D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4D7F5-CE75-DFD1-7D56-25174AC5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85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E9554E-D173-6E1C-5B7A-5B176EE62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DFBB09-246F-42EA-452B-0E1306B38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D0F0B7-A06A-8D35-7A30-35596835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5DA886-1141-E1A8-EC66-DD49BEE3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753DCC-79A6-F866-6E7A-909EE181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038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546168-1C02-390E-D19F-E8F7C5F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7DB620-804D-B4E9-CE1D-B00B9EA6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63A12C-2B0A-500E-7E9D-C55A1F405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2B5687-96E3-C3BD-F440-AB63BC38E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96ACDC-678C-7B31-E99F-3C157DA87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29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D4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0D24"/>
            </a:gs>
            <a:gs pos="100000">
              <a:srgbClr val="6E07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ring950"/>
          <p:cNvSpPr/>
          <p:nvPr/>
        </p:nvSpPr>
        <p:spPr>
          <a:xfrm>
            <a:off x="10160000" y="38100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ring951"/>
          <p:cNvSpPr/>
          <p:nvPr/>
        </p:nvSpPr>
        <p:spPr>
          <a:xfrm>
            <a:off x="10477500" y="69850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4" name="dot954"/>
          <p:cNvSpPr/>
          <p:nvPr/>
        </p:nvSpPr>
        <p:spPr>
          <a:xfrm>
            <a:off x="10033000" y="228600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dot955"/>
          <p:cNvSpPr/>
          <p:nvPr/>
        </p:nvSpPr>
        <p:spPr>
          <a:xfrm>
            <a:off x="11557000" y="152400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ring952"/>
          <p:cNvSpPr/>
          <p:nvPr/>
        </p:nvSpPr>
        <p:spPr>
          <a:xfrm>
            <a:off x="229508" y="492331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3" name="ring953"/>
          <p:cNvSpPr/>
          <p:nvPr/>
        </p:nvSpPr>
        <p:spPr>
          <a:xfrm>
            <a:off x="547008" y="524081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6" name="dot956"/>
          <p:cNvSpPr/>
          <p:nvPr/>
        </p:nvSpPr>
        <p:spPr>
          <a:xfrm>
            <a:off x="2261508" y="581231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dot957"/>
          <p:cNvSpPr/>
          <p:nvPr/>
        </p:nvSpPr>
        <p:spPr>
          <a:xfrm>
            <a:off x="991508" y="492331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4C6A9C-99E8-A192-C2DD-E64D4A09D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328185"/>
            <a:ext cx="9144000" cy="292100"/>
          </a:xfrm>
        </p:spPr>
        <p:txBody>
          <a:bodyPr>
            <a:normAutofit/>
          </a:bodyPr>
          <a:lstStyle/>
          <a:p>
            <a:pPr algn="ctr"/>
            <a:r>
              <a:rPr lang="en-US" sz="1400" b="1" dirty="0">
                <a:solidFill>
                  <a:srgbClr val="F4C430"/>
                </a:solidFill>
              </a:rPr>
              <a:t>ENGOO · XIAOHONGSHU  |  PERFORMANCE SOCIALE HEBDOMADAIRE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BE4F6D-8B17-4249-D6FE-55F3EE0F2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920"/>
            <a:ext cx="9144000" cy="1655762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rgbClr val="FFE9A8"/>
                </a:solidFill>
              </a:rPr>
              <a:t>Semaine du rapport : 27 janv. – 2 févr. 2025</a:t>
            </a:r>
          </a:p>
          <a:p>
            <a:pPr algn="ctr"/>
            <a:r>
              <a:rPr lang="en-US" sz="1600" dirty="0">
                <a:solidFill>
                  <a:srgbClr val="FBE3E5"/>
                </a:solidFill>
              </a:rPr>
              <a:t>La campagne du Nouvel An chinois signe la meilleure semaine depuis le début du suivi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AED07-148B-43CC-B024-2629818852F5}"/>
              </a:ext>
            </a:extLst>
          </p:cNvPr>
          <p:cNvSpPr/>
          <p:nvPr/>
        </p:nvSpPr>
        <p:spPr>
          <a:xfrm>
            <a:off x="4635500" y="5649787"/>
            <a:ext cx="2540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pic>
        <p:nvPicPr>
          <p:cNvPr id="22" name="Graphique 21" descr="Serpent contour">
            <a:extLst>
              <a:ext uri="{FF2B5EF4-FFF2-40B4-BE49-F238E27FC236}">
                <a16:creationId xmlns:a16="http://schemas.microsoft.com/office/drawing/2014/main" id="{0FD45922-C970-9EEF-470A-EA3C88544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28" b="3446"/>
          <a:stretch>
            <a:fillRect/>
          </a:stretch>
        </p:blipFill>
        <p:spPr>
          <a:xfrm rot="2605941">
            <a:off x="4164695" y="656904"/>
            <a:ext cx="3731978" cy="3618865"/>
          </a:xfrm>
          <a:custGeom>
            <a:avLst/>
            <a:gdLst>
              <a:gd name="csX0" fmla="*/ 2412037 w 3731978"/>
              <a:gd name="csY0" fmla="*/ 3618865 h 3618865"/>
              <a:gd name="csX1" fmla="*/ 3731978 w 3731978"/>
              <a:gd name="csY1" fmla="*/ 2369246 h 3618865"/>
              <a:gd name="csX2" fmla="*/ 3731978 w 3731978"/>
              <a:gd name="csY2" fmla="*/ 3618865 h 3618865"/>
              <a:gd name="csX3" fmla="*/ 0 w 3731978"/>
              <a:gd name="csY3" fmla="*/ 0 h 3618865"/>
              <a:gd name="csX4" fmla="*/ 3731978 w 3731978"/>
              <a:gd name="csY4" fmla="*/ 0 h 3618865"/>
              <a:gd name="csX5" fmla="*/ 3731978 w 3731978"/>
              <a:gd name="csY5" fmla="*/ 407452 h 3618865"/>
              <a:gd name="csX6" fmla="*/ 339842 w 3731978"/>
              <a:gd name="csY6" fmla="*/ 3618865 h 3618865"/>
              <a:gd name="csX7" fmla="*/ 0 w 3731978"/>
              <a:gd name="csY7" fmla="*/ 3618865 h 3618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31978" h="3618865">
                <a:moveTo>
                  <a:pt x="2412037" y="3618865"/>
                </a:moveTo>
                <a:lnTo>
                  <a:pt x="3731978" y="2369246"/>
                </a:lnTo>
                <a:lnTo>
                  <a:pt x="3731978" y="3618865"/>
                </a:lnTo>
                <a:close/>
                <a:moveTo>
                  <a:pt x="0" y="0"/>
                </a:moveTo>
                <a:lnTo>
                  <a:pt x="3731978" y="0"/>
                </a:lnTo>
                <a:lnTo>
                  <a:pt x="3731978" y="407452"/>
                </a:lnTo>
                <a:lnTo>
                  <a:pt x="339842" y="3618865"/>
                </a:lnTo>
                <a:lnTo>
                  <a:pt x="0" y="3618865"/>
                </a:lnTo>
                <a:close/>
              </a:path>
            </a:pathLst>
          </a:cu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8EEA42D7-3074-85C7-D6A6-BE715463E056}"/>
              </a:ext>
            </a:extLst>
          </p:cNvPr>
          <p:cNvSpPr txBox="1">
            <a:spLocks/>
          </p:cNvSpPr>
          <p:nvPr/>
        </p:nvSpPr>
        <p:spPr>
          <a:xfrm>
            <a:off x="1524000" y="2592815"/>
            <a:ext cx="9144000" cy="76835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1A1A2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FFFFFF"/>
                </a:solidFill>
              </a:rPr>
              <a:t>L'année du Serpent prend son envol</a:t>
            </a:r>
          </a:p>
        </p:txBody>
      </p:sp>
      <p:pic>
        <p:nvPicPr>
          <p:cNvPr id="25" name="Graphique 24" descr="Serpent contour">
            <a:extLst>
              <a:ext uri="{FF2B5EF4-FFF2-40B4-BE49-F238E27FC236}">
                <a16:creationId xmlns:a16="http://schemas.microsoft.com/office/drawing/2014/main" id="{FE965CA8-C1CF-6C31-2512-EA0B052D2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2605941">
            <a:off x="4106431" y="1144465"/>
            <a:ext cx="3748038" cy="3748038"/>
          </a:xfrm>
          <a:custGeom>
            <a:avLst/>
            <a:gdLst>
              <a:gd name="csX0" fmla="*/ 487711 w 3748038"/>
              <a:gd name="csY0" fmla="*/ 3748038 h 3748038"/>
              <a:gd name="csX1" fmla="*/ 3748038 w 3748038"/>
              <a:gd name="csY1" fmla="*/ 661411 h 3748038"/>
              <a:gd name="csX2" fmla="*/ 3748038 w 3748038"/>
              <a:gd name="csY2" fmla="*/ 3748038 h 3748038"/>
              <a:gd name="csX3" fmla="*/ 0 w 3748038"/>
              <a:gd name="csY3" fmla="*/ 0 h 3748038"/>
              <a:gd name="csX4" fmla="*/ 2064998 w 3748038"/>
              <a:gd name="csY4" fmla="*/ 0 h 3748038"/>
              <a:gd name="csX5" fmla="*/ 0 w 3748038"/>
              <a:gd name="csY5" fmla="*/ 1954981 h 3748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748038" h="3748038">
                <a:moveTo>
                  <a:pt x="487711" y="3748038"/>
                </a:moveTo>
                <a:lnTo>
                  <a:pt x="3748038" y="661411"/>
                </a:lnTo>
                <a:lnTo>
                  <a:pt x="3748038" y="3748038"/>
                </a:lnTo>
                <a:close/>
                <a:moveTo>
                  <a:pt x="0" y="0"/>
                </a:moveTo>
                <a:lnTo>
                  <a:pt x="2064998" y="0"/>
                </a:lnTo>
                <a:lnTo>
                  <a:pt x="0" y="1954981"/>
                </a:lnTo>
                <a:close/>
              </a:path>
            </a:pathLst>
          </a:cu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E84728F-B217-2A61-7B82-43D7CEB9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88" t="66808" r="31241" b="16144"/>
          <a:stretch>
            <a:fillRect/>
          </a:stretch>
        </p:blipFill>
        <p:spPr>
          <a:xfrm>
            <a:off x="10638975" y="937785"/>
            <a:ext cx="840700" cy="738615"/>
          </a:xfrm>
          <a:prstGeom prst="rect">
            <a:avLst/>
          </a:prstGeom>
        </p:spPr>
      </p:pic>
      <p:pic>
        <p:nvPicPr>
          <p:cNvPr id="28" name="Image 27" descr="Announcing the Winners of Engoo's 2022 Halloween Costume Contest | Engoo  Blog">
            <a:extLst>
              <a:ext uri="{FF2B5EF4-FFF2-40B4-BE49-F238E27FC236}">
                <a16:creationId xmlns:a16="http://schemas.microsoft.com/office/drawing/2014/main" id="{4A48D0ED-2F7C-765C-E719-69068C616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7538" y="5546541"/>
            <a:ext cx="670392" cy="5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0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F0BE7-76D6-9834-CD60-55103520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Synthèse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757346B-D271-49A5-987A-83EE90E98CE3}"/>
              </a:ext>
            </a:extLst>
          </p:cNvPr>
          <p:cNvSpPr/>
          <p:nvPr/>
        </p:nvSpPr>
        <p:spPr>
          <a:xfrm>
            <a:off x="762000" y="1879600"/>
            <a:ext cx="10668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25B3784-EEEE-4D9C-9BDB-83F0E316E455}"/>
              </a:ext>
            </a:extLst>
          </p:cNvPr>
          <p:cNvSpPr/>
          <p:nvPr/>
        </p:nvSpPr>
        <p:spPr>
          <a:xfrm>
            <a:off x="965200" y="20320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5EA1F2-5653-4985-990C-97EAB40140AC}"/>
              </a:ext>
            </a:extLst>
          </p:cNvPr>
          <p:cNvSpPr txBox="1"/>
          <p:nvPr/>
        </p:nvSpPr>
        <p:spPr>
          <a:xfrm>
            <a:off x="1727200" y="19939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Meilleure semaine depuis le début du suivi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0A473C-6AEE-4DCF-8B67-511C3D76994A}"/>
              </a:ext>
            </a:extLst>
          </p:cNvPr>
          <p:cNvSpPr txBox="1"/>
          <p:nvPr/>
        </p:nvSpPr>
        <p:spPr>
          <a:xfrm>
            <a:off x="1727200" y="22987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3 063 vues  ·  +50 % vs S-1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1A8B3F1-7DB2-45C0-B8DD-2F5B32872A58}"/>
              </a:ext>
            </a:extLst>
          </p:cNvPr>
          <p:cNvSpPr/>
          <p:nvPr/>
        </p:nvSpPr>
        <p:spPr>
          <a:xfrm>
            <a:off x="762000" y="2819400"/>
            <a:ext cx="106680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93A8583-8A18-4B36-9288-BF07FF07215B}"/>
              </a:ext>
            </a:extLst>
          </p:cNvPr>
          <p:cNvSpPr/>
          <p:nvPr/>
        </p:nvSpPr>
        <p:spPr>
          <a:xfrm>
            <a:off x="965200" y="29718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175490-B236-46C7-AD13-9189EF5D3FDE}"/>
              </a:ext>
            </a:extLst>
          </p:cNvPr>
          <p:cNvSpPr txBox="1"/>
          <p:nvPr/>
        </p:nvSpPr>
        <p:spPr>
          <a:xfrm>
            <a:off x="1727200" y="29337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Les nouveaux abonnés ont plus que doublé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EE769D9-2FDB-4B2C-85FD-7EBC8297CE7C}"/>
              </a:ext>
            </a:extLst>
          </p:cNvPr>
          <p:cNvSpPr txBox="1"/>
          <p:nvPr/>
        </p:nvSpPr>
        <p:spPr>
          <a:xfrm>
            <a:off x="1727200" y="32385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+47 nouveaux abonnés  ·  +147 % vs S-1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BBF506E-3077-47B3-9F76-4FB3641A2E03}"/>
              </a:ext>
            </a:extLst>
          </p:cNvPr>
          <p:cNvSpPr/>
          <p:nvPr/>
        </p:nvSpPr>
        <p:spPr>
          <a:xfrm>
            <a:off x="762000" y="3759200"/>
            <a:ext cx="10668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744EA7F-4BC7-4CF6-A693-F9E16FC0C56E}"/>
              </a:ext>
            </a:extLst>
          </p:cNvPr>
          <p:cNvSpPr/>
          <p:nvPr/>
        </p:nvSpPr>
        <p:spPr>
          <a:xfrm>
            <a:off x="965200" y="39116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AD878D2-D2E1-40FC-BE0C-BBB1A8BC49AB}"/>
              </a:ext>
            </a:extLst>
          </p:cNvPr>
          <p:cNvSpPr txBox="1"/>
          <p:nvPr/>
        </p:nvSpPr>
        <p:spPr>
          <a:xfrm>
            <a:off x="1727200" y="38735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Taux d'engagement à 5,5 %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58F2C64-23F6-46BE-AB01-58E4CE6E8C3D}"/>
              </a:ext>
            </a:extLst>
          </p:cNvPr>
          <p:cNvSpPr txBox="1"/>
          <p:nvPr/>
        </p:nvSpPr>
        <p:spPr>
          <a:xfrm>
            <a:off x="1727200" y="41783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Enregistrements +67 %  ·  Commentaires +75 %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564B6F4-C80B-4294-900E-6FCD0045A463}"/>
              </a:ext>
            </a:extLst>
          </p:cNvPr>
          <p:cNvSpPr/>
          <p:nvPr/>
        </p:nvSpPr>
        <p:spPr>
          <a:xfrm>
            <a:off x="762000" y="4699000"/>
            <a:ext cx="106680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BBFB6BE-7B99-4983-B706-544E3EA37DA1}"/>
              </a:ext>
            </a:extLst>
          </p:cNvPr>
          <p:cNvSpPr/>
          <p:nvPr/>
        </p:nvSpPr>
        <p:spPr>
          <a:xfrm>
            <a:off x="965200" y="48514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95C94BC-1A7F-4EBD-92BF-1885B699509B}"/>
              </a:ext>
            </a:extLst>
          </p:cNvPr>
          <p:cNvSpPr txBox="1"/>
          <p:nvPr/>
        </p:nvSpPr>
        <p:spPr>
          <a:xfrm>
            <a:off x="1727200" y="48133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Visites du profil en hausse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565FDDB-742A-44D1-9E82-3FC05AA49E33}"/>
              </a:ext>
            </a:extLst>
          </p:cNvPr>
          <p:cNvSpPr txBox="1"/>
          <p:nvPr/>
        </p:nvSpPr>
        <p:spPr>
          <a:xfrm>
            <a:off x="1727200" y="51181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175 visites du profil  ·  +36 % vs S-1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4E25FF9-9ED1-4ADF-81E2-156DB1032DE3}"/>
              </a:ext>
            </a:extLst>
          </p:cNvPr>
          <p:cNvSpPr/>
          <p:nvPr/>
        </p:nvSpPr>
        <p:spPr>
          <a:xfrm>
            <a:off x="762000" y="5638800"/>
            <a:ext cx="10668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F4B1B87-2655-4CCA-9AAC-19BE3CD15541}"/>
              </a:ext>
            </a:extLst>
          </p:cNvPr>
          <p:cNvSpPr/>
          <p:nvPr/>
        </p:nvSpPr>
        <p:spPr>
          <a:xfrm>
            <a:off x="965200" y="5791200"/>
            <a:ext cx="558800" cy="55880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7A0019"/>
                </a:solidFill>
                <a:latin typeface="Poppins"/>
                <a:cs typeface="Poppins"/>
              </a:rPr>
              <a:t>★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349C35-2BA5-4544-8884-6179FAD48AF1}"/>
              </a:ext>
            </a:extLst>
          </p:cNvPr>
          <p:cNvSpPr txBox="1"/>
          <p:nvPr/>
        </p:nvSpPr>
        <p:spPr>
          <a:xfrm>
            <a:off x="1727200" y="57531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A8132B"/>
                </a:solidFill>
                <a:latin typeface="Poppins"/>
                <a:cs typeface="Poppins"/>
              </a:rPr>
              <a:t>À retenir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DA856A6-88CB-4B99-A49E-87FCE6854459}"/>
              </a:ext>
            </a:extLst>
          </p:cNvPr>
          <p:cNvSpPr txBox="1"/>
          <p:nvPr/>
        </p:nvSpPr>
        <p:spPr>
          <a:xfrm>
            <a:off x="1727200" y="60579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La dynamique est réelle : surveiller la baisse post-fêtes.</a:t>
            </a:r>
          </a:p>
        </p:txBody>
      </p:sp>
    </p:spTree>
    <p:extLst>
      <p:ext uri="{BB962C8B-B14F-4D97-AF65-F5344CB8AC3E}">
        <p14:creationId xmlns:p14="http://schemas.microsoft.com/office/powerpoint/2010/main" val="4050364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47C511-7E5B-6A4C-75D5-E3E2996B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Tableau de bord des KPI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8E2FB19-5B08-4EC0-BFB1-849EE1EC9D21}"/>
              </a:ext>
            </a:extLst>
          </p:cNvPr>
          <p:cNvSpPr/>
          <p:nvPr/>
        </p:nvSpPr>
        <p:spPr>
          <a:xfrm>
            <a:off x="762000" y="19050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620643-1E2C-4499-8223-62D850E73262}"/>
              </a:ext>
            </a:extLst>
          </p:cNvPr>
          <p:cNvSpPr txBox="1"/>
          <p:nvPr/>
        </p:nvSpPr>
        <p:spPr>
          <a:xfrm>
            <a:off x="990600" y="20269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Vues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3AFD5F-6EB7-4E14-8E41-C8B7F1FCB6A5}"/>
              </a:ext>
            </a:extLst>
          </p:cNvPr>
          <p:cNvSpPr txBox="1"/>
          <p:nvPr/>
        </p:nvSpPr>
        <p:spPr>
          <a:xfrm>
            <a:off x="990600" y="23114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3 063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9F25297-0409-4671-A292-6F8B08DCC10F}"/>
              </a:ext>
            </a:extLst>
          </p:cNvPr>
          <p:cNvSpPr/>
          <p:nvPr/>
        </p:nvSpPr>
        <p:spPr>
          <a:xfrm>
            <a:off x="2692400" y="23495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  <a:latin typeface="Calibri"/>
                <a:cs typeface="Calibri"/>
              </a:rPr>
              <a:t>▲ +50 %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2240592-22B7-46E3-825A-47D351EDBE72}"/>
              </a:ext>
            </a:extLst>
          </p:cNvPr>
          <p:cNvSpPr/>
          <p:nvPr/>
        </p:nvSpPr>
        <p:spPr>
          <a:xfrm>
            <a:off x="4419600" y="19050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1776DE-380B-4FA5-805F-E93811DC04CE}"/>
              </a:ext>
            </a:extLst>
          </p:cNvPr>
          <p:cNvSpPr txBox="1"/>
          <p:nvPr/>
        </p:nvSpPr>
        <p:spPr>
          <a:xfrm>
            <a:off x="4648200" y="20269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Nouveaux abonnés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1160AAA-A214-416C-BC4F-01A8B32F2ED8}"/>
              </a:ext>
            </a:extLst>
          </p:cNvPr>
          <p:cNvSpPr txBox="1"/>
          <p:nvPr/>
        </p:nvSpPr>
        <p:spPr>
          <a:xfrm>
            <a:off x="4648200" y="23114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47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D8D2222-C682-4609-B4D0-D3B144554039}"/>
              </a:ext>
            </a:extLst>
          </p:cNvPr>
          <p:cNvSpPr/>
          <p:nvPr/>
        </p:nvSpPr>
        <p:spPr>
          <a:xfrm>
            <a:off x="6350000" y="23495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Calibri"/>
                <a:cs typeface="Calibri"/>
              </a:rPr>
              <a:t>▲ +147 %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CE850E8-FA82-41FD-BBB7-AD0A022E78BC}"/>
              </a:ext>
            </a:extLst>
          </p:cNvPr>
          <p:cNvSpPr/>
          <p:nvPr/>
        </p:nvSpPr>
        <p:spPr>
          <a:xfrm>
            <a:off x="8077200" y="19050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7A5BB4-9625-4061-BB6A-AC8D10E694F1}"/>
              </a:ext>
            </a:extLst>
          </p:cNvPr>
          <p:cNvSpPr txBox="1"/>
          <p:nvPr/>
        </p:nvSpPr>
        <p:spPr>
          <a:xfrm>
            <a:off x="8305800" y="20269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Taux d'engagement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420857-7F91-499F-8393-DF7CB454B014}"/>
              </a:ext>
            </a:extLst>
          </p:cNvPr>
          <p:cNvSpPr txBox="1"/>
          <p:nvPr/>
        </p:nvSpPr>
        <p:spPr>
          <a:xfrm>
            <a:off x="8305800" y="23114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5,5 %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9A35F48-672F-4B64-8B9B-BB91077E0F89}"/>
              </a:ext>
            </a:extLst>
          </p:cNvPr>
          <p:cNvSpPr/>
          <p:nvPr/>
        </p:nvSpPr>
        <p:spPr>
          <a:xfrm>
            <a:off x="10007600" y="23495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400" b="1">
                <a:solidFill>
                  <a:srgbClr val="196B24"/>
                </a:solidFill>
                <a:latin typeface="Calibri"/>
                <a:ea typeface="Calibri"/>
                <a:cs typeface="Calibri"/>
              </a:rPr>
              <a:t>▲ +0,4 pt</a:t>
            </a:r>
            <a:endParaRPr lang="zh-TW" altLang="en-US" sz="1400" b="1">
              <a:solidFill>
                <a:srgbClr val="196B24"/>
              </a:solidFill>
              <a:latin typeface="Calibri"/>
              <a:cs typeface="Calibri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3B86BA3-CB8E-4905-9C08-FBB74272628A}"/>
              </a:ext>
            </a:extLst>
          </p:cNvPr>
          <p:cNvSpPr/>
          <p:nvPr/>
        </p:nvSpPr>
        <p:spPr>
          <a:xfrm>
            <a:off x="762000" y="31369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930C86-A9F3-4345-8C8B-7803D151B817}"/>
              </a:ext>
            </a:extLst>
          </p:cNvPr>
          <p:cNvSpPr txBox="1"/>
          <p:nvPr/>
        </p:nvSpPr>
        <p:spPr>
          <a:xfrm>
            <a:off x="990600" y="32588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Enregistrements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2221BB9-59F2-479C-AE30-E549A72905BE}"/>
              </a:ext>
            </a:extLst>
          </p:cNvPr>
          <p:cNvSpPr txBox="1"/>
          <p:nvPr/>
        </p:nvSpPr>
        <p:spPr>
          <a:xfrm>
            <a:off x="990600" y="35433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40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160988F-ED28-4C2E-BE6C-45515D97314F}"/>
              </a:ext>
            </a:extLst>
          </p:cNvPr>
          <p:cNvSpPr/>
          <p:nvPr/>
        </p:nvSpPr>
        <p:spPr>
          <a:xfrm>
            <a:off x="2692400" y="35814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Calibri"/>
                <a:cs typeface="Calibri"/>
              </a:rPr>
              <a:t>▲ +67 %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9C893AA-9C06-4E22-B806-CD2E68D9CF49}"/>
              </a:ext>
            </a:extLst>
          </p:cNvPr>
          <p:cNvSpPr/>
          <p:nvPr/>
        </p:nvSpPr>
        <p:spPr>
          <a:xfrm>
            <a:off x="4419600" y="31369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02DD2D9-7607-4216-9CD8-D3D958F37E08}"/>
              </a:ext>
            </a:extLst>
          </p:cNvPr>
          <p:cNvSpPr txBox="1"/>
          <p:nvPr/>
        </p:nvSpPr>
        <p:spPr>
          <a:xfrm>
            <a:off x="4648200" y="32588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Commentaires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A2DC342-82C4-4E81-A841-AFBA0356D0F3}"/>
              </a:ext>
            </a:extLst>
          </p:cNvPr>
          <p:cNvSpPr txBox="1"/>
          <p:nvPr/>
        </p:nvSpPr>
        <p:spPr>
          <a:xfrm>
            <a:off x="4648200" y="35433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14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E53546A-34CC-4D11-9A5C-22AC7229792F}"/>
              </a:ext>
            </a:extLst>
          </p:cNvPr>
          <p:cNvSpPr/>
          <p:nvPr/>
        </p:nvSpPr>
        <p:spPr>
          <a:xfrm>
            <a:off x="6350000" y="35814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  <a:latin typeface="Calibri"/>
                <a:cs typeface="Calibri"/>
              </a:rPr>
              <a:t>▲ +75 %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51E108D-C3D2-4C76-B9B7-13860BB6F439}"/>
              </a:ext>
            </a:extLst>
          </p:cNvPr>
          <p:cNvSpPr/>
          <p:nvPr/>
        </p:nvSpPr>
        <p:spPr>
          <a:xfrm>
            <a:off x="8077200" y="31369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884E1A-9387-42FC-B5C3-128A13D8B10B}"/>
              </a:ext>
            </a:extLst>
          </p:cNvPr>
          <p:cNvSpPr txBox="1"/>
          <p:nvPr/>
        </p:nvSpPr>
        <p:spPr>
          <a:xfrm>
            <a:off x="8305800" y="32588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Temps de visionnage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0912550-550C-48BB-83EB-B41D730E6897}"/>
              </a:ext>
            </a:extLst>
          </p:cNvPr>
          <p:cNvSpPr txBox="1"/>
          <p:nvPr/>
        </p:nvSpPr>
        <p:spPr>
          <a:xfrm>
            <a:off x="8305800" y="35433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22 h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DDC2291-CFBD-4B16-BF66-B9698FF550C7}"/>
              </a:ext>
            </a:extLst>
          </p:cNvPr>
          <p:cNvSpPr/>
          <p:nvPr/>
        </p:nvSpPr>
        <p:spPr>
          <a:xfrm>
            <a:off x="10007600" y="35814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Calibri"/>
                <a:cs typeface="Calibri"/>
              </a:rPr>
              <a:t>▲ +46 %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4ED926-B44C-49FF-998E-C2F47D881308}"/>
              </a:ext>
            </a:extLst>
          </p:cNvPr>
          <p:cNvSpPr txBox="1"/>
          <p:nvPr/>
        </p:nvSpPr>
        <p:spPr>
          <a:xfrm>
            <a:off x="762000" y="63246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400" i="1" dirty="0">
                <a:solidFill>
                  <a:srgbClr val="6B7280"/>
                </a:solidFill>
              </a:rPr>
              <a:t>Semaine du 27 janv. au 2 févr. 2025 vs semaine du 20 au 26 janv. 2025</a:t>
            </a:r>
            <a:endParaRPr lang="zh-TW" altLang="en-US" sz="1400" i="1" dirty="0">
              <a:solidFill>
                <a:srgbClr val="6B728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57A9F-DFE5-43B3-B977-78C1426D24C8}"/>
              </a:ext>
            </a:extLst>
          </p:cNvPr>
          <p:cNvSpPr/>
          <p:nvPr/>
        </p:nvSpPr>
        <p:spPr>
          <a:xfrm>
            <a:off x="762000" y="19050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597592-1691-4BE8-AEA5-2D61E844A16A}"/>
              </a:ext>
            </a:extLst>
          </p:cNvPr>
          <p:cNvSpPr/>
          <p:nvPr/>
        </p:nvSpPr>
        <p:spPr>
          <a:xfrm>
            <a:off x="4419600" y="19050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7B87B2-C084-4658-A623-41D2EDDEA355}"/>
              </a:ext>
            </a:extLst>
          </p:cNvPr>
          <p:cNvSpPr/>
          <p:nvPr/>
        </p:nvSpPr>
        <p:spPr>
          <a:xfrm>
            <a:off x="8077200" y="19050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49422B-8A96-4E2C-98FE-59DF39F7400F}"/>
              </a:ext>
            </a:extLst>
          </p:cNvPr>
          <p:cNvSpPr/>
          <p:nvPr/>
        </p:nvSpPr>
        <p:spPr>
          <a:xfrm>
            <a:off x="762000" y="31369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B8C831-5C81-422C-9AF9-13FFDF5CC3B3}"/>
              </a:ext>
            </a:extLst>
          </p:cNvPr>
          <p:cNvSpPr/>
          <p:nvPr/>
        </p:nvSpPr>
        <p:spPr>
          <a:xfrm>
            <a:off x="4419600" y="31369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049B33-2CEC-4A4C-B62A-0FDF9A7E653F}"/>
              </a:ext>
            </a:extLst>
          </p:cNvPr>
          <p:cNvSpPr/>
          <p:nvPr/>
        </p:nvSpPr>
        <p:spPr>
          <a:xfrm>
            <a:off x="8077200" y="31369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aphicFrame>
        <p:nvGraphicFramePr>
          <p:cNvPr id="201" name="Daily Trend Chart"/>
          <p:cNvGraphicFramePr/>
          <p:nvPr>
            <p:extLst>
              <p:ext uri="{D42A27DB-BD31-4B8C-83A1-F6EECF244321}">
                <p14:modId xmlns:p14="http://schemas.microsoft.com/office/powerpoint/2010/main" val="1771525519"/>
              </p:ext>
            </p:extLst>
          </p:nvPr>
        </p:nvGraphicFramePr>
        <p:xfrm>
          <a:off x="762000" y="4292600"/>
          <a:ext cx="10668000" cy="200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29620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E69CA-1360-DFB5-41D5-2FBA0728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Aperçu des contenus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10C82A-4602-5EC7-A8C8-48E9A13AC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937026"/>
            <a:ext cx="2387600" cy="3175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696848E-EE7C-52A9-946D-353DB91F0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200" y="1937026"/>
            <a:ext cx="2387600" cy="3175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6B14EDE-1E9E-9941-19E9-CE62881DD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1937026"/>
            <a:ext cx="2387600" cy="317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FC17A4-CF94-44CE-A321-4F3679CEFD52}"/>
              </a:ext>
            </a:extLst>
          </p:cNvPr>
          <p:cNvSpPr/>
          <p:nvPr/>
        </p:nvSpPr>
        <p:spPr>
          <a:xfrm>
            <a:off x="81280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13361FC-C2B2-4F13-B5D8-AB5BD7BAD89D}"/>
              </a:ext>
            </a:extLst>
          </p:cNvPr>
          <p:cNvSpPr txBox="1"/>
          <p:nvPr/>
        </p:nvSpPr>
        <p:spPr>
          <a:xfrm>
            <a:off x="721360" y="5315226"/>
            <a:ext cx="2999409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 dirty="0">
                <a:solidFill>
                  <a:srgbClr val="1A1A2E"/>
                </a:solidFill>
                <a:latin typeface="Poppins"/>
                <a:cs typeface="Poppins"/>
              </a:rPr>
              <a:t>Zodiaque du Nouvel An</a:t>
            </a:r>
            <a:endParaRPr lang="zh-TW" altLang="en-US" sz="16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665CF66-E978-40A7-871F-0A13CF4B81AA}"/>
              </a:ext>
            </a:extLst>
          </p:cNvPr>
          <p:cNvSpPr txBox="1"/>
          <p:nvPr/>
        </p:nvSpPr>
        <p:spPr>
          <a:xfrm>
            <a:off x="721360" y="5693410"/>
            <a:ext cx="2387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Classements de chance + couleurs porte-bonheur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B0A78B-B49D-4449-9C4C-3E95DB16B6C5}"/>
              </a:ext>
            </a:extLst>
          </p:cNvPr>
          <p:cNvSpPr/>
          <p:nvPr/>
        </p:nvSpPr>
        <p:spPr>
          <a:xfrm>
            <a:off x="490220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EBBC2C6-D917-49BE-8A50-C9A1E46EC8ED}"/>
              </a:ext>
            </a:extLst>
          </p:cNvPr>
          <p:cNvSpPr txBox="1"/>
          <p:nvPr/>
        </p:nvSpPr>
        <p:spPr>
          <a:xfrm>
            <a:off x="4810760" y="5315226"/>
            <a:ext cx="2387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Actualités bilingues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9637533-9A1F-41B6-80CA-E4005D4896D8}"/>
              </a:ext>
            </a:extLst>
          </p:cNvPr>
          <p:cNvSpPr txBox="1"/>
          <p:nvPr/>
        </p:nvSpPr>
        <p:spPr>
          <a:xfrm>
            <a:off x="4810760" y="5693410"/>
            <a:ext cx="23876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Actualités quotidiennes qui servent aussi de support d'étude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6CFDEC-B9C8-4132-856A-DBB9C679F962}"/>
              </a:ext>
            </a:extLst>
          </p:cNvPr>
          <p:cNvSpPr/>
          <p:nvPr/>
        </p:nvSpPr>
        <p:spPr>
          <a:xfrm>
            <a:off x="899160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5A5ED1-DBE3-4460-913E-A12054766F09}"/>
              </a:ext>
            </a:extLst>
          </p:cNvPr>
          <p:cNvSpPr txBox="1"/>
          <p:nvPr/>
        </p:nvSpPr>
        <p:spPr>
          <a:xfrm>
            <a:off x="8900160" y="5315226"/>
            <a:ext cx="2794882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 dirty="0">
                <a:solidFill>
                  <a:srgbClr val="1A1A2E"/>
                </a:solidFill>
                <a:latin typeface="Poppins"/>
                <a:cs typeface="Poppins"/>
              </a:rPr>
              <a:t>Jeux de mots festifs</a:t>
            </a:r>
            <a:endParaRPr lang="zh-TW" altLang="en-US" sz="16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9AE520-5462-446E-AEF7-4865080F59A0}"/>
              </a:ext>
            </a:extLst>
          </p:cNvPr>
          <p:cNvSpPr/>
          <p:nvPr/>
        </p:nvSpPr>
        <p:spPr>
          <a:xfrm>
            <a:off x="76200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5DBFBD0-2738-466A-9886-043C0E89196B}"/>
              </a:ext>
            </a:extLst>
          </p:cNvPr>
          <p:cNvSpPr txBox="1"/>
          <p:nvPr/>
        </p:nvSpPr>
        <p:spPr>
          <a:xfrm>
            <a:off x="8900160" y="5693410"/>
            <a:ext cx="2387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Devinettes bilingues pour la Fête des lanternes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846B61-63D3-435B-9C23-963B13265FDF}"/>
              </a:ext>
            </a:extLst>
          </p:cNvPr>
          <p:cNvSpPr/>
          <p:nvPr/>
        </p:nvSpPr>
        <p:spPr>
          <a:xfrm>
            <a:off x="485140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AE3124-FAB4-4D03-9469-403C638DA1A3}"/>
              </a:ext>
            </a:extLst>
          </p:cNvPr>
          <p:cNvSpPr/>
          <p:nvPr/>
        </p:nvSpPr>
        <p:spPr>
          <a:xfrm>
            <a:off x="894080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2933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Les moteurs de la semaine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7620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7620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445000" y="20828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0668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 calendrier culturel a payé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0668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Publier le contenu Zodiaque aux dates exactes du Nouvel An chinois nous a placés face à une audience en forte hausse et motivée.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F4A3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9956800" y="20828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Plus d'enregistrements que de j'aime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40 enregistrements (+67 %) : les utilisateurs gardent les posts comme supports d'étude et y reviennent, un comportement à forte valeur.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7620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762000" y="4292600"/>
            <a:ext cx="76200" cy="1549400"/>
          </a:xfrm>
          <a:prstGeom prst="rect">
            <a:avLst/>
          </a:prstGeom>
          <a:solidFill>
            <a:srgbClr val="3A7D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445000" y="42926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0668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Les abonnés ont fortement progressé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066800" y="5054600"/>
            <a:ext cx="4648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+47 nouveaux abonnés (+147 %) : la série des fêtes a converti les visiteurs en abonnés.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9956800" y="42926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À SURVEILLER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Surveiller la baisse après les fêtes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Dimanche 2 févr., les vues sont tombées à 210 avec la fin des fêtes. Retour à la normale attendu la semaine prochaine sans nouvelle accroche.</a:t>
            </a:r>
            <a:endParaRPr lang="zh-TW" altLang="en-US" sz="140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67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F294C-6AE3-1367-DD15-A082DDC1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Recommandations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5BAA9C5-06BF-412A-8590-5333B298BEE7}"/>
              </a:ext>
            </a:extLst>
          </p:cNvPr>
          <p:cNvSpPr/>
          <p:nvPr/>
        </p:nvSpPr>
        <p:spPr>
          <a:xfrm>
            <a:off x="762000" y="2032000"/>
            <a:ext cx="10668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2C96E92-F959-46CF-AABE-0E41F5E763BD}"/>
              </a:ext>
            </a:extLst>
          </p:cNvPr>
          <p:cNvSpPr/>
          <p:nvPr/>
        </p:nvSpPr>
        <p:spPr>
          <a:xfrm>
            <a:off x="965200" y="22479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55490F-3749-4D5C-99C4-C923507F4961}"/>
              </a:ext>
            </a:extLst>
          </p:cNvPr>
          <p:cNvSpPr txBox="1"/>
          <p:nvPr/>
        </p:nvSpPr>
        <p:spPr>
          <a:xfrm>
            <a:off x="1727200" y="21717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Planifier les contenus selon le calendrier culturel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72ACE2-D13C-4A1E-BCCD-B25D1CD131F8}"/>
              </a:ext>
            </a:extLst>
          </p:cNvPr>
          <p:cNvSpPr txBox="1"/>
          <p:nvPr/>
        </p:nvSpPr>
        <p:spPr>
          <a:xfrm>
            <a:off x="1727200" y="25019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Préparer des posts bilingues pour la Fête des lanternes, Qingming et le 1er mai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E1EF83-AEE3-4C65-BE32-C88751F432A2}"/>
              </a:ext>
            </a:extLst>
          </p:cNvPr>
          <p:cNvSpPr/>
          <p:nvPr/>
        </p:nvSpPr>
        <p:spPr>
          <a:xfrm>
            <a:off x="762000" y="3149600"/>
            <a:ext cx="106680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5370F2C-D940-4DC0-BFBA-5B70B82D88BA}"/>
              </a:ext>
            </a:extLst>
          </p:cNvPr>
          <p:cNvSpPr/>
          <p:nvPr/>
        </p:nvSpPr>
        <p:spPr>
          <a:xfrm>
            <a:off x="965200" y="33655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9D4CED-BC29-4DC3-A42C-BC4C22678553}"/>
              </a:ext>
            </a:extLst>
          </p:cNvPr>
          <p:cNvSpPr txBox="1"/>
          <p:nvPr/>
        </p:nvSpPr>
        <p:spPr>
          <a:xfrm>
            <a:off x="1727200" y="32893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Miser sur les formats « à enregistrer »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AAD0EE-393A-4EEB-9B26-E2AE141FF671}"/>
              </a:ext>
            </a:extLst>
          </p:cNvPr>
          <p:cNvSpPr txBox="1"/>
          <p:nvPr/>
        </p:nvSpPr>
        <p:spPr>
          <a:xfrm>
            <a:off x="1727200" y="36195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Un carrousel de référence par semaine : classements, devinettes, glossaires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8C3FE41-D6BE-4202-BD9D-2445732CFDE7}"/>
              </a:ext>
            </a:extLst>
          </p:cNvPr>
          <p:cNvSpPr/>
          <p:nvPr/>
        </p:nvSpPr>
        <p:spPr>
          <a:xfrm>
            <a:off x="762000" y="4267200"/>
            <a:ext cx="10668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BDBB9D8-072B-418D-A273-78B86F3C5BA2}"/>
              </a:ext>
            </a:extLst>
          </p:cNvPr>
          <p:cNvSpPr/>
          <p:nvPr/>
        </p:nvSpPr>
        <p:spPr>
          <a:xfrm>
            <a:off x="965200" y="44831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C5FE9B5-258F-4790-8B63-33F6C6A9B96F}"/>
              </a:ext>
            </a:extLst>
          </p:cNvPr>
          <p:cNvSpPr txBox="1"/>
          <p:nvPr/>
        </p:nvSpPr>
        <p:spPr>
          <a:xfrm>
            <a:off x="1727200" y="44069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Convertir le pic d'abonnés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16CC5DF-5A94-4444-A2BB-2130C9712A00}"/>
              </a:ext>
            </a:extLst>
          </p:cNvPr>
          <p:cNvSpPr txBox="1"/>
          <p:nvPr/>
        </p:nvSpPr>
        <p:spPr>
          <a:xfrm>
            <a:off x="1727200" y="47371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Épingler un post « commencez ici » + CTA d'essai gratuit tant que l'intérêt est fort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5861290-1E5D-4D03-9CBD-F51096A9E9D3}"/>
              </a:ext>
            </a:extLst>
          </p:cNvPr>
          <p:cNvSpPr/>
          <p:nvPr/>
        </p:nvSpPr>
        <p:spPr>
          <a:xfrm>
            <a:off x="762000" y="5384800"/>
            <a:ext cx="106680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7CA9D2A-A764-4D20-AB0A-3246E9B44D2C}"/>
              </a:ext>
            </a:extLst>
          </p:cNvPr>
          <p:cNvSpPr/>
          <p:nvPr/>
        </p:nvSpPr>
        <p:spPr>
          <a:xfrm>
            <a:off x="965200" y="56007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634312-10C5-4DA2-9EF1-B9F3ACB5E4F1}"/>
              </a:ext>
            </a:extLst>
          </p:cNvPr>
          <p:cNvSpPr txBox="1"/>
          <p:nvPr/>
        </p:nvSpPr>
        <p:spPr>
          <a:xfrm>
            <a:off x="1727200" y="55245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Répondre à chaque commentaire sous 24 h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E81E51B-CAE0-4AC8-A932-6BA895E02052}"/>
              </a:ext>
            </a:extLst>
          </p:cNvPr>
          <p:cNvSpPr txBox="1"/>
          <p:nvPr/>
        </p:nvSpPr>
        <p:spPr>
          <a:xfrm>
            <a:off x="1727200" y="58547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Commentaires +75 % : des réponses régulières envoient un signal à l'algorithme</a:t>
            </a:r>
          </a:p>
        </p:txBody>
      </p:sp>
    </p:spTree>
    <p:extLst>
      <p:ext uri="{BB962C8B-B14F-4D97-AF65-F5344CB8AC3E}">
        <p14:creationId xmlns:p14="http://schemas.microsoft.com/office/powerpoint/2010/main" val="202431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Semaine prochaine — Plan d'action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744817"/>
              </p:ext>
            </p:extLst>
          </p:nvPr>
        </p:nvGraphicFramePr>
        <p:xfrm>
          <a:off x="762000" y="1905000"/>
          <a:ext cx="106680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Responsable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Échéance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Indicateur de réussite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 dirty="0">
                          <a:solidFill>
                            <a:srgbClr val="1A1A2E"/>
                          </a:solidFill>
                        </a:rPr>
                        <a:t>Préparer en amont le carrousel de devinettes de la Fête des lanternes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Lun–Mar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Publier le jour de la fête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Épingler le post d'accueil « commencez ici » + CTA d'essai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Réseaux sociaux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Lun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Visites du profil → clics d'essai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Post d'actualité bilingue quotidien (prêt à étudier)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Quotidien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Maintenir le taux d'enregistrement ≥ 1,3 %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Répondre à tous les commentaires sous 24 h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Communauté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Quotidien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100 % de taux de réponse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Tester 1 post de référence argot/glossaire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Jeudi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>
                          <a:solidFill>
                            <a:srgbClr val="3A3A44"/>
                          </a:solidFill>
                        </a:rPr>
                        <a:t>Dépasser la moyenne d'enregistrements (5,7/jour)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417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762000" y="5537200"/>
            <a:ext cx="106680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762000" y="56642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i="1">
                <a:solidFill>
                  <a:srgbClr val="6B7280"/>
                </a:solidFill>
              </a:rPr>
              <a:t>Un responsable par action · Bilan des résultats à la prochaine réunion hebdomadaire</a:t>
            </a:r>
            <a:endParaRPr lang="zh-TW" altLang="en-US" sz="1400" i="1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1272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[1780680433428]">
  <a:themeElements>
    <a:clrScheme name="Office">
      <a:dk1>
        <a:srgbClr val="1A1A2E"/>
      </a:dk1>
      <a:lt1>
        <a:srgbClr val="FFFFFF"/>
      </a:lt1>
      <a:dk2>
        <a:srgbClr val="2B2D42"/>
      </a:dk2>
      <a:lt2>
        <a:srgbClr val="FBF7F2"/>
      </a:lt2>
      <a:accent1>
        <a:srgbClr val="C8102E"/>
      </a:accent1>
      <a:accent2>
        <a:srgbClr val="F4A300"/>
      </a:accent2>
      <a:accent3>
        <a:srgbClr val="2B2D42"/>
      </a:accent3>
      <a:accent4>
        <a:srgbClr val="E8825A"/>
      </a:accent4>
      <a:accent5>
        <a:srgbClr val="3A7D8C"/>
      </a:accent5>
      <a:accent6>
        <a:srgbClr val="6B7280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F86862-D519-40AA-91B8-2CE1ACBDEE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1fb6c2b-a2f1-40e7-a5dd-7f025dc0ee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572</Words>
  <Application>Microsoft Office PowerPoint</Application>
  <PresentationFormat>Grand écran</PresentationFormat>
  <Paragraphs>105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Poppins</vt:lpstr>
      <vt:lpstr>Thème Office [1780680433428]</vt:lpstr>
      <vt:lpstr>ENGOO · XIAOHONGSHU  |  PERFORMANCE SOCIALE HEBDOMADAIRE</vt:lpstr>
      <vt:lpstr>Synthèse</vt:lpstr>
      <vt:lpstr>Tableau de bord des KPI</vt:lpstr>
      <vt:lpstr>Aperçu des contenus</vt:lpstr>
      <vt:lpstr>Les moteurs de la semaine</vt:lpstr>
      <vt:lpstr>Recommandations</vt:lpstr>
      <vt:lpstr>Semaine prochaine — Plan d'action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TSENG Yu-Ting</dc:creator>
  <cp:lastModifiedBy>TSENG Yu-Ting</cp:lastModifiedBy>
  <cp:revision>15</cp:revision>
  <dcterms:created xsi:type="dcterms:W3CDTF">2026-06-05T16:38:19Z</dcterms:created>
  <dcterms:modified xsi:type="dcterms:W3CDTF">2026-10-23T06:13:24Z</dcterms:modified>
</cp:coreProperties>
</file>