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14" r:id="rId2"/>
    <p:sldId id="315" r:id="rId3"/>
    <p:sldId id="309" r:id="rId4"/>
    <p:sldId id="316" r:id="rId5"/>
    <p:sldId id="317" r:id="rId6"/>
    <p:sldId id="313" r:id="rId7"/>
    <p:sldId id="318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10D23"/>
    <a:srgbClr val="9E0D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77" y="5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fr-FR"/>
  <c:roundedCorners val="1"/>
  <c:style val="2"/>
  <c:chart>
    <c:autoTitleDeleted val="1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Feuil1!$B$1</c:f>
              <c:strCache>
                <c:ptCount val="1"/>
                <c:pt idx="0">
                  <c:v>Views</c:v>
                </c:pt>
              </c:strCache>
            </c:strRef>
          </c:tx>
          <c:spPr>
            <a:solidFill>
              <a:srgbClr val="C8102E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(Feuil1!$A$2:$A$8,Feuil1!$M$2:$M$8)</c:f>
              <c:strCache>
                <c:ptCount val="14"/>
                <c:pt idx="0">
                  <c:v>Mon 27 / 20</c:v>
                </c:pt>
                <c:pt idx="1">
                  <c:v>Tue 28 / 21</c:v>
                </c:pt>
                <c:pt idx="2">
                  <c:v>Wed 29 / 22</c:v>
                </c:pt>
                <c:pt idx="3">
                  <c:v>Thu 30 / 23</c:v>
                </c:pt>
                <c:pt idx="4">
                  <c:v>Fri 31 / 24</c:v>
                </c:pt>
                <c:pt idx="5">
                  <c:v>Sat 1 / 25</c:v>
                </c:pt>
                <c:pt idx="6">
                  <c:v>Sun 2 / 26</c:v>
                </c:pt>
                <c:pt idx="7">
                  <c:v>Mon 20</c:v>
                </c:pt>
                <c:pt idx="8">
                  <c:v>Tue 21</c:v>
                </c:pt>
                <c:pt idx="9">
                  <c:v>Wed 22</c:v>
                </c:pt>
                <c:pt idx="10">
                  <c:v>Thu 23</c:v>
                </c:pt>
                <c:pt idx="11">
                  <c:v>Fri 24</c:v>
                </c:pt>
                <c:pt idx="12">
                  <c:v>Sat 25</c:v>
                </c:pt>
                <c:pt idx="13">
                  <c:v>Sun 26</c:v>
                </c:pt>
              </c:strCache>
            </c:strRef>
          </c:cat>
          <c:val>
            <c:numRef>
              <c:f>Feuil1!$B$2:$B$8</c:f>
              <c:numCache>
                <c:formatCode>General</c:formatCode>
                <c:ptCount val="7"/>
                <c:pt idx="0">
                  <c:v>436</c:v>
                </c:pt>
                <c:pt idx="1">
                  <c:v>523</c:v>
                </c:pt>
                <c:pt idx="2">
                  <c:v>450</c:v>
                </c:pt>
                <c:pt idx="3">
                  <c:v>516</c:v>
                </c:pt>
                <c:pt idx="4">
                  <c:v>413</c:v>
                </c:pt>
                <c:pt idx="5">
                  <c:v>515</c:v>
                </c:pt>
                <c:pt idx="6">
                  <c:v>210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67E4-4EDE-829C-F87658C2AF63}"/>
            </c:ext>
          </c:extLst>
        </c:ser>
        <c:ser>
          <c:idx val="1"/>
          <c:order val="2"/>
          <c:tx>
            <c:v>Views_Previous Week</c:v>
          </c:tx>
          <c:spPr>
            <a:solidFill>
              <a:schemeClr val="accent2">
                <a:lumMod val="60000"/>
                <a:lumOff val="40000"/>
              </a:schemeClr>
            </a:solidFill>
            <a:ln>
              <a:solidFill>
                <a:schemeClr val="accent2">
                  <a:lumMod val="60000"/>
                  <a:lumOff val="40000"/>
                </a:schemeClr>
              </a:solidFill>
            </a:ln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>
                    <a:solidFill>
                      <a:srgbClr val="2B2D42"/>
                    </a:solidFill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</c:ext>
            </c:extLst>
          </c:dLbls>
          <c:val>
            <c:numRef>
              <c:f>Feuil1!$N$2:$N$8</c:f>
              <c:numCache>
                <c:formatCode>General</c:formatCode>
                <c:ptCount val="7"/>
                <c:pt idx="0">
                  <c:v>173</c:v>
                </c:pt>
                <c:pt idx="1">
                  <c:v>174</c:v>
                </c:pt>
                <c:pt idx="2">
                  <c:v>177</c:v>
                </c:pt>
                <c:pt idx="3">
                  <c:v>517</c:v>
                </c:pt>
                <c:pt idx="4">
                  <c:v>185</c:v>
                </c:pt>
                <c:pt idx="5">
                  <c:v>240</c:v>
                </c:pt>
                <c:pt idx="6">
                  <c:v>582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7-C511-4BF4-91DD-C12B2E928A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"/>
        <c:axId val="2"/>
      </c:barChart>
      <c:lineChart>
        <c:grouping val="standard"/>
        <c:varyColors val="1"/>
        <c:ser>
          <c:idx val="5"/>
          <c:order val="1"/>
          <c:tx>
            <c:strRef>
              <c:f>Feuil1!$J$1</c:f>
              <c:strCache>
                <c:ptCount val="1"/>
                <c:pt idx="0">
                  <c:v>Engagement Rate</c:v>
                </c:pt>
              </c:strCache>
            </c:strRef>
          </c:tx>
          <c:spPr>
            <a:ln>
              <a:solidFill>
                <a:schemeClr val="accent1">
                  <a:lumMod val="40000"/>
                  <a:lumOff val="60000"/>
                </a:schemeClr>
              </a:solidFill>
            </a:ln>
          </c:spPr>
          <c:marker>
            <c:symbol val="none"/>
          </c:marker>
          <c:dLbls>
            <c:dLbl>
              <c:idx val="0"/>
              <c:layout>
                <c:manualLayout>
                  <c:x val="-4.3390138732658415E-2"/>
                  <c:y val="-5.7849511329235076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50D7-4346-9C30-AC9512C95ACB}"/>
                </c:ext>
              </c:extLst>
            </c:dLbl>
            <c:dLbl>
              <c:idx val="1"/>
              <c:layout>
                <c:manualLayout>
                  <c:x val="-3.981871016122987E-2"/>
                  <c:y val="-6.8558948282695403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50D7-4346-9C30-AC9512C95ACB}"/>
                </c:ext>
              </c:extLst>
            </c:dLbl>
            <c:dLbl>
              <c:idx val="3"/>
              <c:layout>
                <c:manualLayout>
                  <c:x val="-2.3152043494563138E-2"/>
                  <c:y val="1.7116547344987125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50D7-4346-9C30-AC9512C95ACB}"/>
                </c:ext>
              </c:extLst>
            </c:dLbl>
            <c:dLbl>
              <c:idx val="4"/>
              <c:layout>
                <c:manualLayout>
                  <c:x val="-2.1961567304087076E-2"/>
                  <c:y val="-8.9977822189616058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4-50D7-4346-9C30-AC9512C95ACB}"/>
                </c:ext>
              </c:extLst>
            </c:dLbl>
            <c:dLbl>
              <c:idx val="6"/>
              <c:layout>
                <c:manualLayout>
                  <c:x val="-4.1044244469441316E-3"/>
                  <c:y val="-6.320422980596524E-2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C8102E"/>
                    </a:solidFill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cat>
            <c:strRef>
              <c:f>Feuil1!$A$2:$A$8</c:f>
              <c:strCache>
                <c:ptCount val="7"/>
                <c:pt idx="0">
                  <c:v>Mon 27 / 20</c:v>
                </c:pt>
                <c:pt idx="1">
                  <c:v>Tue 28 / 21</c:v>
                </c:pt>
                <c:pt idx="2">
                  <c:v>Wed 29 / 22</c:v>
                </c:pt>
                <c:pt idx="3">
                  <c:v>Thu 30 / 23</c:v>
                </c:pt>
                <c:pt idx="4">
                  <c:v>Fri 31 / 24</c:v>
                </c:pt>
                <c:pt idx="5">
                  <c:v>Sat 1 / 25</c:v>
                </c:pt>
                <c:pt idx="6">
                  <c:v>Sun 2 / 26</c:v>
                </c:pt>
              </c:strCache>
            </c:strRef>
          </c:cat>
          <c:val>
            <c:numRef>
              <c:f>Feuil1!$J$2:$J$8</c:f>
              <c:numCache>
                <c:formatCode>0.00%</c:formatCode>
                <c:ptCount val="7"/>
                <c:pt idx="0">
                  <c:v>4.82E-2</c:v>
                </c:pt>
                <c:pt idx="1">
                  <c:v>5.5399999999999998E-2</c:v>
                </c:pt>
                <c:pt idx="2">
                  <c:v>7.1099999999999997E-2</c:v>
                </c:pt>
                <c:pt idx="3">
                  <c:v>5.04E-2</c:v>
                </c:pt>
                <c:pt idx="4">
                  <c:v>6.0499999999999998E-2</c:v>
                </c:pt>
                <c:pt idx="5">
                  <c:v>4.6600000000000003E-2</c:v>
                </c:pt>
                <c:pt idx="6">
                  <c:v>5.7099999999999998E-2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511-4BF4-91DD-C12B2E928AD4}"/>
            </c:ext>
          </c:extLst>
        </c:ser>
        <c:ser>
          <c:idx val="2"/>
          <c:order val="3"/>
          <c:tx>
            <c:v>Engagement Rate_Previous Week</c:v>
          </c:tx>
          <c:spPr>
            <a:ln>
              <a:solidFill>
                <a:schemeClr val="accent2">
                  <a:lumMod val="75000"/>
                </a:schemeClr>
              </a:solidFill>
            </a:ln>
          </c:spPr>
          <c:marker>
            <c:symbol val="none"/>
          </c:marker>
          <c:dLbls>
            <c:dLbl>
              <c:idx val="3"/>
              <c:layout>
                <c:manualLayout>
                  <c:x val="-2.3152043494563138E-2"/>
                  <c:y val="-6.4071103915268957E-3"/>
                </c:manualLayout>
              </c:layout>
              <c:dLblPos val="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50D7-4346-9C30-AC9512C95ACB}"/>
                </c:ext>
              </c:extLst>
            </c:dLbl>
            <c:spPr>
              <a:solidFill>
                <a:srgbClr val="FFFFFF">
                  <a:alpha val="80000"/>
                </a:srgbClr>
              </a:solidFill>
              <a:ln>
                <a:noFill/>
              </a:ln>
              <a:effectLst/>
            </c:spPr>
            <c:txPr>
              <a:bodyPr wrap="square" lIns="19050" tIns="9525" rIns="19050" bIns="9525" anchor="ctr">
                <a:spAutoFit/>
              </a:bodyPr>
              <a:lstStyle/>
              <a:p>
                <a:pPr>
                  <a:defRPr sz="900" b="1">
                    <a:solidFill>
                      <a:srgbClr val="8A6D00"/>
                    </a:solidFill>
                  </a:defRPr>
                </a:pPr>
                <a:endParaRPr lang="en-US"/>
              </a:p>
            </c:txPr>
            <c:dLblPos val="b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rect">
                    <a:avLst/>
                  </a:prstGeom>
                </c15:spPr>
                <c15:showLeaderLines val="1"/>
              </c:ext>
            </c:extLst>
          </c:dLbls>
          <c:val>
            <c:numRef>
              <c:f>Feuil1!$V$2:$V$8</c:f>
              <c:numCache>
                <c:formatCode>0.00%</c:formatCode>
                <c:ptCount val="7"/>
                <c:pt idx="0">
                  <c:v>4.046242774566474E-2</c:v>
                </c:pt>
                <c:pt idx="1">
                  <c:v>2.8735632183908046E-2</c:v>
                </c:pt>
                <c:pt idx="2">
                  <c:v>5.6497175141242938E-2</c:v>
                </c:pt>
                <c:pt idx="3">
                  <c:v>7.3500967117988397E-2</c:v>
                </c:pt>
                <c:pt idx="4">
                  <c:v>6.4864864864864868E-2</c:v>
                </c:pt>
                <c:pt idx="5">
                  <c:v>4.1666666666666664E-2</c:v>
                </c:pt>
                <c:pt idx="6">
                  <c:v>3.951890034364261E-2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8-C511-4BF4-91DD-C12B2E928A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519528671"/>
        <c:axId val="1519531551"/>
      </c:lineChart>
      <c:catAx>
        <c:axId val="1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txPr>
          <a:bodyPr rot="0"/>
          <a:lstStyle/>
          <a:p>
            <a:pPr>
              <a:defRPr sz="1100"/>
            </a:pPr>
            <a:endParaRPr lang="en-US"/>
          </a:p>
        </c:txPr>
        <c:crossAx val="2"/>
        <c:crosses val="autoZero"/>
        <c:auto val="1"/>
        <c:lblAlgn val="ctr"/>
        <c:lblOffset val="100"/>
        <c:noMultiLvlLbl val="1"/>
      </c:catAx>
      <c:valAx>
        <c:axId val="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txPr>
          <a:bodyPr/>
          <a:lstStyle/>
          <a:p>
            <a:pPr>
              <a:defRPr sz="1000"/>
            </a:pPr>
            <a:endParaRPr lang="en-US"/>
          </a:p>
        </c:txPr>
        <c:crossAx val="1"/>
        <c:crosses val="autoZero"/>
        <c:crossBetween val="between"/>
      </c:valAx>
      <c:valAx>
        <c:axId val="1519531551"/>
        <c:scaling>
          <c:orientation val="minMax"/>
          <c:max val="0.2"/>
        </c:scaling>
        <c:delete val="0"/>
        <c:axPos val="r"/>
        <c:numFmt formatCode="0%" sourceLinked="0"/>
        <c:majorTickMark val="none"/>
        <c:minorTickMark val="none"/>
        <c:tickLblPos val="nextTo"/>
        <c:crossAx val="1519528671"/>
        <c:crosses val="max"/>
        <c:crossBetween val="between"/>
      </c:valAx>
      <c:catAx>
        <c:axId val="151952867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519531551"/>
        <c:crosses val="autoZero"/>
        <c:auto val="1"/>
        <c:lblAlgn val="ctr"/>
        <c:lblOffset val="100"/>
        <c:noMultiLvlLbl val="0"/>
      </c:catAx>
    </c:plotArea>
    <c:legend>
      <c:legendPos val="r"/>
      <c:overlay val="0"/>
      <c:txPr>
        <a:bodyPr/>
        <a:lstStyle/>
        <a:p>
          <a:pPr>
            <a:defRPr sz="1400"/>
          </a:pPr>
          <a:endParaRPr lang="en-US"/>
        </a:p>
      </c:txPr>
    </c:legend>
    <c:plotVisOnly val="1"/>
    <c:dispBlanksAs val="zero"/>
    <c:showDLblsOverMax val="1"/>
  </c:chart>
  <c:spPr>
    <a:ln>
      <a:noFill/>
    </a:ln>
  </c:sp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A782A0-30E2-C156-CFBC-C959B1FEB3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D05EA457-22D3-D0DE-8551-20380F8882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altLang="zh-TW"/>
              <a:t>Modifiez le style des sous-titres du masque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FB162023-06EB-6AF3-621F-D3C272D6F3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7BD87E1-77E0-24C3-B245-34735914A2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B0A7955-30B6-46EA-55A8-441BFDCB2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7878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6209B077-7621-FFE1-EE94-80C87BBE1A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B3493B-3CA9-00D0-0086-EF94FBFD3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2FA6384-8AFD-2E89-7ABE-60C467EEA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54F59CA-1F3B-AB78-4A89-7BBC9E7777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586E9F5-FFB5-567A-0F42-D256C292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8445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017FF3D-2EFB-9341-0539-65FA015201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BBD049B4-FD94-58C3-1577-B96239C31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692803F-5A41-4504-43E5-253B0A92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5BBDCC3-B904-ADE6-E03D-3198F44F7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49F2B01-125C-80FB-3950-0C66045075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296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10E786B-F5D7-6225-738E-CD6F7B844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20A8228-0798-FAD8-D29F-23DBE32B11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118A7DE-D6DF-CA1A-366F-0BA327873C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8CBA178-AC1D-AF9C-58CE-344C15693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BFB9D48-7149-FB8A-8C72-33021C50F3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935249D-C0F2-4674-B508-610DE7CD7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271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F0F125-2DF8-C1BB-D03D-CAC7E54D7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00BECB3-3AC4-6D87-905B-4736E09F20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449CF12-A3EB-E2DC-08AB-00093F1603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95CB1A26-1E35-E682-937F-8C34E22304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68185A9C-92DA-80AE-70BD-8622DE57656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ACA66921-C209-5532-638A-12D0D78329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B94D078A-68DE-4011-1B94-D014A727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1589B5C-B7C7-EA67-4051-76D21053C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2343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0" name="HeaderBand"/>
          <p:cNvSpPr/>
          <p:nvPr/>
        </p:nvSpPr>
        <p:spPr>
          <a:xfrm>
            <a:off x="0" y="0"/>
            <a:ext cx="12192000" cy="1524000"/>
          </a:xfrm>
          <a:prstGeom prst="rect">
            <a:avLst/>
          </a:prstGeom>
          <a:solidFill>
            <a:srgbClr val="A50D24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1" name="HeaderGold"/>
          <p:cNvSpPr/>
          <p:nvPr/>
        </p:nvSpPr>
        <p:spPr>
          <a:xfrm>
            <a:off x="0" y="1524000"/>
            <a:ext cx="12192000" cy="762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72" name="HeaderAccent"/>
          <p:cNvSpPr/>
          <p:nvPr/>
        </p:nvSpPr>
        <p:spPr>
          <a:xfrm>
            <a:off x="0" y="0"/>
            <a:ext cx="177800" cy="1524000"/>
          </a:xfrm>
          <a:prstGeom prst="rect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DC81DC9D-B75B-36F4-4CBE-A3297A41DF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8B94CAEF-A751-E884-0AF2-30B0A8D7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D8AADDE3-9436-308F-168C-F346A7842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34A42E11-92C9-1955-F52D-B1CDBDB87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646588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502DB7EB-0D4E-CE5A-A7B4-D1FDAE873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0FB80BFD-8FA0-2F80-9E25-EB6969CA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6D31B7A-B68F-A11E-C396-AEFB5285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94910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09BFE90-0B3B-2F34-E0EC-0664DE4833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E7A82D1-07DA-4F41-BC58-79016FE15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892DBDE-68D4-28E9-7865-F9E5985CD5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B3598812-8040-AE1D-FF32-426376E95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01EA53B8-00C7-0C28-3108-C00B2B89E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FF8A805C-9039-9A17-05EA-98D4F7C1F0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82583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541CB7A-9A8C-D80F-0D41-F5D44E44D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022F2E8E-0899-0155-4656-F431111860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A371931A-4F92-2ADF-8D48-16B082F336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altLang="zh-TW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E27891B-F877-3DB7-676B-020CBCD3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806125F6-4D0D-0F9E-1262-48AEFCF34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7643CA-85A0-C19C-1FAD-84ADB69550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744663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02BBD9-C103-7D39-4CC5-F6B1536D45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5004B08-9C7F-2BB9-7572-5B00A80F22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9430FBF-4497-0357-2B8B-15736902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4D5AFA34-37D7-7C6F-7FF9-5FB9626D08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F94D7F5-CE75-DFD1-7D56-25174AC5A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9850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58E9554E-D173-6E1C-5B7A-5B176EE62D6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81DFBB09-246F-42EA-452B-0E1306B38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6D0F0B7-A06A-8D35-7A30-355968351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45DA886-1141-E1A8-EC66-DD49BEE3C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D753DCC-79A6-F866-6E7A-909EE181B0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3038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7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4546168-1C02-390E-D19F-E8F7C5F713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altLang="zh-TW"/>
              <a:t>Modifiez le style du titre</a:t>
            </a:r>
            <a:endParaRPr lang="zh-TW" altLang="en-US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D7DB620-804D-B4E9-CE1D-B00B9EA637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altLang="zh-TW"/>
              <a:t>Cliquez pour modifier les styles du texte du masque</a:t>
            </a:r>
          </a:p>
          <a:p>
            <a:pPr lvl="1"/>
            <a:r>
              <a:rPr lang="fr-FR" altLang="zh-TW"/>
              <a:t>Deuxième niveau</a:t>
            </a:r>
          </a:p>
          <a:p>
            <a:pPr lvl="2"/>
            <a:r>
              <a:rPr lang="fr-FR" altLang="zh-TW"/>
              <a:t>Troisième niveau</a:t>
            </a:r>
          </a:p>
          <a:p>
            <a:pPr lvl="3"/>
            <a:r>
              <a:rPr lang="fr-FR" altLang="zh-TW"/>
              <a:t>Quatrième niveau</a:t>
            </a:r>
          </a:p>
          <a:p>
            <a:pPr lvl="4"/>
            <a:r>
              <a:rPr lang="fr-FR" altLang="zh-TW"/>
              <a:t>Cinquième niveau</a:t>
            </a:r>
            <a:endParaRPr lang="zh-TW" altLang="en-US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063A12C-2B0A-500E-7E9D-C55A1F40505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ACCC3E1-D6CF-40B7-B817-18D62C8A9621}" type="datetimeFigureOut">
              <a:rPr lang="zh-TW" altLang="en-US" smtClean="0"/>
              <a:t>2026/10/23</a:t>
            </a:fld>
            <a:endParaRPr lang="zh-TW" altLang="en-US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92B5687-96E3-C3BD-F440-AB63BC38E5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A96ACDC-678C-7B31-E99F-3C157DA870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AE25723-8D1C-497A-ABDC-7C5FFFC43AB8}" type="slidenum">
              <a:rPr lang="zh-TW" altLang="en-US" smtClean="0"/>
              <a:t>‹N°›</a:t>
            </a:fld>
            <a:endParaRPr lang="zh-TW" altLang="en-US"/>
          </a:p>
        </p:txBody>
      </p:sp>
      <p:sp>
        <p:nvSpPr>
          <p:cNvPr id="900" name="AccentBar"/>
          <p:cNvSpPr/>
          <p:nvPr/>
        </p:nvSpPr>
        <p:spPr>
          <a:xfrm>
            <a:off x="0" y="0"/>
            <a:ext cx="6096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312925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1A2E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B2D4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A50D24"/>
            </a:gs>
            <a:gs pos="100000">
              <a:srgbClr val="6E071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0" name="ring950"/>
          <p:cNvSpPr/>
          <p:nvPr/>
        </p:nvSpPr>
        <p:spPr>
          <a:xfrm>
            <a:off x="10160000" y="38100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1" name="ring951"/>
          <p:cNvSpPr/>
          <p:nvPr/>
        </p:nvSpPr>
        <p:spPr>
          <a:xfrm>
            <a:off x="10477500" y="69850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4" name="dot954"/>
          <p:cNvSpPr/>
          <p:nvPr/>
        </p:nvSpPr>
        <p:spPr>
          <a:xfrm>
            <a:off x="10033000" y="228600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5" name="dot955"/>
          <p:cNvSpPr/>
          <p:nvPr/>
        </p:nvSpPr>
        <p:spPr>
          <a:xfrm>
            <a:off x="11557000" y="152400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2" name="ring952"/>
          <p:cNvSpPr/>
          <p:nvPr/>
        </p:nvSpPr>
        <p:spPr>
          <a:xfrm>
            <a:off x="229508" y="4923310"/>
            <a:ext cx="1778000" cy="1778000"/>
          </a:xfrm>
          <a:prstGeom prst="ellipse">
            <a:avLst/>
          </a:prstGeom>
          <a:noFill/>
          <a:ln w="2540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3" name="ring953"/>
          <p:cNvSpPr/>
          <p:nvPr/>
        </p:nvSpPr>
        <p:spPr>
          <a:xfrm>
            <a:off x="547008" y="5240810"/>
            <a:ext cx="1143000" cy="1143000"/>
          </a:xfrm>
          <a:prstGeom prst="ellipse">
            <a:avLst/>
          </a:prstGeom>
          <a:noFill/>
          <a:ln w="19050">
            <a:solidFill>
              <a:srgbClr val="F4C430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956" name="dot956"/>
          <p:cNvSpPr/>
          <p:nvPr/>
        </p:nvSpPr>
        <p:spPr>
          <a:xfrm>
            <a:off x="2261508" y="5812310"/>
            <a:ext cx="228600" cy="2286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57" name="dot957"/>
          <p:cNvSpPr/>
          <p:nvPr/>
        </p:nvSpPr>
        <p:spPr>
          <a:xfrm>
            <a:off x="991508" y="4923310"/>
            <a:ext cx="152400" cy="152400"/>
          </a:xfrm>
          <a:prstGeom prst="ellipse">
            <a:avLst/>
          </a:prstGeom>
          <a:solidFill>
            <a:srgbClr val="F4C43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C4C6A9C-99E8-A192-C2DD-E64D4A09DE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3500" y="328185"/>
            <a:ext cx="9144000" cy="292100"/>
          </a:xfrm>
        </p:spPr>
        <p:txBody>
          <a:bodyPr>
            <a:normAutofit/>
          </a:bodyPr>
          <a:lstStyle/>
          <a:p>
            <a:pPr algn="ctr"/>
            <a:r>
              <a:rPr lang="en-US" sz="1400" b="1" dirty="0">
                <a:solidFill>
                  <a:srgbClr val="F4C430"/>
                </a:solidFill>
              </a:rPr>
              <a:t>ENGOO · XIAOHONGSHU  |  WEEKLY SOCIAL PERFORMANCE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33BE4F6D-8B17-4249-D6FE-55F3EE0F28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429920"/>
            <a:ext cx="9144000" cy="1655762"/>
          </a:xfrm>
        </p:spPr>
        <p:txBody>
          <a:bodyPr/>
          <a:lstStyle/>
          <a:p>
            <a:pPr algn="ctr"/>
            <a:r>
              <a:rPr lang="en-US" sz="2000" b="1" dirty="0">
                <a:solidFill>
                  <a:srgbClr val="FFE9A8"/>
                </a:solidFill>
              </a:rPr>
              <a:t>Reporting week: Jan 27 – Feb 2, 2025</a:t>
            </a:r>
          </a:p>
          <a:p>
            <a:pPr algn="ctr"/>
            <a:r>
              <a:rPr lang="en-US" sz="1600" dirty="0">
                <a:solidFill>
                  <a:srgbClr val="FBE3E5"/>
                </a:solidFill>
              </a:rPr>
              <a:t>Chinese New Year campaign drives the strongest week since tracking began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F7AED07-148B-43CC-B024-2629818852F5}"/>
              </a:ext>
            </a:extLst>
          </p:cNvPr>
          <p:cNvSpPr/>
          <p:nvPr/>
        </p:nvSpPr>
        <p:spPr>
          <a:xfrm>
            <a:off x="4635500" y="5649787"/>
            <a:ext cx="2540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pic>
        <p:nvPicPr>
          <p:cNvPr id="22" name="Graphique 21" descr="Serpent contour">
            <a:extLst>
              <a:ext uri="{FF2B5EF4-FFF2-40B4-BE49-F238E27FC236}">
                <a16:creationId xmlns:a16="http://schemas.microsoft.com/office/drawing/2014/main" id="{0FD45922-C970-9EEF-470A-EA3C885448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428" b="3446"/>
          <a:stretch>
            <a:fillRect/>
          </a:stretch>
        </p:blipFill>
        <p:spPr>
          <a:xfrm rot="2605941">
            <a:off x="4164695" y="573774"/>
            <a:ext cx="3731978" cy="3618865"/>
          </a:xfrm>
          <a:custGeom>
            <a:avLst/>
            <a:gdLst>
              <a:gd name="csX0" fmla="*/ 2412037 w 3731978"/>
              <a:gd name="csY0" fmla="*/ 3618865 h 3618865"/>
              <a:gd name="csX1" fmla="*/ 3731978 w 3731978"/>
              <a:gd name="csY1" fmla="*/ 2369246 h 3618865"/>
              <a:gd name="csX2" fmla="*/ 3731978 w 3731978"/>
              <a:gd name="csY2" fmla="*/ 3618865 h 3618865"/>
              <a:gd name="csX3" fmla="*/ 0 w 3731978"/>
              <a:gd name="csY3" fmla="*/ 0 h 3618865"/>
              <a:gd name="csX4" fmla="*/ 3731978 w 3731978"/>
              <a:gd name="csY4" fmla="*/ 0 h 3618865"/>
              <a:gd name="csX5" fmla="*/ 3731978 w 3731978"/>
              <a:gd name="csY5" fmla="*/ 407452 h 3618865"/>
              <a:gd name="csX6" fmla="*/ 339842 w 3731978"/>
              <a:gd name="csY6" fmla="*/ 3618865 h 3618865"/>
              <a:gd name="csX7" fmla="*/ 0 w 3731978"/>
              <a:gd name="csY7" fmla="*/ 3618865 h 36188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</a:cxnLst>
            <a:rect l="l" t="t" r="r" b="b"/>
            <a:pathLst>
              <a:path w="3731978" h="3618865">
                <a:moveTo>
                  <a:pt x="2412037" y="3618865"/>
                </a:moveTo>
                <a:lnTo>
                  <a:pt x="3731978" y="2369246"/>
                </a:lnTo>
                <a:lnTo>
                  <a:pt x="3731978" y="3618865"/>
                </a:lnTo>
                <a:close/>
                <a:moveTo>
                  <a:pt x="0" y="0"/>
                </a:moveTo>
                <a:lnTo>
                  <a:pt x="3731978" y="0"/>
                </a:lnTo>
                <a:lnTo>
                  <a:pt x="3731978" y="407452"/>
                </a:lnTo>
                <a:lnTo>
                  <a:pt x="339842" y="3618865"/>
                </a:lnTo>
                <a:lnTo>
                  <a:pt x="0" y="3618865"/>
                </a:lnTo>
                <a:close/>
              </a:path>
            </a:pathLst>
          </a:cu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8EEA42D7-3074-85C7-D6A6-BE715463E056}"/>
              </a:ext>
            </a:extLst>
          </p:cNvPr>
          <p:cNvSpPr txBox="1">
            <a:spLocks/>
          </p:cNvSpPr>
          <p:nvPr/>
        </p:nvSpPr>
        <p:spPr>
          <a:xfrm>
            <a:off x="1524000" y="2592815"/>
            <a:ext cx="9144000" cy="768350"/>
          </a:xfrm>
          <a:prstGeom prst="rect">
            <a:avLst/>
          </a:prstGeom>
          <a:noFill/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rgbClr val="1A1A2E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400" b="1" dirty="0">
                <a:solidFill>
                  <a:srgbClr val="FFFFFF"/>
                </a:solidFill>
              </a:rPr>
              <a:t>Year of the Snake Lift-Off</a:t>
            </a:r>
          </a:p>
        </p:txBody>
      </p:sp>
      <p:pic>
        <p:nvPicPr>
          <p:cNvPr id="25" name="Graphique 24" descr="Serpent contour">
            <a:extLst>
              <a:ext uri="{FF2B5EF4-FFF2-40B4-BE49-F238E27FC236}">
                <a16:creationId xmlns:a16="http://schemas.microsoft.com/office/drawing/2014/main" id="{FE965CA8-C1CF-6C31-2512-EA0B052D22F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p:blipFill>
        <p:spPr>
          <a:xfrm rot="2605941">
            <a:off x="4106431" y="1044709"/>
            <a:ext cx="3748038" cy="3748038"/>
          </a:xfrm>
          <a:custGeom>
            <a:avLst/>
            <a:gdLst>
              <a:gd name="csX0" fmla="*/ 487711 w 3748038"/>
              <a:gd name="csY0" fmla="*/ 3748038 h 3748038"/>
              <a:gd name="csX1" fmla="*/ 3748038 w 3748038"/>
              <a:gd name="csY1" fmla="*/ 661411 h 3748038"/>
              <a:gd name="csX2" fmla="*/ 3748038 w 3748038"/>
              <a:gd name="csY2" fmla="*/ 3748038 h 3748038"/>
              <a:gd name="csX3" fmla="*/ 0 w 3748038"/>
              <a:gd name="csY3" fmla="*/ 0 h 3748038"/>
              <a:gd name="csX4" fmla="*/ 2064998 w 3748038"/>
              <a:gd name="csY4" fmla="*/ 0 h 3748038"/>
              <a:gd name="csX5" fmla="*/ 0 w 3748038"/>
              <a:gd name="csY5" fmla="*/ 1954981 h 374803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l" t="t" r="r" b="b"/>
            <a:pathLst>
              <a:path w="3748038" h="3748038">
                <a:moveTo>
                  <a:pt x="487711" y="3748038"/>
                </a:moveTo>
                <a:lnTo>
                  <a:pt x="3748038" y="661411"/>
                </a:lnTo>
                <a:lnTo>
                  <a:pt x="3748038" y="3748038"/>
                </a:lnTo>
                <a:close/>
                <a:moveTo>
                  <a:pt x="0" y="0"/>
                </a:moveTo>
                <a:lnTo>
                  <a:pt x="2064998" y="0"/>
                </a:lnTo>
                <a:lnTo>
                  <a:pt x="0" y="1954981"/>
                </a:lnTo>
                <a:close/>
              </a:path>
            </a:pathLst>
          </a:custGeom>
        </p:spPr>
      </p:pic>
      <p:pic>
        <p:nvPicPr>
          <p:cNvPr id="27" name="Image 26">
            <a:extLst>
              <a:ext uri="{FF2B5EF4-FFF2-40B4-BE49-F238E27FC236}">
                <a16:creationId xmlns:a16="http://schemas.microsoft.com/office/drawing/2014/main" id="{8E84728F-B217-2A61-7B82-43D7CEB95D3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888" t="66808" r="31241" b="16144"/>
          <a:stretch>
            <a:fillRect/>
          </a:stretch>
        </p:blipFill>
        <p:spPr>
          <a:xfrm>
            <a:off x="10638975" y="937785"/>
            <a:ext cx="840700" cy="738615"/>
          </a:xfrm>
          <a:prstGeom prst="rect">
            <a:avLst/>
          </a:prstGeom>
        </p:spPr>
      </p:pic>
      <p:pic>
        <p:nvPicPr>
          <p:cNvPr id="28" name="Image 27" descr="Announcing the Winners of Engoo's 2022 Halloween Costume Contest | Engoo  Blog">
            <a:extLst>
              <a:ext uri="{FF2B5EF4-FFF2-40B4-BE49-F238E27FC236}">
                <a16:creationId xmlns:a16="http://schemas.microsoft.com/office/drawing/2014/main" id="{4A48D0ED-2F7C-765C-E719-69068C6169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757538" y="5546541"/>
            <a:ext cx="670392" cy="531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4686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63F0BE7-76D6-9834-CD60-551035205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Executive Summary</a:t>
            </a:r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D757346B-D271-49A5-987A-83EE90E98CE3}"/>
              </a:ext>
            </a:extLst>
          </p:cNvPr>
          <p:cNvSpPr/>
          <p:nvPr/>
        </p:nvSpPr>
        <p:spPr>
          <a:xfrm>
            <a:off x="838200" y="1879600"/>
            <a:ext cx="105156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F25B3784-EEEE-4D9C-9BDB-83F0E316E455}"/>
              </a:ext>
            </a:extLst>
          </p:cNvPr>
          <p:cNvSpPr/>
          <p:nvPr/>
        </p:nvSpPr>
        <p:spPr>
          <a:xfrm>
            <a:off x="1041400" y="20320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55EA1F2-5653-4985-990C-97EAB40140AC}"/>
              </a:ext>
            </a:extLst>
          </p:cNvPr>
          <p:cNvSpPr txBox="1"/>
          <p:nvPr/>
        </p:nvSpPr>
        <p:spPr>
          <a:xfrm>
            <a:off x="1854200" y="19939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Best week since tracking began</a:t>
            </a: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E50A473C-6AEE-4DCF-8B67-511C3D76994A}"/>
              </a:ext>
            </a:extLst>
          </p:cNvPr>
          <p:cNvSpPr txBox="1"/>
          <p:nvPr/>
        </p:nvSpPr>
        <p:spPr>
          <a:xfrm>
            <a:off x="1854200" y="22987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>
                <a:solidFill>
                  <a:srgbClr val="C8102E"/>
                </a:solidFill>
                <a:latin typeface="Poppins"/>
                <a:cs typeface="Poppins"/>
              </a:rPr>
              <a:t>3,063 views  ·  +50% WoW</a:t>
            </a:r>
          </a:p>
        </p:txBody>
      </p:sp>
      <p:sp>
        <p:nvSpPr>
          <p:cNvPr id="9" name="Rectangle : coins arrondis 8">
            <a:extLst>
              <a:ext uri="{FF2B5EF4-FFF2-40B4-BE49-F238E27FC236}">
                <a16:creationId xmlns:a16="http://schemas.microsoft.com/office/drawing/2014/main" id="{A1A8B3F1-7DB2-45C0-B8DD-2F5B32872A58}"/>
              </a:ext>
            </a:extLst>
          </p:cNvPr>
          <p:cNvSpPr/>
          <p:nvPr/>
        </p:nvSpPr>
        <p:spPr>
          <a:xfrm>
            <a:off x="838200" y="2819400"/>
            <a:ext cx="105156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Ellipse 9">
            <a:extLst>
              <a:ext uri="{FF2B5EF4-FFF2-40B4-BE49-F238E27FC236}">
                <a16:creationId xmlns:a16="http://schemas.microsoft.com/office/drawing/2014/main" id="{E93A8583-8A18-4B36-9288-BF07FF07215B}"/>
              </a:ext>
            </a:extLst>
          </p:cNvPr>
          <p:cNvSpPr/>
          <p:nvPr/>
        </p:nvSpPr>
        <p:spPr>
          <a:xfrm>
            <a:off x="1041400" y="29718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2175490-B236-46C7-AD13-9189EF5D3FDE}"/>
              </a:ext>
            </a:extLst>
          </p:cNvPr>
          <p:cNvSpPr txBox="1"/>
          <p:nvPr/>
        </p:nvSpPr>
        <p:spPr>
          <a:xfrm>
            <a:off x="1854200" y="29337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New followers more than doubled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BEE769D9-2FDB-4B2C-85FD-7EBC8297CE7C}"/>
              </a:ext>
            </a:extLst>
          </p:cNvPr>
          <p:cNvSpPr txBox="1"/>
          <p:nvPr/>
        </p:nvSpPr>
        <p:spPr>
          <a:xfrm>
            <a:off x="1854200" y="32385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>
                <a:solidFill>
                  <a:srgbClr val="C8102E"/>
                </a:solidFill>
                <a:latin typeface="Poppins"/>
                <a:cs typeface="Poppins"/>
              </a:rPr>
              <a:t>+47 new  ·  +147% WoW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7BBF506E-3077-47B3-9F76-4FB3641A2E03}"/>
              </a:ext>
            </a:extLst>
          </p:cNvPr>
          <p:cNvSpPr/>
          <p:nvPr/>
        </p:nvSpPr>
        <p:spPr>
          <a:xfrm>
            <a:off x="838200" y="3759200"/>
            <a:ext cx="105156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6744EA7F-4BC7-4CF6-A693-F9E16FC0C56E}"/>
              </a:ext>
            </a:extLst>
          </p:cNvPr>
          <p:cNvSpPr/>
          <p:nvPr/>
        </p:nvSpPr>
        <p:spPr>
          <a:xfrm>
            <a:off x="1041400" y="39116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8AD878D2-D2E1-40FC-BE0C-BBB1A8BC49AB}"/>
              </a:ext>
            </a:extLst>
          </p:cNvPr>
          <p:cNvSpPr txBox="1"/>
          <p:nvPr/>
        </p:nvSpPr>
        <p:spPr>
          <a:xfrm>
            <a:off x="1854200" y="38735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Engagement rate hit 5.5%</a:t>
            </a: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958F2C64-23F6-46BE-AB01-58E4CE6E8C3D}"/>
              </a:ext>
            </a:extLst>
          </p:cNvPr>
          <p:cNvSpPr txBox="1"/>
          <p:nvPr/>
        </p:nvSpPr>
        <p:spPr>
          <a:xfrm>
            <a:off x="1854200" y="41783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>
                <a:solidFill>
                  <a:srgbClr val="C8102E"/>
                </a:solidFill>
                <a:latin typeface="Poppins"/>
                <a:cs typeface="Poppins"/>
              </a:rPr>
              <a:t>Saves +67%  ·  Comments +75%</a:t>
            </a:r>
          </a:p>
        </p:txBody>
      </p:sp>
      <p:sp>
        <p:nvSpPr>
          <p:cNvPr id="17" name="Rectangle : coins arrondis 16">
            <a:extLst>
              <a:ext uri="{FF2B5EF4-FFF2-40B4-BE49-F238E27FC236}">
                <a16:creationId xmlns:a16="http://schemas.microsoft.com/office/drawing/2014/main" id="{5564B6F4-C80B-4294-900E-6FCD0045A463}"/>
              </a:ext>
            </a:extLst>
          </p:cNvPr>
          <p:cNvSpPr/>
          <p:nvPr/>
        </p:nvSpPr>
        <p:spPr>
          <a:xfrm>
            <a:off x="838200" y="4699000"/>
            <a:ext cx="10515600" cy="863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BBFB6BE-7B99-4983-B706-544E3EA37DA1}"/>
              </a:ext>
            </a:extLst>
          </p:cNvPr>
          <p:cNvSpPr/>
          <p:nvPr/>
        </p:nvSpPr>
        <p:spPr>
          <a:xfrm>
            <a:off x="1041400" y="4851400"/>
            <a:ext cx="558800" cy="5588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000" b="1" dirty="0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0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95C94BC-1A7F-4EBD-92BF-1885B699509B}"/>
              </a:ext>
            </a:extLst>
          </p:cNvPr>
          <p:cNvSpPr txBox="1"/>
          <p:nvPr/>
        </p:nvSpPr>
        <p:spPr>
          <a:xfrm>
            <a:off x="1854200" y="48133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1A1A2E"/>
                </a:solidFill>
                <a:latin typeface="Poppins"/>
                <a:cs typeface="Poppins"/>
              </a:rPr>
              <a:t>Profile visits climbed</a:t>
            </a:r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E565FDDB-742A-44D1-9E82-3FC05AA49E33}"/>
              </a:ext>
            </a:extLst>
          </p:cNvPr>
          <p:cNvSpPr txBox="1"/>
          <p:nvPr/>
        </p:nvSpPr>
        <p:spPr>
          <a:xfrm>
            <a:off x="1854200" y="51181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b="1" dirty="0">
                <a:solidFill>
                  <a:srgbClr val="C8102E"/>
                </a:solidFill>
                <a:latin typeface="Poppins"/>
                <a:cs typeface="Poppins"/>
              </a:rPr>
              <a:t>175 profile visits  ·  +36% WoW</a:t>
            </a:r>
          </a:p>
        </p:txBody>
      </p:sp>
      <p:sp>
        <p:nvSpPr>
          <p:cNvPr id="21" name="Rectangle : coins arrondis 20">
            <a:extLst>
              <a:ext uri="{FF2B5EF4-FFF2-40B4-BE49-F238E27FC236}">
                <a16:creationId xmlns:a16="http://schemas.microsoft.com/office/drawing/2014/main" id="{E4E25FF9-9ED1-4ADF-81E2-156DB1032DE3}"/>
              </a:ext>
            </a:extLst>
          </p:cNvPr>
          <p:cNvSpPr/>
          <p:nvPr/>
        </p:nvSpPr>
        <p:spPr>
          <a:xfrm>
            <a:off x="838200" y="5638800"/>
            <a:ext cx="10515600" cy="863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2" name="Ellipse 21">
            <a:extLst>
              <a:ext uri="{FF2B5EF4-FFF2-40B4-BE49-F238E27FC236}">
                <a16:creationId xmlns:a16="http://schemas.microsoft.com/office/drawing/2014/main" id="{0F4B1B87-2655-4CCA-9AAC-19BE3CD15541}"/>
              </a:ext>
            </a:extLst>
          </p:cNvPr>
          <p:cNvSpPr/>
          <p:nvPr/>
        </p:nvSpPr>
        <p:spPr>
          <a:xfrm>
            <a:off x="1041400" y="5791200"/>
            <a:ext cx="558800" cy="558800"/>
          </a:xfrm>
          <a:prstGeom prst="ellipse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zh-TW" altLang="en-US" sz="2000" b="1" dirty="0">
                <a:solidFill>
                  <a:srgbClr val="7A0019"/>
                </a:solidFill>
                <a:latin typeface="Poppins"/>
                <a:cs typeface="Poppins"/>
              </a:rPr>
              <a:t>★</a:t>
            </a:r>
          </a:p>
        </p:txBody>
      </p:sp>
      <p:sp>
        <p:nvSpPr>
          <p:cNvPr id="23" name="ZoneTexte 22">
            <a:extLst>
              <a:ext uri="{FF2B5EF4-FFF2-40B4-BE49-F238E27FC236}">
                <a16:creationId xmlns:a16="http://schemas.microsoft.com/office/drawing/2014/main" id="{FB349C35-2BA5-4544-8884-6179FAD48AF1}"/>
              </a:ext>
            </a:extLst>
          </p:cNvPr>
          <p:cNvSpPr txBox="1"/>
          <p:nvPr/>
        </p:nvSpPr>
        <p:spPr>
          <a:xfrm>
            <a:off x="1854200" y="5753100"/>
            <a:ext cx="92964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00" b="1">
                <a:solidFill>
                  <a:srgbClr val="A8132B"/>
                </a:solidFill>
                <a:latin typeface="Poppins"/>
                <a:cs typeface="Poppins"/>
              </a:rPr>
              <a:t>Takeaway</a:t>
            </a:r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ADA856A6-88CB-4B99-A49E-87FCE6854459}"/>
              </a:ext>
            </a:extLst>
          </p:cNvPr>
          <p:cNvSpPr txBox="1"/>
          <p:nvPr/>
        </p:nvSpPr>
        <p:spPr>
          <a:xfrm>
            <a:off x="1854200" y="60579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 dirty="0">
                <a:solidFill>
                  <a:srgbClr val="3A3A44"/>
                </a:solidFill>
              </a:rPr>
              <a:t>Momentum is real — watch the post-holiday dip.</a:t>
            </a:r>
          </a:p>
        </p:txBody>
      </p:sp>
    </p:spTree>
    <p:extLst>
      <p:ext uri="{BB962C8B-B14F-4D97-AF65-F5344CB8AC3E}">
        <p14:creationId xmlns:p14="http://schemas.microsoft.com/office/powerpoint/2010/main" val="33954449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47C511-7E5B-6A4C-75D5-E3E2996BF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8300"/>
            <a:ext cx="10515600" cy="1320800"/>
          </a:xfrm>
        </p:spPr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KPI Scorecard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18E2FB19-5B08-4EC0-BFB1-849EE1EC9D21}"/>
              </a:ext>
            </a:extLst>
          </p:cNvPr>
          <p:cNvSpPr/>
          <p:nvPr/>
        </p:nvSpPr>
        <p:spPr>
          <a:xfrm>
            <a:off x="838200" y="190500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A4620643-1E2C-4499-8223-62D850E73262}"/>
              </a:ext>
            </a:extLst>
          </p:cNvPr>
          <p:cNvSpPr txBox="1"/>
          <p:nvPr/>
        </p:nvSpPr>
        <p:spPr>
          <a:xfrm>
            <a:off x="1066800" y="202692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Views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63AFD5F-6EB7-4E14-8E41-C8B7F1FCB6A5}"/>
              </a:ext>
            </a:extLst>
          </p:cNvPr>
          <p:cNvSpPr txBox="1"/>
          <p:nvPr/>
        </p:nvSpPr>
        <p:spPr>
          <a:xfrm>
            <a:off x="1066800" y="23114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3,063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6" name="Rectangle : coins arrondis 5">
            <a:extLst>
              <a:ext uri="{FF2B5EF4-FFF2-40B4-BE49-F238E27FC236}">
                <a16:creationId xmlns:a16="http://schemas.microsoft.com/office/drawing/2014/main" id="{99F25297-0409-4671-A292-6F8B08DCC10F}"/>
              </a:ext>
            </a:extLst>
          </p:cNvPr>
          <p:cNvSpPr/>
          <p:nvPr/>
        </p:nvSpPr>
        <p:spPr>
          <a:xfrm>
            <a:off x="2736850" y="233934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</a:rPr>
              <a:t>▲ </a:t>
            </a:r>
            <a:r>
              <a:rPr lang="en-US" altLang="zh-TW" sz="1400" b="1" dirty="0">
                <a:solidFill>
                  <a:srgbClr val="196B24"/>
                </a:solidFill>
              </a:rPr>
              <a:t>+50%</a:t>
            </a:r>
            <a:endParaRPr lang="zh-TW" altLang="en-US" sz="1400" b="1" dirty="0">
              <a:solidFill>
                <a:srgbClr val="196B24"/>
              </a:solidFill>
            </a:endParaRPr>
          </a:p>
        </p:txBody>
      </p:sp>
      <p:sp>
        <p:nvSpPr>
          <p:cNvPr id="7" name="Rectangle : coins arrondis 6">
            <a:extLst>
              <a:ext uri="{FF2B5EF4-FFF2-40B4-BE49-F238E27FC236}">
                <a16:creationId xmlns:a16="http://schemas.microsoft.com/office/drawing/2014/main" id="{F2240592-22B7-46E3-825A-47D351EDBE72}"/>
              </a:ext>
            </a:extLst>
          </p:cNvPr>
          <p:cNvSpPr/>
          <p:nvPr/>
        </p:nvSpPr>
        <p:spPr>
          <a:xfrm>
            <a:off x="4445000" y="190500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FB1776DE-380B-4FA5-805F-E93811DC04CE}"/>
              </a:ext>
            </a:extLst>
          </p:cNvPr>
          <p:cNvSpPr txBox="1"/>
          <p:nvPr/>
        </p:nvSpPr>
        <p:spPr>
          <a:xfrm>
            <a:off x="4673600" y="202692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New Followers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11160AAA-A214-416C-BC4F-01A8B32F2ED8}"/>
              </a:ext>
            </a:extLst>
          </p:cNvPr>
          <p:cNvSpPr txBox="1"/>
          <p:nvPr/>
        </p:nvSpPr>
        <p:spPr>
          <a:xfrm>
            <a:off x="4673600" y="23114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C8102E"/>
                </a:solidFill>
                <a:latin typeface="Poppins"/>
                <a:cs typeface="Poppins"/>
              </a:rPr>
              <a:t>47</a:t>
            </a:r>
            <a:endParaRPr lang="zh-TW" altLang="en-US" sz="2800" b="1">
              <a:solidFill>
                <a:srgbClr val="C8102E"/>
              </a:solidFill>
              <a:latin typeface="Poppins"/>
              <a:cs typeface="Poppins"/>
            </a:endParaRPr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ED8D2222-C682-4609-B4D0-D3B144554039}"/>
              </a:ext>
            </a:extLst>
          </p:cNvPr>
          <p:cNvSpPr/>
          <p:nvPr/>
        </p:nvSpPr>
        <p:spPr>
          <a:xfrm>
            <a:off x="6343650" y="233934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</a:t>
            </a:r>
            <a:r>
              <a:rPr lang="en-US" altLang="zh-TW" sz="1400" b="1">
                <a:solidFill>
                  <a:srgbClr val="196B24"/>
                </a:solidFill>
              </a:rPr>
              <a:t>+147%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ACE850E8-FA82-41FD-BBB7-AD0A022E78BC}"/>
              </a:ext>
            </a:extLst>
          </p:cNvPr>
          <p:cNvSpPr/>
          <p:nvPr/>
        </p:nvSpPr>
        <p:spPr>
          <a:xfrm>
            <a:off x="8051800" y="190500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3C7A5BB4-9625-4061-BB6A-AC8D10E694F1}"/>
              </a:ext>
            </a:extLst>
          </p:cNvPr>
          <p:cNvSpPr txBox="1"/>
          <p:nvPr/>
        </p:nvSpPr>
        <p:spPr>
          <a:xfrm>
            <a:off x="8280400" y="202692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Engagement Rate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CF420857-7F91-499F-8393-DF7CB454B014}"/>
              </a:ext>
            </a:extLst>
          </p:cNvPr>
          <p:cNvSpPr txBox="1"/>
          <p:nvPr/>
        </p:nvSpPr>
        <p:spPr>
          <a:xfrm>
            <a:off x="8280400" y="231140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5.5%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4" name="Rectangle : coins arrondis 13">
            <a:extLst>
              <a:ext uri="{FF2B5EF4-FFF2-40B4-BE49-F238E27FC236}">
                <a16:creationId xmlns:a16="http://schemas.microsoft.com/office/drawing/2014/main" id="{19A35F48-672F-4B64-8B9B-BB91077E0F89}"/>
              </a:ext>
            </a:extLst>
          </p:cNvPr>
          <p:cNvSpPr/>
          <p:nvPr/>
        </p:nvSpPr>
        <p:spPr>
          <a:xfrm>
            <a:off x="9950450" y="2339340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400" b="1">
                <a:solidFill>
                  <a:srgbClr val="196B24"/>
                </a:solidFill>
              </a:rPr>
              <a:t>▲ +0.4pp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3B86BA3-CB8E-4905-9C08-FBB74272628A}"/>
              </a:ext>
            </a:extLst>
          </p:cNvPr>
          <p:cNvSpPr/>
          <p:nvPr/>
        </p:nvSpPr>
        <p:spPr>
          <a:xfrm>
            <a:off x="838200" y="313944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AD930C86-A9F3-4345-8C8B-7803D151B817}"/>
              </a:ext>
            </a:extLst>
          </p:cNvPr>
          <p:cNvSpPr txBox="1"/>
          <p:nvPr/>
        </p:nvSpPr>
        <p:spPr>
          <a:xfrm>
            <a:off x="1066800" y="326136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Saves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42221BB9-59F2-479C-AE30-E549A72905BE}"/>
              </a:ext>
            </a:extLst>
          </p:cNvPr>
          <p:cNvSpPr txBox="1"/>
          <p:nvPr/>
        </p:nvSpPr>
        <p:spPr>
          <a:xfrm>
            <a:off x="1066800" y="354584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>
                <a:solidFill>
                  <a:srgbClr val="1A1A2E"/>
                </a:solidFill>
                <a:latin typeface="Poppins"/>
                <a:cs typeface="Poppins"/>
              </a:rPr>
              <a:t>40</a:t>
            </a:r>
            <a:endParaRPr lang="zh-TW" altLang="en-US" sz="28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D160988F-ED28-4C2E-BE6C-45515D97314F}"/>
              </a:ext>
            </a:extLst>
          </p:cNvPr>
          <p:cNvSpPr/>
          <p:nvPr/>
        </p:nvSpPr>
        <p:spPr>
          <a:xfrm>
            <a:off x="2736850" y="3573779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</a:t>
            </a:r>
            <a:r>
              <a:rPr lang="en-US" altLang="zh-TW" sz="1400" b="1">
                <a:solidFill>
                  <a:srgbClr val="196B24"/>
                </a:solidFill>
              </a:rPr>
              <a:t>+67%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19" name="Rectangle : coins arrondis 18">
            <a:extLst>
              <a:ext uri="{FF2B5EF4-FFF2-40B4-BE49-F238E27FC236}">
                <a16:creationId xmlns:a16="http://schemas.microsoft.com/office/drawing/2014/main" id="{89C893AA-9C06-4E22-B806-CD2E68D9CF49}"/>
              </a:ext>
            </a:extLst>
          </p:cNvPr>
          <p:cNvSpPr/>
          <p:nvPr/>
        </p:nvSpPr>
        <p:spPr>
          <a:xfrm>
            <a:off x="4445000" y="313944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ZoneTexte 19">
            <a:extLst>
              <a:ext uri="{FF2B5EF4-FFF2-40B4-BE49-F238E27FC236}">
                <a16:creationId xmlns:a16="http://schemas.microsoft.com/office/drawing/2014/main" id="{502DD2D9-7607-4216-9CD8-D3D958F37E08}"/>
              </a:ext>
            </a:extLst>
          </p:cNvPr>
          <p:cNvSpPr txBox="1"/>
          <p:nvPr/>
        </p:nvSpPr>
        <p:spPr>
          <a:xfrm>
            <a:off x="4673600" y="326136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Comments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A2DC342-82C4-4E81-A841-AFBA0356D0F3}"/>
              </a:ext>
            </a:extLst>
          </p:cNvPr>
          <p:cNvSpPr txBox="1"/>
          <p:nvPr/>
        </p:nvSpPr>
        <p:spPr>
          <a:xfrm>
            <a:off x="4673600" y="354584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14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Rectangle : coins arrondis 21">
            <a:extLst>
              <a:ext uri="{FF2B5EF4-FFF2-40B4-BE49-F238E27FC236}">
                <a16:creationId xmlns:a16="http://schemas.microsoft.com/office/drawing/2014/main" id="{5E53546A-34CC-4D11-9A5C-22AC7229792F}"/>
              </a:ext>
            </a:extLst>
          </p:cNvPr>
          <p:cNvSpPr/>
          <p:nvPr/>
        </p:nvSpPr>
        <p:spPr>
          <a:xfrm>
            <a:off x="6343650" y="3573779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 dirty="0">
                <a:solidFill>
                  <a:srgbClr val="196B24"/>
                </a:solidFill>
              </a:rPr>
              <a:t>▲ </a:t>
            </a:r>
            <a:r>
              <a:rPr lang="en-US" altLang="zh-TW" sz="1400" b="1" dirty="0">
                <a:solidFill>
                  <a:srgbClr val="196B24"/>
                </a:solidFill>
              </a:rPr>
              <a:t>+75%</a:t>
            </a:r>
            <a:endParaRPr lang="zh-TW" altLang="en-US" sz="1400" b="1" dirty="0">
              <a:solidFill>
                <a:srgbClr val="196B24"/>
              </a:solidFill>
            </a:endParaRPr>
          </a:p>
        </p:txBody>
      </p:sp>
      <p:sp>
        <p:nvSpPr>
          <p:cNvPr id="23" name="Rectangle : coins arrondis 22">
            <a:extLst>
              <a:ext uri="{FF2B5EF4-FFF2-40B4-BE49-F238E27FC236}">
                <a16:creationId xmlns:a16="http://schemas.microsoft.com/office/drawing/2014/main" id="{251E108D-C3D2-4C76-B9B7-13860BB6F439}"/>
              </a:ext>
            </a:extLst>
          </p:cNvPr>
          <p:cNvSpPr/>
          <p:nvPr/>
        </p:nvSpPr>
        <p:spPr>
          <a:xfrm>
            <a:off x="8051800" y="3139440"/>
            <a:ext cx="3302000" cy="103124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EC884E1A-9387-42FC-B5C3-128A13D8B10B}"/>
              </a:ext>
            </a:extLst>
          </p:cNvPr>
          <p:cNvSpPr txBox="1"/>
          <p:nvPr/>
        </p:nvSpPr>
        <p:spPr>
          <a:xfrm>
            <a:off x="8280400" y="3261360"/>
            <a:ext cx="2844800" cy="3556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Watch Time</a:t>
            </a:r>
            <a:endParaRPr lang="zh-TW" altLang="en-US" sz="1600" b="1">
              <a:solidFill>
                <a:srgbClr val="6B7280"/>
              </a:solidFill>
              <a:latin typeface="Calibri"/>
              <a:cs typeface="Calibri"/>
            </a:endParaRPr>
          </a:p>
        </p:txBody>
      </p:sp>
      <p:sp>
        <p:nvSpPr>
          <p:cNvPr id="25" name="ZoneTexte 24">
            <a:extLst>
              <a:ext uri="{FF2B5EF4-FFF2-40B4-BE49-F238E27FC236}">
                <a16:creationId xmlns:a16="http://schemas.microsoft.com/office/drawing/2014/main" id="{30912550-550C-48BB-83EB-B41D730E6897}"/>
              </a:ext>
            </a:extLst>
          </p:cNvPr>
          <p:cNvSpPr txBox="1"/>
          <p:nvPr/>
        </p:nvSpPr>
        <p:spPr>
          <a:xfrm>
            <a:off x="8280400" y="3545840"/>
            <a:ext cx="28448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2800" b="1" dirty="0">
                <a:solidFill>
                  <a:srgbClr val="1A1A2E"/>
                </a:solidFill>
                <a:latin typeface="Poppins"/>
                <a:cs typeface="Poppins"/>
              </a:rPr>
              <a:t>22 </a:t>
            </a:r>
            <a:r>
              <a:rPr lang="fr-FR" altLang="zh-TW" sz="2800" b="1" dirty="0" err="1">
                <a:solidFill>
                  <a:srgbClr val="1A1A2E"/>
                </a:solidFill>
                <a:latin typeface="Poppins"/>
                <a:cs typeface="Poppins"/>
              </a:rPr>
              <a:t>hrs</a:t>
            </a:r>
            <a:endParaRPr lang="zh-TW" altLang="en-US" sz="28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6" name="Rectangle : coins arrondis 25">
            <a:extLst>
              <a:ext uri="{FF2B5EF4-FFF2-40B4-BE49-F238E27FC236}">
                <a16:creationId xmlns:a16="http://schemas.microsoft.com/office/drawing/2014/main" id="{3DDC2291-CFBD-4B16-BF66-B9698FF550C7}"/>
              </a:ext>
            </a:extLst>
          </p:cNvPr>
          <p:cNvSpPr/>
          <p:nvPr/>
        </p:nvSpPr>
        <p:spPr>
          <a:xfrm>
            <a:off x="9950450" y="3573779"/>
            <a:ext cx="1219200" cy="3810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zh-TW" altLang="en-US" sz="1400" b="1">
                <a:solidFill>
                  <a:srgbClr val="196B24"/>
                </a:solidFill>
              </a:rPr>
              <a:t>▲ </a:t>
            </a:r>
            <a:r>
              <a:rPr lang="en-US" altLang="zh-TW" sz="1400" b="1">
                <a:solidFill>
                  <a:srgbClr val="196B24"/>
                </a:solidFill>
              </a:rPr>
              <a:t>+46%</a:t>
            </a:r>
            <a:endParaRPr lang="zh-TW" altLang="en-US" sz="1400" b="1">
              <a:solidFill>
                <a:srgbClr val="196B24"/>
              </a:solidFill>
            </a:endParaRP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F4ED926-B44C-49FF-998E-C2F47D881308}"/>
              </a:ext>
            </a:extLst>
          </p:cNvPr>
          <p:cNvSpPr txBox="1"/>
          <p:nvPr/>
        </p:nvSpPr>
        <p:spPr>
          <a:xfrm>
            <a:off x="838200" y="65024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400" i="1" dirty="0">
                <a:solidFill>
                  <a:srgbClr val="6B7280"/>
                </a:solidFill>
              </a:rPr>
              <a:t>Week of Jan 27 – </a:t>
            </a:r>
            <a:r>
              <a:rPr lang="fr-FR" altLang="zh-TW" sz="1400" i="1" dirty="0" err="1">
                <a:solidFill>
                  <a:srgbClr val="6B7280"/>
                </a:solidFill>
              </a:rPr>
              <a:t>Feb</a:t>
            </a:r>
            <a:r>
              <a:rPr lang="fr-FR" altLang="zh-TW" sz="1400" i="1" dirty="0">
                <a:solidFill>
                  <a:srgbClr val="6B7280"/>
                </a:solidFill>
              </a:rPr>
              <a:t> 2, 2025 vs Jan 20 – 26, 2025</a:t>
            </a:r>
            <a:endParaRPr lang="zh-TW" altLang="en-US" sz="1400" i="1" dirty="0">
              <a:solidFill>
                <a:srgbClr val="6B7280"/>
              </a:solidFill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17457A9F-DFE5-43B3-B977-78C1426D24C8}"/>
              </a:ext>
            </a:extLst>
          </p:cNvPr>
          <p:cNvSpPr/>
          <p:nvPr/>
        </p:nvSpPr>
        <p:spPr>
          <a:xfrm>
            <a:off x="838200" y="190500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08597592-1691-4BE8-AEA5-2D61E844A16A}"/>
              </a:ext>
            </a:extLst>
          </p:cNvPr>
          <p:cNvSpPr/>
          <p:nvPr/>
        </p:nvSpPr>
        <p:spPr>
          <a:xfrm>
            <a:off x="4445000" y="190500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87B87B2-C084-4658-A623-41D2EDDEA355}"/>
              </a:ext>
            </a:extLst>
          </p:cNvPr>
          <p:cNvSpPr/>
          <p:nvPr/>
        </p:nvSpPr>
        <p:spPr>
          <a:xfrm>
            <a:off x="8051800" y="190500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D049422B-8A96-4E2C-98FE-59DF39F7400F}"/>
              </a:ext>
            </a:extLst>
          </p:cNvPr>
          <p:cNvSpPr/>
          <p:nvPr/>
        </p:nvSpPr>
        <p:spPr>
          <a:xfrm>
            <a:off x="838200" y="313944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AB8C831-5C81-422C-9AF9-13FFDF5CC3B3}"/>
              </a:ext>
            </a:extLst>
          </p:cNvPr>
          <p:cNvSpPr/>
          <p:nvPr/>
        </p:nvSpPr>
        <p:spPr>
          <a:xfrm>
            <a:off x="4445000" y="313944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A5049B33-2CEC-4A4C-B62A-0FDF9A7E653F}"/>
              </a:ext>
            </a:extLst>
          </p:cNvPr>
          <p:cNvSpPr/>
          <p:nvPr/>
        </p:nvSpPr>
        <p:spPr>
          <a:xfrm>
            <a:off x="8051800" y="3139440"/>
            <a:ext cx="3302000" cy="762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graphicFrame>
        <p:nvGraphicFramePr>
          <p:cNvPr id="201" name="Daily Trend Chart"/>
          <p:cNvGraphicFramePr/>
          <p:nvPr>
            <p:extLst>
              <p:ext uri="{D42A27DB-BD31-4B8C-83A1-F6EECF244321}">
                <p14:modId xmlns:p14="http://schemas.microsoft.com/office/powerpoint/2010/main" val="3654495304"/>
              </p:ext>
            </p:extLst>
          </p:nvPr>
        </p:nvGraphicFramePr>
        <p:xfrm>
          <a:off x="838200" y="4241800"/>
          <a:ext cx="10515600" cy="2235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4054162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CAE69CA-1360-DFB5-41D5-2FBA072827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Content Highlights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B510C82A-4602-5EC7-A8C8-48E9A13AC7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9000" y="1937026"/>
            <a:ext cx="2387600" cy="3175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4696848E-EE7C-52A9-946D-353DB91F08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2200" y="1937026"/>
            <a:ext cx="2387600" cy="3175000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06B14EDE-1E9E-9941-19E9-CE62881DDB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15400" y="1937026"/>
            <a:ext cx="2387600" cy="3175000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BFC17A4-CF94-44CE-A321-4F3679CEFD52}"/>
              </a:ext>
            </a:extLst>
          </p:cNvPr>
          <p:cNvSpPr/>
          <p:nvPr/>
        </p:nvSpPr>
        <p:spPr>
          <a:xfrm>
            <a:off x="889000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13361FC-C2B2-4F13-B5D8-AB5BD7BAD89D}"/>
              </a:ext>
            </a:extLst>
          </p:cNvPr>
          <p:cNvSpPr txBox="1"/>
          <p:nvPr/>
        </p:nvSpPr>
        <p:spPr>
          <a:xfrm>
            <a:off x="889000" y="5314950"/>
            <a:ext cx="2794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 dirty="0">
                <a:solidFill>
                  <a:srgbClr val="1A1A2E"/>
                </a:solidFill>
                <a:latin typeface="Poppins"/>
                <a:cs typeface="Poppins"/>
              </a:rPr>
              <a:t>Lunar New </a:t>
            </a:r>
            <a:r>
              <a:rPr lang="fr-FR" altLang="zh-TW" sz="1600" b="1" dirty="0" err="1">
                <a:solidFill>
                  <a:srgbClr val="1A1A2E"/>
                </a:solidFill>
                <a:latin typeface="Poppins"/>
                <a:cs typeface="Poppins"/>
              </a:rPr>
              <a:t>Year</a:t>
            </a:r>
            <a:r>
              <a:rPr lang="fr-FR" altLang="zh-TW" sz="1600" b="1" dirty="0">
                <a:solidFill>
                  <a:srgbClr val="1A1A2E"/>
                </a:solidFill>
                <a:latin typeface="Poppins"/>
                <a:cs typeface="Poppins"/>
              </a:rPr>
              <a:t> Zodiac</a:t>
            </a:r>
            <a:endParaRPr lang="zh-TW" altLang="en-US" sz="16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6665CF66-E978-40A7-871F-0A13CF4B81AA}"/>
              </a:ext>
            </a:extLst>
          </p:cNvPr>
          <p:cNvSpPr txBox="1"/>
          <p:nvPr/>
        </p:nvSpPr>
        <p:spPr>
          <a:xfrm>
            <a:off x="889000" y="5664200"/>
            <a:ext cx="2794000" cy="307777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Fortune rankings + lucky colors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CB0A78B-B49D-4449-9C4C-3E95DB16B6C5}"/>
              </a:ext>
            </a:extLst>
          </p:cNvPr>
          <p:cNvSpPr/>
          <p:nvPr/>
        </p:nvSpPr>
        <p:spPr>
          <a:xfrm>
            <a:off x="4902200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CEBBC2C6-D917-49BE-8A50-C9A1E46EC8ED}"/>
              </a:ext>
            </a:extLst>
          </p:cNvPr>
          <p:cNvSpPr txBox="1"/>
          <p:nvPr/>
        </p:nvSpPr>
        <p:spPr>
          <a:xfrm>
            <a:off x="4902200" y="5314950"/>
            <a:ext cx="2794000" cy="6604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>
                <a:solidFill>
                  <a:srgbClr val="1A1A2E"/>
                </a:solidFill>
                <a:latin typeface="Poppins"/>
                <a:cs typeface="Poppins"/>
              </a:rPr>
              <a:t>Bilingual News</a:t>
            </a:r>
            <a:endParaRPr lang="zh-TW" altLang="en-US" sz="160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49637533-9A1F-41B6-80CA-E4005D4896D8}"/>
              </a:ext>
            </a:extLst>
          </p:cNvPr>
          <p:cNvSpPr txBox="1"/>
          <p:nvPr/>
        </p:nvSpPr>
        <p:spPr>
          <a:xfrm>
            <a:off x="4902200" y="5664200"/>
            <a:ext cx="2794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Daily news that doubles as study material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76CFDEC-B9C8-4132-856A-DBB9C679F962}"/>
              </a:ext>
            </a:extLst>
          </p:cNvPr>
          <p:cNvSpPr/>
          <p:nvPr/>
        </p:nvSpPr>
        <p:spPr>
          <a:xfrm>
            <a:off x="8915400" y="5213626"/>
            <a:ext cx="2387600" cy="508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535A5ED1-DBE3-4460-913E-A12054766F09}"/>
              </a:ext>
            </a:extLst>
          </p:cNvPr>
          <p:cNvSpPr txBox="1"/>
          <p:nvPr/>
        </p:nvSpPr>
        <p:spPr>
          <a:xfrm>
            <a:off x="8915400" y="5314950"/>
            <a:ext cx="2794000" cy="338554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00" b="1" dirty="0">
                <a:solidFill>
                  <a:srgbClr val="1A1A2E"/>
                </a:solidFill>
                <a:latin typeface="Poppins"/>
                <a:cs typeface="Poppins"/>
              </a:rPr>
              <a:t>Festival Word Games</a:t>
            </a:r>
            <a:endParaRPr lang="zh-TW" altLang="en-US" sz="1600" b="1" dirty="0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19AE520-5462-446E-AEF7-4865080F59A0}"/>
              </a:ext>
            </a:extLst>
          </p:cNvPr>
          <p:cNvSpPr/>
          <p:nvPr/>
        </p:nvSpPr>
        <p:spPr>
          <a:xfrm>
            <a:off x="838200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85DBFBD0-2738-466A-9886-043C0E89196B}"/>
              </a:ext>
            </a:extLst>
          </p:cNvPr>
          <p:cNvSpPr txBox="1"/>
          <p:nvPr/>
        </p:nvSpPr>
        <p:spPr>
          <a:xfrm>
            <a:off x="8915400" y="5664200"/>
            <a:ext cx="27940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 dirty="0">
                <a:solidFill>
                  <a:srgbClr val="2B2D42"/>
                </a:solidFill>
              </a:rPr>
              <a:t>Bilingual riddles for the Lantern Festival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8846B61-63D3-435B-9C23-963B13265FDF}"/>
              </a:ext>
            </a:extLst>
          </p:cNvPr>
          <p:cNvSpPr/>
          <p:nvPr/>
        </p:nvSpPr>
        <p:spPr>
          <a:xfrm>
            <a:off x="4851400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D1AE3124-FAB4-4D03-9469-403C638DA1A3}"/>
              </a:ext>
            </a:extLst>
          </p:cNvPr>
          <p:cNvSpPr/>
          <p:nvPr/>
        </p:nvSpPr>
        <p:spPr>
          <a:xfrm>
            <a:off x="8864600" y="1886226"/>
            <a:ext cx="2489200" cy="3276600"/>
          </a:xfrm>
          <a:prstGeom prst="rect">
            <a:avLst/>
          </a:prstGeom>
          <a:noFill/>
          <a:ln w="38100" cap="flat" cmpd="sng" algn="ctr">
            <a:solidFill>
              <a:srgbClr val="F4C430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56127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5B1EE8E-5EA8-75CA-BF44-31EF69AD8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What Drove the Week</a:t>
            </a:r>
          </a:p>
        </p:txBody>
      </p:sp>
      <p:sp>
        <p:nvSpPr>
          <p:cNvPr id="3" name="Rectangle : coins arrondis 2">
            <a:extLst>
              <a:ext uri="{FF2B5EF4-FFF2-40B4-BE49-F238E27FC236}">
                <a16:creationId xmlns:a16="http://schemas.microsoft.com/office/drawing/2014/main" id="{43294660-46E7-4FF0-BF4B-0E5F4A5D71F9}"/>
              </a:ext>
            </a:extLst>
          </p:cNvPr>
          <p:cNvSpPr/>
          <p:nvPr/>
        </p:nvSpPr>
        <p:spPr>
          <a:xfrm>
            <a:off x="8382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FACDEAD-E3FF-4BB5-800D-3FDE834E269D}"/>
              </a:ext>
            </a:extLst>
          </p:cNvPr>
          <p:cNvSpPr/>
          <p:nvPr/>
        </p:nvSpPr>
        <p:spPr>
          <a:xfrm>
            <a:off x="838200" y="2082800"/>
            <a:ext cx="76200" cy="1549400"/>
          </a:xfrm>
          <a:prstGeom prst="rect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Rectangle : coins arrondis 4">
            <a:extLst>
              <a:ext uri="{FF2B5EF4-FFF2-40B4-BE49-F238E27FC236}">
                <a16:creationId xmlns:a16="http://schemas.microsoft.com/office/drawing/2014/main" id="{9CB82E14-6CC4-43F7-BC11-F4B9B0998E40}"/>
              </a:ext>
            </a:extLst>
          </p:cNvPr>
          <p:cNvSpPr/>
          <p:nvPr/>
        </p:nvSpPr>
        <p:spPr>
          <a:xfrm>
            <a:off x="46482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WORKED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8FA9A761-AF84-409F-BF4F-96766B6442F4}"/>
              </a:ext>
            </a:extLst>
          </p:cNvPr>
          <p:cNvSpPr txBox="1"/>
          <p:nvPr/>
        </p:nvSpPr>
        <p:spPr>
          <a:xfrm>
            <a:off x="11430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Cultural timing won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B079B5B9-5F2B-422B-AC64-8D341AD65A98}"/>
              </a:ext>
            </a:extLst>
          </p:cNvPr>
          <p:cNvSpPr txBox="1"/>
          <p:nvPr/>
        </p:nvSpPr>
        <p:spPr>
          <a:xfrm>
            <a:off x="1143000" y="251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Posting the Zodiac content on the actual CNY dates put us in front of a surging, intent-driven audience.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C772483-E4EB-4D1A-8368-229E30B1D59E}"/>
              </a:ext>
            </a:extLst>
          </p:cNvPr>
          <p:cNvSpPr/>
          <p:nvPr/>
        </p:nvSpPr>
        <p:spPr>
          <a:xfrm>
            <a:off x="6273800" y="19050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E3A54E-0B28-4466-AE9A-ACF41BFCCAC5}"/>
              </a:ext>
            </a:extLst>
          </p:cNvPr>
          <p:cNvSpPr/>
          <p:nvPr/>
        </p:nvSpPr>
        <p:spPr>
          <a:xfrm>
            <a:off x="6273800" y="2082800"/>
            <a:ext cx="76200" cy="1549400"/>
          </a:xfrm>
          <a:prstGeom prst="rect">
            <a:avLst/>
          </a:prstGeom>
          <a:solidFill>
            <a:srgbClr val="F4A30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0" name="Rectangle : coins arrondis 9">
            <a:extLst>
              <a:ext uri="{FF2B5EF4-FFF2-40B4-BE49-F238E27FC236}">
                <a16:creationId xmlns:a16="http://schemas.microsoft.com/office/drawing/2014/main" id="{5E514AE4-8E1B-4E88-ABEC-8210677EAB15}"/>
              </a:ext>
            </a:extLst>
          </p:cNvPr>
          <p:cNvSpPr/>
          <p:nvPr/>
        </p:nvSpPr>
        <p:spPr>
          <a:xfrm>
            <a:off x="10083800" y="20828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WORKED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B9AAFE91-4755-416B-A767-BCD219DE739B}"/>
              </a:ext>
            </a:extLst>
          </p:cNvPr>
          <p:cNvSpPr txBox="1"/>
          <p:nvPr/>
        </p:nvSpPr>
        <p:spPr>
          <a:xfrm>
            <a:off x="6578600" y="20828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Saves outpaced likes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645189C8-050B-438D-801C-5A556271C93F}"/>
              </a:ext>
            </a:extLst>
          </p:cNvPr>
          <p:cNvSpPr txBox="1"/>
          <p:nvPr/>
        </p:nvSpPr>
        <p:spPr>
          <a:xfrm>
            <a:off x="6578600" y="25146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40 saves (+67%) means viewers bookmarked posts as study references — high-value, repeat-view behavior.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1F014CE7-B377-4D38-B59E-B6808BB868A0}"/>
              </a:ext>
            </a:extLst>
          </p:cNvPr>
          <p:cNvSpPr/>
          <p:nvPr/>
        </p:nvSpPr>
        <p:spPr>
          <a:xfrm>
            <a:off x="8382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FBEBA7F-0412-4355-BD67-27D8DD39F378}"/>
              </a:ext>
            </a:extLst>
          </p:cNvPr>
          <p:cNvSpPr/>
          <p:nvPr/>
        </p:nvSpPr>
        <p:spPr>
          <a:xfrm>
            <a:off x="838200" y="4292600"/>
            <a:ext cx="76200" cy="1549400"/>
          </a:xfrm>
          <a:prstGeom prst="rect">
            <a:avLst/>
          </a:prstGeom>
          <a:solidFill>
            <a:srgbClr val="3A7D8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5" name="Rectangle : coins arrondis 14">
            <a:extLst>
              <a:ext uri="{FF2B5EF4-FFF2-40B4-BE49-F238E27FC236}">
                <a16:creationId xmlns:a16="http://schemas.microsoft.com/office/drawing/2014/main" id="{F54F0823-1284-4E42-9BED-F0E950EA261A}"/>
              </a:ext>
            </a:extLst>
          </p:cNvPr>
          <p:cNvSpPr/>
          <p:nvPr/>
        </p:nvSpPr>
        <p:spPr>
          <a:xfrm>
            <a:off x="4648200" y="4292600"/>
            <a:ext cx="1066800" cy="304800"/>
          </a:xfrm>
          <a:prstGeom prst="roundRect">
            <a:avLst/>
          </a:prstGeom>
          <a:solidFill>
            <a:srgbClr val="E8F5E9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196B24"/>
                </a:solidFill>
              </a:rPr>
              <a:t>WORKED</a:t>
            </a:r>
            <a:endParaRPr lang="zh-TW" altLang="en-US" sz="1200" b="1">
              <a:solidFill>
                <a:srgbClr val="196B24"/>
              </a:solidFill>
            </a:endParaRPr>
          </a:p>
        </p:txBody>
      </p:sp>
      <p:sp>
        <p:nvSpPr>
          <p:cNvPr id="16" name="ZoneTexte 15">
            <a:extLst>
              <a:ext uri="{FF2B5EF4-FFF2-40B4-BE49-F238E27FC236}">
                <a16:creationId xmlns:a16="http://schemas.microsoft.com/office/drawing/2014/main" id="{E33362FF-9692-467C-BCDE-B12620F9C234}"/>
              </a:ext>
            </a:extLst>
          </p:cNvPr>
          <p:cNvSpPr txBox="1"/>
          <p:nvPr/>
        </p:nvSpPr>
        <p:spPr>
          <a:xfrm>
            <a:off x="11430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Followers compounded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7" name="ZoneTexte 16">
            <a:extLst>
              <a:ext uri="{FF2B5EF4-FFF2-40B4-BE49-F238E27FC236}">
                <a16:creationId xmlns:a16="http://schemas.microsoft.com/office/drawing/2014/main" id="{CAC9B10B-3E23-4F88-AC21-20684F115ACC}"/>
              </a:ext>
            </a:extLst>
          </p:cNvPr>
          <p:cNvSpPr txBox="1"/>
          <p:nvPr/>
        </p:nvSpPr>
        <p:spPr>
          <a:xfrm>
            <a:off x="1143000" y="47244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+47 new followers (+147%): the holiday series converted browsers into subscribers.</a:t>
            </a:r>
            <a:endParaRPr lang="zh-TW" altLang="en-US" sz="1400">
              <a:solidFill>
                <a:srgbClr val="2B2D42"/>
              </a:solidFill>
            </a:endParaRPr>
          </a:p>
        </p:txBody>
      </p:sp>
      <p:sp>
        <p:nvSpPr>
          <p:cNvPr id="18" name="Rectangle : coins arrondis 17">
            <a:extLst>
              <a:ext uri="{FF2B5EF4-FFF2-40B4-BE49-F238E27FC236}">
                <a16:creationId xmlns:a16="http://schemas.microsoft.com/office/drawing/2014/main" id="{8FA23EED-00DE-427F-9418-810C93DDD6D4}"/>
              </a:ext>
            </a:extLst>
          </p:cNvPr>
          <p:cNvSpPr/>
          <p:nvPr/>
        </p:nvSpPr>
        <p:spPr>
          <a:xfrm>
            <a:off x="6273800" y="4114800"/>
            <a:ext cx="5080000" cy="19050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8E0D5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9CD6698F-A4BF-4643-AACD-FECD8FB67D91}"/>
              </a:ext>
            </a:extLst>
          </p:cNvPr>
          <p:cNvSpPr/>
          <p:nvPr/>
        </p:nvSpPr>
        <p:spPr>
          <a:xfrm>
            <a:off x="6273800" y="4292600"/>
            <a:ext cx="76200" cy="1549400"/>
          </a:xfrm>
          <a:prstGeom prst="rect">
            <a:avLst/>
          </a:prstGeom>
          <a:solidFill>
            <a:srgbClr val="6B728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20" name="Rectangle : coins arrondis 19">
            <a:extLst>
              <a:ext uri="{FF2B5EF4-FFF2-40B4-BE49-F238E27FC236}">
                <a16:creationId xmlns:a16="http://schemas.microsoft.com/office/drawing/2014/main" id="{96F207F0-7525-4DF8-BBA2-3528399A1702}"/>
              </a:ext>
            </a:extLst>
          </p:cNvPr>
          <p:cNvSpPr/>
          <p:nvPr/>
        </p:nvSpPr>
        <p:spPr>
          <a:xfrm>
            <a:off x="10083800" y="4292600"/>
            <a:ext cx="1066800" cy="304800"/>
          </a:xfrm>
          <a:prstGeom prst="roundRect">
            <a:avLst/>
          </a:prstGeom>
          <a:solidFill>
            <a:srgbClr val="FBE9C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l"/>
            <a:r>
              <a:rPr lang="fr-FR" altLang="zh-TW" sz="1200" b="1">
                <a:solidFill>
                  <a:srgbClr val="8A5A00"/>
                </a:solidFill>
              </a:rPr>
              <a:t>WATCH</a:t>
            </a:r>
            <a:endParaRPr lang="zh-TW" altLang="en-US" sz="1200" b="1">
              <a:solidFill>
                <a:srgbClr val="8A5A00"/>
              </a:solidFill>
            </a:endParaRPr>
          </a:p>
        </p:txBody>
      </p:sp>
      <p:sp>
        <p:nvSpPr>
          <p:cNvPr id="21" name="ZoneTexte 20">
            <a:extLst>
              <a:ext uri="{FF2B5EF4-FFF2-40B4-BE49-F238E27FC236}">
                <a16:creationId xmlns:a16="http://schemas.microsoft.com/office/drawing/2014/main" id="{88DAE924-AFA7-4A0F-BE20-4FA579C2EED4}"/>
              </a:ext>
            </a:extLst>
          </p:cNvPr>
          <p:cNvSpPr txBox="1"/>
          <p:nvPr/>
        </p:nvSpPr>
        <p:spPr>
          <a:xfrm>
            <a:off x="6578600" y="4292600"/>
            <a:ext cx="3429000" cy="381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b="1">
                <a:solidFill>
                  <a:srgbClr val="1A1A2E"/>
                </a:solidFill>
                <a:latin typeface="Poppins"/>
                <a:cs typeface="Poppins"/>
              </a:rPr>
              <a:t>Watch the post-holiday dip</a:t>
            </a:r>
            <a:endParaRPr lang="zh-TW" altLang="en-US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22" name="ZoneTexte 21">
            <a:extLst>
              <a:ext uri="{FF2B5EF4-FFF2-40B4-BE49-F238E27FC236}">
                <a16:creationId xmlns:a16="http://schemas.microsoft.com/office/drawing/2014/main" id="{8C52A10A-64FE-4284-B040-902F62266209}"/>
              </a:ext>
            </a:extLst>
          </p:cNvPr>
          <p:cNvSpPr txBox="1"/>
          <p:nvPr/>
        </p:nvSpPr>
        <p:spPr>
          <a:xfrm>
            <a:off x="6578600" y="4724400"/>
            <a:ext cx="4521200" cy="52322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400">
                <a:solidFill>
                  <a:srgbClr val="2B2D42"/>
                </a:solidFill>
              </a:rPr>
              <a:t>Sunday (Feb 2) views fell to 210 as the holiday wound down. Expect normalization next week without a new hook.</a:t>
            </a:r>
            <a:endParaRPr lang="zh-TW" altLang="en-US" sz="1400">
              <a:solidFill>
                <a:srgbClr val="2B2D4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27188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29F294C-6AE3-1367-DD15-A082DDC1AB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Recommendations</a:t>
            </a:r>
          </a:p>
        </p:txBody>
      </p:sp>
      <p:sp>
        <p:nvSpPr>
          <p:cNvPr id="4" name="Rectangle : coins arrondis 3">
            <a:extLst>
              <a:ext uri="{FF2B5EF4-FFF2-40B4-BE49-F238E27FC236}">
                <a16:creationId xmlns:a16="http://schemas.microsoft.com/office/drawing/2014/main" id="{C5BAA9C5-06BF-412A-8590-5333B298BEE7}"/>
              </a:ext>
            </a:extLst>
          </p:cNvPr>
          <p:cNvSpPr/>
          <p:nvPr/>
        </p:nvSpPr>
        <p:spPr>
          <a:xfrm>
            <a:off x="838200" y="2006600"/>
            <a:ext cx="105156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02C96E92-F959-46CF-AABE-0E41F5E763BD}"/>
              </a:ext>
            </a:extLst>
          </p:cNvPr>
          <p:cNvSpPr/>
          <p:nvPr/>
        </p:nvSpPr>
        <p:spPr>
          <a:xfrm>
            <a:off x="1041400" y="22098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 dirty="0">
                <a:solidFill>
                  <a:srgbClr val="FFFFFF"/>
                </a:solidFill>
                <a:latin typeface="Poppins"/>
                <a:cs typeface="Poppins"/>
              </a:rPr>
              <a:t>1</a:t>
            </a:r>
            <a:endParaRPr lang="zh-TW" altLang="en-US" sz="2200" b="1" dirty="0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3555490F-3749-4D5C-99C4-C923507F4961}"/>
              </a:ext>
            </a:extLst>
          </p:cNvPr>
          <p:cNvSpPr txBox="1"/>
          <p:nvPr/>
        </p:nvSpPr>
        <p:spPr>
          <a:xfrm>
            <a:off x="1854200" y="21463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Build a cultural-calendar content engine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9472ACE2-D13C-4A1E-BCCD-B25D1CD131F8}"/>
              </a:ext>
            </a:extLst>
          </p:cNvPr>
          <p:cNvSpPr txBox="1"/>
          <p:nvPr/>
        </p:nvSpPr>
        <p:spPr>
          <a:xfrm>
            <a:off x="1854200" y="24765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Pre-produce bilingual posts for Lantern, Qingming, May Day</a:t>
            </a:r>
          </a:p>
        </p:txBody>
      </p:sp>
      <p:sp>
        <p:nvSpPr>
          <p:cNvPr id="8" name="Rectangle : coins arrondis 7">
            <a:extLst>
              <a:ext uri="{FF2B5EF4-FFF2-40B4-BE49-F238E27FC236}">
                <a16:creationId xmlns:a16="http://schemas.microsoft.com/office/drawing/2014/main" id="{34E1EF83-AEE3-4C65-BE32-C88751F432A2}"/>
              </a:ext>
            </a:extLst>
          </p:cNvPr>
          <p:cNvSpPr/>
          <p:nvPr/>
        </p:nvSpPr>
        <p:spPr>
          <a:xfrm>
            <a:off x="838200" y="3175000"/>
            <a:ext cx="105156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9" name="Ellipse 8">
            <a:extLst>
              <a:ext uri="{FF2B5EF4-FFF2-40B4-BE49-F238E27FC236}">
                <a16:creationId xmlns:a16="http://schemas.microsoft.com/office/drawing/2014/main" id="{75370F2C-D940-4DC0-BFBA-5B70B82D88BA}"/>
              </a:ext>
            </a:extLst>
          </p:cNvPr>
          <p:cNvSpPr/>
          <p:nvPr/>
        </p:nvSpPr>
        <p:spPr>
          <a:xfrm>
            <a:off x="1041400" y="33782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2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899D4CED-BC29-4DC3-A42C-BC4C22678553}"/>
              </a:ext>
            </a:extLst>
          </p:cNvPr>
          <p:cNvSpPr txBox="1"/>
          <p:nvPr/>
        </p:nvSpPr>
        <p:spPr>
          <a:xfrm>
            <a:off x="1854200" y="33147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Lean into “save-worthy” formats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1" name="ZoneTexte 10">
            <a:extLst>
              <a:ext uri="{FF2B5EF4-FFF2-40B4-BE49-F238E27FC236}">
                <a16:creationId xmlns:a16="http://schemas.microsoft.com/office/drawing/2014/main" id="{09AAD0EE-393A-4EEB-9B26-E2AE141FF671}"/>
              </a:ext>
            </a:extLst>
          </p:cNvPr>
          <p:cNvSpPr txBox="1"/>
          <p:nvPr/>
        </p:nvSpPr>
        <p:spPr>
          <a:xfrm>
            <a:off x="1854200" y="36449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One reference carousel per week — rankings, riddles, glossaries</a:t>
            </a:r>
          </a:p>
        </p:txBody>
      </p:sp>
      <p:sp>
        <p:nvSpPr>
          <p:cNvPr id="12" name="Rectangle : coins arrondis 11">
            <a:extLst>
              <a:ext uri="{FF2B5EF4-FFF2-40B4-BE49-F238E27FC236}">
                <a16:creationId xmlns:a16="http://schemas.microsoft.com/office/drawing/2014/main" id="{B8C3FE41-D6BE-4202-BD9D-2445732CFDE7}"/>
              </a:ext>
            </a:extLst>
          </p:cNvPr>
          <p:cNvSpPr/>
          <p:nvPr/>
        </p:nvSpPr>
        <p:spPr>
          <a:xfrm>
            <a:off x="838200" y="4343400"/>
            <a:ext cx="10515600" cy="990600"/>
          </a:xfrm>
          <a:prstGeom prst="roundRect">
            <a:avLst/>
          </a:prstGeom>
          <a:solidFill>
            <a:srgbClr val="FFFFFF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3" name="Ellipse 12">
            <a:extLst>
              <a:ext uri="{FF2B5EF4-FFF2-40B4-BE49-F238E27FC236}">
                <a16:creationId xmlns:a16="http://schemas.microsoft.com/office/drawing/2014/main" id="{3BDBB9D8-072B-418D-A273-78B86F3C5BA2}"/>
              </a:ext>
            </a:extLst>
          </p:cNvPr>
          <p:cNvSpPr/>
          <p:nvPr/>
        </p:nvSpPr>
        <p:spPr>
          <a:xfrm>
            <a:off x="1041400" y="45466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3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4" name="ZoneTexte 13">
            <a:extLst>
              <a:ext uri="{FF2B5EF4-FFF2-40B4-BE49-F238E27FC236}">
                <a16:creationId xmlns:a16="http://schemas.microsoft.com/office/drawing/2014/main" id="{1C5FE9B5-258F-4790-8B63-33F6C6A9B96F}"/>
              </a:ext>
            </a:extLst>
          </p:cNvPr>
          <p:cNvSpPr txBox="1"/>
          <p:nvPr/>
        </p:nvSpPr>
        <p:spPr>
          <a:xfrm>
            <a:off x="1854200" y="44831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fr-FR" altLang="zh-TW" sz="1650" b="1">
                <a:solidFill>
                  <a:srgbClr val="1A1A2E"/>
                </a:solidFill>
                <a:latin typeface="Poppins"/>
                <a:cs typeface="Poppins"/>
              </a:rPr>
              <a:t>Convert the follower spike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5" name="ZoneTexte 14">
            <a:extLst>
              <a:ext uri="{FF2B5EF4-FFF2-40B4-BE49-F238E27FC236}">
                <a16:creationId xmlns:a16="http://schemas.microsoft.com/office/drawing/2014/main" id="{416CC5DF-5A94-4444-A2BB-2130C9712A00}"/>
              </a:ext>
            </a:extLst>
          </p:cNvPr>
          <p:cNvSpPr txBox="1"/>
          <p:nvPr/>
        </p:nvSpPr>
        <p:spPr>
          <a:xfrm>
            <a:off x="1854200" y="48133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Pin a “start here” post + free-trial CTA while interest is warm</a:t>
            </a:r>
          </a:p>
        </p:txBody>
      </p:sp>
      <p:sp>
        <p:nvSpPr>
          <p:cNvPr id="16" name="Rectangle : coins arrondis 15">
            <a:extLst>
              <a:ext uri="{FF2B5EF4-FFF2-40B4-BE49-F238E27FC236}">
                <a16:creationId xmlns:a16="http://schemas.microsoft.com/office/drawing/2014/main" id="{D5861290-1E5D-4D03-9CBD-F51096A9E9D3}"/>
              </a:ext>
            </a:extLst>
          </p:cNvPr>
          <p:cNvSpPr/>
          <p:nvPr/>
        </p:nvSpPr>
        <p:spPr>
          <a:xfrm>
            <a:off x="838200" y="5511800"/>
            <a:ext cx="10515600" cy="990600"/>
          </a:xfrm>
          <a:prstGeom prst="roundRect">
            <a:avLst/>
          </a:prstGeom>
          <a:solidFill>
            <a:srgbClr val="FBF3EE"/>
          </a:solidFill>
          <a:ln w="12700" cap="flat" cmpd="sng" algn="ctr">
            <a:solidFill>
              <a:srgbClr val="EBD9C4"/>
            </a:solidFill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zh-TW" altLang="en-US"/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07CA9D2A-A764-4D20-AB0A-3246E9B44D2C}"/>
              </a:ext>
            </a:extLst>
          </p:cNvPr>
          <p:cNvSpPr/>
          <p:nvPr/>
        </p:nvSpPr>
        <p:spPr>
          <a:xfrm>
            <a:off x="1041400" y="5715000"/>
            <a:ext cx="584200" cy="584200"/>
          </a:xfrm>
          <a:prstGeom prst="ellipse">
            <a:avLst/>
          </a:prstGeom>
          <a:solidFill>
            <a:srgbClr val="C810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wrap="none" rtlCol="0" anchor="ctr" anchorCtr="0">
            <a:noAutofit/>
          </a:bodyPr>
          <a:lstStyle/>
          <a:p>
            <a:pPr algn="ctr"/>
            <a:r>
              <a:rPr lang="en-US" altLang="zh-TW" sz="2200" b="1">
                <a:solidFill>
                  <a:srgbClr val="FFFFFF"/>
                </a:solidFill>
                <a:latin typeface="Poppins"/>
                <a:cs typeface="Poppins"/>
              </a:rPr>
              <a:t>4</a:t>
            </a:r>
            <a:endParaRPr lang="zh-TW" altLang="en-US" sz="2200" b="1">
              <a:solidFill>
                <a:srgbClr val="FFFFFF"/>
              </a:solidFill>
              <a:latin typeface="Poppins"/>
              <a:cs typeface="Poppins"/>
            </a:endParaRPr>
          </a:p>
        </p:txBody>
      </p:sp>
      <p:sp>
        <p:nvSpPr>
          <p:cNvPr id="18" name="ZoneTexte 17">
            <a:extLst>
              <a:ext uri="{FF2B5EF4-FFF2-40B4-BE49-F238E27FC236}">
                <a16:creationId xmlns:a16="http://schemas.microsoft.com/office/drawing/2014/main" id="{DD634312-10C5-4DA2-9EF1-B9F3ACB5E4F1}"/>
              </a:ext>
            </a:extLst>
          </p:cNvPr>
          <p:cNvSpPr txBox="1"/>
          <p:nvPr/>
        </p:nvSpPr>
        <p:spPr>
          <a:xfrm>
            <a:off x="1854200" y="5651500"/>
            <a:ext cx="92964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650" b="1">
                <a:solidFill>
                  <a:srgbClr val="1A1A2E"/>
                </a:solidFill>
                <a:latin typeface="Poppins"/>
                <a:cs typeface="Poppins"/>
              </a:rPr>
              <a:t>Reply to every comment within 24h</a:t>
            </a:r>
            <a:endParaRPr lang="zh-TW" altLang="en-US" sz="1650" b="1">
              <a:solidFill>
                <a:srgbClr val="1A1A2E"/>
              </a:solidFill>
              <a:latin typeface="Poppins"/>
              <a:cs typeface="Poppin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7E81E51B-CAE0-4AC8-A932-6BA895E02052}"/>
              </a:ext>
            </a:extLst>
          </p:cNvPr>
          <p:cNvSpPr txBox="1"/>
          <p:nvPr/>
        </p:nvSpPr>
        <p:spPr>
          <a:xfrm>
            <a:off x="1854200" y="5981700"/>
            <a:ext cx="9296400" cy="300082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50">
                <a:solidFill>
                  <a:srgbClr val="3A3A44"/>
                </a:solidFill>
              </a:rPr>
              <a:t>Comments +75% — sustained replies signal the algorithm</a:t>
            </a:r>
          </a:p>
        </p:txBody>
      </p:sp>
    </p:spTree>
    <p:extLst>
      <p:ext uri="{BB962C8B-B14F-4D97-AF65-F5344CB8AC3E}">
        <p14:creationId xmlns:p14="http://schemas.microsoft.com/office/powerpoint/2010/main" val="2741382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279E01E-8748-FAE8-B9DB-90CF6C5B0F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>
                <a:solidFill>
                  <a:srgbClr val="FFFFFF"/>
                </a:solidFill>
              </a:rPr>
              <a:t>Next Week — Action Plan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F398227-9EC2-4AAC-B004-3679E77E0442}"/>
              </a:ext>
            </a:extLst>
          </p:cNvPr>
          <p:cNvGraphicFramePr>
            <a:graphicFrameLocks noGrp="1"/>
          </p:cNvGraphicFramePr>
          <p:nvPr/>
        </p:nvGraphicFramePr>
        <p:xfrm>
          <a:off x="838200" y="1905000"/>
          <a:ext cx="10515598" cy="347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05942">
                  <a:extLst>
                    <a:ext uri="{9D8B030D-6E8A-4147-A177-3AD203B41FA5}">
                      <a16:colId xmlns:a16="http://schemas.microsoft.com/office/drawing/2014/main" val="3648991615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494634959"/>
                    </a:ext>
                  </a:extLst>
                </a:gridCol>
                <a:gridCol w="1502228">
                  <a:extLst>
                    <a:ext uri="{9D8B030D-6E8A-4147-A177-3AD203B41FA5}">
                      <a16:colId xmlns:a16="http://schemas.microsoft.com/office/drawing/2014/main" val="4041318134"/>
                    </a:ext>
                  </a:extLst>
                </a:gridCol>
                <a:gridCol w="3254828">
                  <a:extLst>
                    <a:ext uri="{9D8B030D-6E8A-4147-A177-3AD203B41FA5}">
                      <a16:colId xmlns:a16="http://schemas.microsoft.com/office/drawing/2014/main" val="4271670775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Action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Owner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Timing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500" b="1">
                          <a:solidFill>
                            <a:srgbClr val="FFFFFF"/>
                          </a:solidFill>
                        </a:rPr>
                        <a:t>Success Metric</a:t>
                      </a:r>
                    </a:p>
                  </a:txBody>
                  <a:tcPr anchor="ctr">
                    <a:solidFill>
                      <a:srgbClr val="A50D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832676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 dirty="0">
                          <a:solidFill>
                            <a:srgbClr val="1A1A2E"/>
                          </a:solidFill>
                        </a:rPr>
                        <a:t>Pre-build Lantern Festival riddle carousel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Mon–Tue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Publish on festival day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520177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Pin “start here” welcome post + trial CTA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Social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Mon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Profile-visit → trial clicks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5286118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Daily bilingual news post (study-ready)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Daily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Hold save rate ≥ 1.3%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340131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Reply to all comments within 24h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Community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Daily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100% reply rate</a:t>
                      </a:r>
                    </a:p>
                  </a:txBody>
                  <a:tcPr anchor="ctr">
                    <a:solidFill>
                      <a:srgbClr val="FBF3E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3268633"/>
                  </a:ext>
                </a:extLst>
              </a:tr>
              <a:tr h="584200"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1A1A2E"/>
                          </a:solidFill>
                        </a:rPr>
                        <a:t>Test 1 slang/glossary reference post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b="1">
                          <a:solidFill>
                            <a:srgbClr val="C8102E"/>
                          </a:solidFill>
                        </a:rPr>
                        <a:t>Content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>
                          <a:solidFill>
                            <a:srgbClr val="3A3A44"/>
                          </a:solidFill>
                        </a:rPr>
                        <a:t>Thu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400" dirty="0">
                          <a:solidFill>
                            <a:srgbClr val="3A3A44"/>
                          </a:solidFill>
                        </a:rPr>
                        <a:t>Beat avg saves (5.7/day)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641772"/>
                  </a:ext>
                </a:extLst>
              </a:tr>
            </a:tbl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A0A35D4B-E195-4387-9DC0-EF3404D6EA81}"/>
              </a:ext>
            </a:extLst>
          </p:cNvPr>
          <p:cNvSpPr/>
          <p:nvPr/>
        </p:nvSpPr>
        <p:spPr>
          <a:xfrm>
            <a:off x="838200" y="5537200"/>
            <a:ext cx="10515600" cy="50800"/>
          </a:xfrm>
          <a:prstGeom prst="rect">
            <a:avLst/>
          </a:prstGeom>
          <a:solidFill>
            <a:srgbClr val="F4C430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en-US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A02E96E9-059D-4FF7-A2BB-01EF67652DF5}"/>
              </a:ext>
            </a:extLst>
          </p:cNvPr>
          <p:cNvSpPr txBox="1"/>
          <p:nvPr/>
        </p:nvSpPr>
        <p:spPr>
          <a:xfrm>
            <a:off x="838200" y="5664200"/>
            <a:ext cx="105156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en-US" altLang="zh-TW" sz="1300" i="1">
                <a:solidFill>
                  <a:srgbClr val="6B7280"/>
                </a:solidFill>
              </a:rPr>
              <a:t>One owner per action · Review outcomes at next weekly sync</a:t>
            </a:r>
            <a:endParaRPr lang="en-US" sz="1300" i="1">
              <a:solidFill>
                <a:srgbClr val="6B728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2992392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 [1780680433428]">
  <a:themeElements>
    <a:clrScheme name="Office">
      <a:dk1>
        <a:srgbClr val="1A1A2E"/>
      </a:dk1>
      <a:lt1>
        <a:srgbClr val="FFFFFF"/>
      </a:lt1>
      <a:dk2>
        <a:srgbClr val="2B2D42"/>
      </a:dk2>
      <a:lt2>
        <a:srgbClr val="FBF7F2"/>
      </a:lt2>
      <a:accent1>
        <a:srgbClr val="C8102E"/>
      </a:accent1>
      <a:accent2>
        <a:srgbClr val="F4A300"/>
      </a:accent2>
      <a:accent3>
        <a:srgbClr val="2B2D42"/>
      </a:accent3>
      <a:accent4>
        <a:srgbClr val="E8825A"/>
      </a:accent4>
      <a:accent5>
        <a:srgbClr val="3A7D8C"/>
      </a:accent5>
      <a:accent6>
        <a:srgbClr val="6B7280"/>
      </a:accent6>
      <a:hlink>
        <a:srgbClr val="467886"/>
      </a:hlink>
      <a:folHlink>
        <a:srgbClr val="96607D"/>
      </a:folHlink>
    </a:clrScheme>
    <a:fontScheme name="Office">
      <a:majorFont>
        <a:latin typeface="Poppins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DF86862-D519-40AA-91B8-2CE1ACBDEEF2}">
  <we:reference id="WA200010001" version="1.0.0.1" store="Omex" storeType="OMEX"/>
  <we:alternateReferences>
    <we:reference id="WA200010001" version="1.0.0.1" store="WA200010001" storeType="OMEX"/>
  </we:alternateReferences>
  <we:properties>
    <we:property name="claude.fileId" value="&quot;51fb6c2b-a2f1-40e7-a5dd-7f025dc0eecf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450</Words>
  <Application>Microsoft Office PowerPoint</Application>
  <PresentationFormat>Grand écran</PresentationFormat>
  <Paragraphs>105</Paragraphs>
  <Slides>7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1" baseType="lpstr">
      <vt:lpstr>Arial</vt:lpstr>
      <vt:lpstr>Calibri</vt:lpstr>
      <vt:lpstr>Poppins</vt:lpstr>
      <vt:lpstr>Thème Office [1780680433428]</vt:lpstr>
      <vt:lpstr>ENGOO · XIAOHONGSHU  |  WEEKLY SOCIAL PERFORMANCE</vt:lpstr>
      <vt:lpstr>Executive Summary</vt:lpstr>
      <vt:lpstr>KPI Scorecard</vt:lpstr>
      <vt:lpstr>Content Highlights</vt:lpstr>
      <vt:lpstr>What Drove the Week</vt:lpstr>
      <vt:lpstr>Recommendations</vt:lpstr>
      <vt:lpstr>Next Week — Action Plan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TSENG Yu-Ting</dc:creator>
  <cp:lastModifiedBy>TSENG Yu-Ting</cp:lastModifiedBy>
  <cp:revision>11</cp:revision>
  <dcterms:created xsi:type="dcterms:W3CDTF">2026-06-05T16:38:19Z</dcterms:created>
  <dcterms:modified xsi:type="dcterms:W3CDTF">2026-10-23T06:14:15Z</dcterms:modified>
</cp:coreProperties>
</file>