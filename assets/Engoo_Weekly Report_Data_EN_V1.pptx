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4" r:id="rId2"/>
    <p:sldId id="315" r:id="rId3"/>
    <p:sldId id="309" r:id="rId4"/>
    <p:sldId id="317" r:id="rId6"/>
    <p:sldId id="319" r:id="rId13"/>
    <p:sldId id="313" r:id="rId7"/>
    <p:sldId id="318" r:id="rId8"/>
    <p:sldId id="320" r:id="rId14"/>
    <p:sldId id="321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D23"/>
    <a:srgbClr val="9E0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(Feuil1!$A$2:$A$8,Feuil1!$M$2:$M$8)</c:f>
              <c:strCache>
                <c:ptCount val="14"/>
                <c:pt idx="0">
                  <c:v>Mon 27 / 20</c:v>
                </c:pt>
                <c:pt idx="1">
                  <c:v>Tue 28 / 21</c:v>
                </c:pt>
                <c:pt idx="2">
                  <c:v>Wed 29 / 22</c:v>
                </c:pt>
                <c:pt idx="3">
                  <c:v>Thu 30 / 23</c:v>
                </c:pt>
                <c:pt idx="4">
                  <c:v>Fri 31 / 24</c:v>
                </c:pt>
                <c:pt idx="5">
                  <c:v>Sat 1 / 25</c:v>
                </c:pt>
                <c:pt idx="6">
                  <c:v>Sun 2 / 26</c:v>
                </c:pt>
                <c:pt idx="7">
                  <c:v>Mon 20</c:v>
                </c:pt>
                <c:pt idx="8">
                  <c:v>Tue 21</c:v>
                </c:pt>
                <c:pt idx="9">
                  <c:v>Wed 22</c:v>
                </c:pt>
                <c:pt idx="10">
                  <c:v>Thu 23</c:v>
                </c:pt>
                <c:pt idx="11">
                  <c:v>Fri 24</c:v>
                </c:pt>
                <c:pt idx="12">
                  <c:v>Sat 25</c:v>
                </c:pt>
                <c:pt idx="13">
                  <c:v>Sun 26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436</c:v>
                </c:pt>
                <c:pt idx="1">
                  <c:v>523</c:v>
                </c:pt>
                <c:pt idx="2">
                  <c:v>450</c:v>
                </c:pt>
                <c:pt idx="3">
                  <c:v>516</c:v>
                </c:pt>
                <c:pt idx="4">
                  <c:v>413</c:v>
                </c:pt>
                <c:pt idx="5">
                  <c:v>515</c:v>
                </c:pt>
                <c:pt idx="6">
                  <c:v>210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E4-4EDE-829C-F87658C2AF63}"/>
            </c:ext>
          </c:extLst>
        </c:ser>
        <c:ser>
          <c:idx val="1"/>
          <c:order val="2"/>
          <c:tx>
            <c:v>Views_Previous Week</c:v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B2D42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Feuil1!$N$2:$N$8</c:f>
              <c:numCache>
                <c:formatCode>General</c:formatCode>
                <c:ptCount val="7"/>
                <c:pt idx="0">
                  <c:v>173</c:v>
                </c:pt>
                <c:pt idx="1">
                  <c:v>174</c:v>
                </c:pt>
                <c:pt idx="2">
                  <c:v>177</c:v>
                </c:pt>
                <c:pt idx="3">
                  <c:v>517</c:v>
                </c:pt>
                <c:pt idx="4">
                  <c:v>185</c:v>
                </c:pt>
                <c:pt idx="5">
                  <c:v>240</c:v>
                </c:pt>
                <c:pt idx="6">
                  <c:v>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511-4BF4-91DD-C12B2E928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1"/>
        <c:ser>
          <c:idx val="5"/>
          <c:order val="1"/>
          <c:tx>
            <c:strRef>
              <c:f>Feuil1!$J$1</c:f>
              <c:strCache>
                <c:ptCount val="1"/>
                <c:pt idx="0">
                  <c:v>Engagement Rate</c:v>
                </c:pt>
              </c:strCache>
            </c:strRef>
          </c:tx>
          <c:spPr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dLbls>
            <c:dLbl>
              <c:idx val="0"/>
              <c:layout>
                <c:manualLayout>
                  <c:x val="-4.3390138732658415E-2"/>
                  <c:y val="-5.78495113292350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D7-4346-9C30-AC9512C95ACB}"/>
                </c:ext>
              </c:extLst>
            </c:dLbl>
            <c:dLbl>
              <c:idx val="1"/>
              <c:layout>
                <c:manualLayout>
                  <c:x val="-3.981871016122987E-2"/>
                  <c:y val="-6.85589482826954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D7-4346-9C30-AC9512C95ACB}"/>
                </c:ext>
              </c:extLst>
            </c:dLbl>
            <c:dLbl>
              <c:idx val="3"/>
              <c:layout>
                <c:manualLayout>
                  <c:x val="-2.3152043494563138E-2"/>
                  <c:y val="1.7116547344987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D7-4346-9C30-AC9512C95ACB}"/>
                </c:ext>
              </c:extLst>
            </c:dLbl>
            <c:dLbl>
              <c:idx val="4"/>
              <c:layout>
                <c:manualLayout>
                  <c:x val="-2.1961567304087076E-2"/>
                  <c:y val="-8.99778221896160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D7-4346-9C30-AC9512C95ACB}"/>
                </c:ext>
              </c:extLst>
            </c:dLbl>
            <c:dLbl>
              <c:idx val="6"/>
              <c:layout>
                <c:manualLayout>
                  <c:x val="-4.1044244469441316E-3"/>
                  <c:y val="-6.3204229805965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C8102E"/>
                    </a:solidFill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Feuil1!$A$2:$A$8</c:f>
              <c:strCache>
                <c:ptCount val="7"/>
                <c:pt idx="0">
                  <c:v>Mon 27 / 20</c:v>
                </c:pt>
                <c:pt idx="1">
                  <c:v>Tue 28 / 21</c:v>
                </c:pt>
                <c:pt idx="2">
                  <c:v>Wed 29 / 22</c:v>
                </c:pt>
                <c:pt idx="3">
                  <c:v>Thu 30 / 23</c:v>
                </c:pt>
                <c:pt idx="4">
                  <c:v>Fri 31 / 24</c:v>
                </c:pt>
                <c:pt idx="5">
                  <c:v>Sat 1 / 25</c:v>
                </c:pt>
                <c:pt idx="6">
                  <c:v>Sun 2 / 26</c:v>
                </c:pt>
              </c:strCache>
            </c:strRef>
          </c:cat>
          <c:val>
            <c:numRef>
              <c:f>Feuil1!$J$2:$J$8</c:f>
              <c:numCache>
                <c:formatCode>0.00%</c:formatCode>
                <c:ptCount val="7"/>
                <c:pt idx="0">
                  <c:v>4.82E-2</c:v>
                </c:pt>
                <c:pt idx="1">
                  <c:v>5.5399999999999998E-2</c:v>
                </c:pt>
                <c:pt idx="2">
                  <c:v>7.1099999999999997E-2</c:v>
                </c:pt>
                <c:pt idx="3">
                  <c:v>5.04E-2</c:v>
                </c:pt>
                <c:pt idx="4">
                  <c:v>6.0499999999999998E-2</c:v>
                </c:pt>
                <c:pt idx="5">
                  <c:v>4.6600000000000003E-2</c:v>
                </c:pt>
                <c:pt idx="6">
                  <c:v>5.7099999999999998E-2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11-4BF4-91DD-C12B2E928AD4}"/>
            </c:ext>
          </c:extLst>
        </c:ser>
        <c:ser>
          <c:idx val="2"/>
          <c:order val="3"/>
          <c:tx>
            <c:v>Engagement Rate_Previous Week</c:v>
          </c:tx>
          <c:spPr>
            <a:ln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</c:marker>
          <c:dLbls>
            <c:dLbl>
              <c:idx val="3"/>
              <c:layout>
                <c:manualLayout>
                  <c:x val="-2.3152043494563138E-2"/>
                  <c:y val="-6.407110391526895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8A6D00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val>
            <c:numRef>
              <c:f>Feuil1!$V$2:$V$8</c:f>
              <c:numCache>
                <c:formatCode>0.00%</c:formatCode>
                <c:ptCount val="7"/>
                <c:pt idx="0">
                  <c:v>4.046242774566474E-2</c:v>
                </c:pt>
                <c:pt idx="1">
                  <c:v>2.8735632183908046E-2</c:v>
                </c:pt>
                <c:pt idx="2">
                  <c:v>5.6497175141242938E-2</c:v>
                </c:pt>
                <c:pt idx="3">
                  <c:v>7.3500967117988397E-2</c:v>
                </c:pt>
                <c:pt idx="4">
                  <c:v>6.4864864864864868E-2</c:v>
                </c:pt>
                <c:pt idx="5">
                  <c:v>4.1666666666666664E-2</c:v>
                </c:pt>
                <c:pt idx="6">
                  <c:v>3.951890034364261E-2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511-4BF4-91DD-C12B2E928A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9528671"/>
        <c:axId val="1519531551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  <c:valAx>
        <c:axId val="1519531551"/>
        <c:scaling>
          <c:orientation val="minMax"/>
          <c:max val="0.2"/>
        </c:scaling>
        <c:delete val="0"/>
        <c:axPos val="r"/>
        <c:numFmt formatCode="0%" sourceLinked="0"/>
        <c:majorTickMark val="none"/>
        <c:minorTickMark val="none"/>
        <c:tickLblPos val="nextTo"/>
        <c:crossAx val="1519528671"/>
        <c:crosses val="max"/>
        <c:crossBetween val="between"/>
      </c:valAx>
      <c:catAx>
        <c:axId val="15195286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31551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  <c:spPr>
    <a:ln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782A0-30E2-C156-CFBC-C959B1F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5EA457-22D3-D0DE-8551-20380F88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TW"/>
              <a:t>Modifiez le style des sous-titres du masque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62023-06EB-6AF3-621F-D3C272D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D87E1-77E0-24C3-B245-34735914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0A7955-30B6-46EA-55A8-441BFDCB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9B077-7621-FFE1-EE94-80C87BB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3493B-3CA9-00D0-0086-EF94FBFD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6384-8AFD-2E89-7ABE-60C467EE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F59CA-1F3B-AB78-4A89-7BBC9E7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6E9F5-FFB5-567A-0F42-D256C292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7FF3D-2EFB-9341-0539-65FA0152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D049B4-FD94-58C3-1577-B96239C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2803F-5A41-4504-43E5-253B0A92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DCC3-B904-ADE6-E03D-3198F44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F2B01-125C-80FB-3950-0C66045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9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786B-F5D7-6225-738E-CD6F7B84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228-0798-FAD8-D29F-23DBE32B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8A7DE-D6DF-CA1A-366F-0BA32787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BA178-AC1D-AF9C-58CE-344C1569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B9D48-7149-FB8A-8C72-33021C50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5249D-C0F2-4674-B508-610DE7C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7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0F125-2DF8-C1BB-D03D-CAC7E54D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BECB3-3AC4-6D87-905B-4736E09F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9CF12-A3EB-E2DC-08AB-00093F160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CB1A26-1E35-E682-937F-8C34E223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85A9C-92DA-80AE-70BD-8622DE57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A66921-C209-5532-638A-12D0D783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4D078A-68DE-4011-1B94-D014A72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589B5C-B7C7-EA67-4051-76D2105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34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1DC9D-B75B-36F4-4CBE-A3297A41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94CAEF-A751-E884-0AF2-30B0A8D7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AADDE3-9436-308F-168C-F346A78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A42E11-92C9-1955-F52D-B1CDBDB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5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DB7EB-0D4E-CE5A-A7B4-D1FDAE87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B80BFD-8FA0-2F80-9E25-EB6969C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31B7A-B68F-A11E-C396-AEFB5285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1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FE90-0B3B-2F34-E0EC-0664DE4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A82D1-07DA-4F41-BC58-79016FE1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92DBDE-68D4-28E9-7865-F9E5985C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598812-8040-AE1D-FF32-426376E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EA53B8-00C7-0C28-3108-C00B2B89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A805C-9039-9A17-05EA-98D4F7C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1CB7A-9A8C-D80F-0D41-F5D44E4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F2E8E-0899-0155-4656-F4311118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71931A-4F92-2ADF-8D48-16B082F33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7891B-F877-3DB7-676B-020CBCD3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6125F6-4D0D-0F9E-1262-48AEFCF3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643CA-85A0-C19C-1FAD-84ADB69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4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2BBD9-C103-7D39-4CC5-F6B1536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004B08-9C7F-2BB9-7572-5B00A80F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30FBF-4497-0357-2B8B-1573690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AFA34-37D7-7C6F-7FF9-5FB9626D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4D7F5-CE75-DFD1-7D56-25174AC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5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9554E-D173-6E1C-5B7A-5B176EE62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FBB09-246F-42EA-452B-0E1306B38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0F0B7-A06A-8D35-7A30-3559683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DA886-1141-E1A8-EC66-DD49BEE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53DCC-79A6-F866-6E7A-909EE18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038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546168-1C02-390E-D19F-E8F7C5F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DB620-804D-B4E9-CE1D-B00B9EA6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63A12C-2B0A-500E-7E9D-C55A1F40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B5687-96E3-C3BD-F440-AB63BC38E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6ACDC-678C-7B31-E99F-3C157DA8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29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D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0D24"/>
            </a:gs>
            <a:gs pos="100000">
              <a:srgbClr val="6E07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ing950"/>
          <p:cNvSpPr/>
          <p:nvPr/>
        </p:nvSpPr>
        <p:spPr>
          <a:xfrm>
            <a:off x="10160000" y="38100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ing951"/>
          <p:cNvSpPr/>
          <p:nvPr/>
        </p:nvSpPr>
        <p:spPr>
          <a:xfrm>
            <a:off x="10477500" y="69850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dot954"/>
          <p:cNvSpPr/>
          <p:nvPr/>
        </p:nvSpPr>
        <p:spPr>
          <a:xfrm>
            <a:off x="10033000" y="228600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dot955"/>
          <p:cNvSpPr/>
          <p:nvPr/>
        </p:nvSpPr>
        <p:spPr>
          <a:xfrm>
            <a:off x="11557000" y="152400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ring952"/>
          <p:cNvSpPr/>
          <p:nvPr/>
        </p:nvSpPr>
        <p:spPr>
          <a:xfrm>
            <a:off x="229508" y="492331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ring953"/>
          <p:cNvSpPr/>
          <p:nvPr/>
        </p:nvSpPr>
        <p:spPr>
          <a:xfrm>
            <a:off x="547008" y="524081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6" name="dot956"/>
          <p:cNvSpPr/>
          <p:nvPr/>
        </p:nvSpPr>
        <p:spPr>
          <a:xfrm>
            <a:off x="2261508" y="581231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dot957"/>
          <p:cNvSpPr/>
          <p:nvPr/>
        </p:nvSpPr>
        <p:spPr>
          <a:xfrm>
            <a:off x="991508" y="492331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4C6A9C-99E8-A192-C2DD-E64D4A09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328185"/>
            <a:ext cx="9144000" cy="292100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rgbClr val="F4C430"/>
                </a:solidFill>
              </a:rPr>
              <a:t>ENGOO · XIAOHONGSHU  |  WEEKLY SOCIAL PERFORMANCE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BE4F6D-8B17-4249-D6FE-55F3EE0F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20"/>
            <a:ext cx="9144000" cy="1655762"/>
          </a:xfrm>
        </p:spPr>
        <p:txBody>
          <a:bodyPr/>
          <a:lstStyle/>
          <a:p>
            <a:pPr algn="ctr"/>
            <a:r>
              <a:rPr lang="en-US" sz="2000" b="1" dirty="0">
                <a:solidFill>
                  <a:srgbClr val="FFE9A8"/>
                </a:solidFill>
              </a:rPr>
              <a:t>Reporting week: Jan 27 – Feb 2, 2025</a:t>
            </a:r>
          </a:p>
          <a:p>
            <a:pPr algn="ctr"/>
            <a:r>
              <a:rPr lang="en-US" sz="1600" dirty="0">
                <a:solidFill>
                  <a:srgbClr val="FBE3E5"/>
                </a:solidFill>
              </a:rPr>
              <a:t>Chinese New Year campaign drives the strongest week since tracking began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AED07-148B-43CC-B024-2629818852F5}"/>
              </a:ext>
            </a:extLst>
          </p:cNvPr>
          <p:cNvSpPr/>
          <p:nvPr/>
        </p:nvSpPr>
        <p:spPr>
          <a:xfrm>
            <a:off x="4635500" y="5649787"/>
            <a:ext cx="2540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22" name="Graphique 21" descr="Serpent contour">
            <a:extLst>
              <a:ext uri="{FF2B5EF4-FFF2-40B4-BE49-F238E27FC236}">
                <a16:creationId xmlns:a16="http://schemas.microsoft.com/office/drawing/2014/main" id="{0FD45922-C970-9EEF-470A-EA3C88544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8" b="3446"/>
          <a:stretch>
            <a:fillRect/>
          </a:stretch>
        </p:blipFill>
        <p:spPr>
          <a:xfrm rot="2605941">
            <a:off x="4164695" y="573774"/>
            <a:ext cx="3731978" cy="3618865"/>
          </a:xfrm>
          <a:custGeom>
            <a:avLst/>
            <a:gdLst>
              <a:gd name="csX0" fmla="*/ 2412037 w 3731978"/>
              <a:gd name="csY0" fmla="*/ 3618865 h 3618865"/>
              <a:gd name="csX1" fmla="*/ 3731978 w 3731978"/>
              <a:gd name="csY1" fmla="*/ 2369246 h 3618865"/>
              <a:gd name="csX2" fmla="*/ 3731978 w 3731978"/>
              <a:gd name="csY2" fmla="*/ 3618865 h 3618865"/>
              <a:gd name="csX3" fmla="*/ 0 w 3731978"/>
              <a:gd name="csY3" fmla="*/ 0 h 3618865"/>
              <a:gd name="csX4" fmla="*/ 3731978 w 3731978"/>
              <a:gd name="csY4" fmla="*/ 0 h 3618865"/>
              <a:gd name="csX5" fmla="*/ 3731978 w 3731978"/>
              <a:gd name="csY5" fmla="*/ 407452 h 3618865"/>
              <a:gd name="csX6" fmla="*/ 339842 w 3731978"/>
              <a:gd name="csY6" fmla="*/ 3618865 h 3618865"/>
              <a:gd name="csX7" fmla="*/ 0 w 3731978"/>
              <a:gd name="csY7" fmla="*/ 3618865 h 3618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31978" h="3618865">
                <a:moveTo>
                  <a:pt x="2412037" y="3618865"/>
                </a:moveTo>
                <a:lnTo>
                  <a:pt x="3731978" y="2369246"/>
                </a:lnTo>
                <a:lnTo>
                  <a:pt x="3731978" y="3618865"/>
                </a:lnTo>
                <a:close/>
                <a:moveTo>
                  <a:pt x="0" y="0"/>
                </a:moveTo>
                <a:lnTo>
                  <a:pt x="3731978" y="0"/>
                </a:lnTo>
                <a:lnTo>
                  <a:pt x="3731978" y="407452"/>
                </a:lnTo>
                <a:lnTo>
                  <a:pt x="339842" y="3618865"/>
                </a:lnTo>
                <a:lnTo>
                  <a:pt x="0" y="3618865"/>
                </a:lnTo>
                <a:close/>
              </a:path>
            </a:pathLst>
          </a:cu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EEA42D7-3074-85C7-D6A6-BE715463E056}"/>
              </a:ext>
            </a:extLst>
          </p:cNvPr>
          <p:cNvSpPr txBox="1">
            <a:spLocks/>
          </p:cNvSpPr>
          <p:nvPr/>
        </p:nvSpPr>
        <p:spPr>
          <a:xfrm>
            <a:off x="1524000" y="2592815"/>
            <a:ext cx="9144000" cy="7683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FF"/>
                </a:solidFill>
              </a:rPr>
              <a:t>Year of the Snake Lift-Off</a:t>
            </a:r>
          </a:p>
        </p:txBody>
      </p:sp>
      <p:pic>
        <p:nvPicPr>
          <p:cNvPr id="25" name="Graphique 24" descr="Serpent contour">
            <a:extLst>
              <a:ext uri="{FF2B5EF4-FFF2-40B4-BE49-F238E27FC236}">
                <a16:creationId xmlns:a16="http://schemas.microsoft.com/office/drawing/2014/main" id="{FE965CA8-C1CF-6C31-2512-EA0B052D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2605941">
            <a:off x="4106431" y="1044709"/>
            <a:ext cx="3748038" cy="3748038"/>
          </a:xfrm>
          <a:custGeom>
            <a:avLst/>
            <a:gdLst>
              <a:gd name="csX0" fmla="*/ 487711 w 3748038"/>
              <a:gd name="csY0" fmla="*/ 3748038 h 3748038"/>
              <a:gd name="csX1" fmla="*/ 3748038 w 3748038"/>
              <a:gd name="csY1" fmla="*/ 661411 h 3748038"/>
              <a:gd name="csX2" fmla="*/ 3748038 w 3748038"/>
              <a:gd name="csY2" fmla="*/ 3748038 h 3748038"/>
              <a:gd name="csX3" fmla="*/ 0 w 3748038"/>
              <a:gd name="csY3" fmla="*/ 0 h 3748038"/>
              <a:gd name="csX4" fmla="*/ 2064998 w 3748038"/>
              <a:gd name="csY4" fmla="*/ 0 h 3748038"/>
              <a:gd name="csX5" fmla="*/ 0 w 3748038"/>
              <a:gd name="csY5" fmla="*/ 1954981 h 3748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48038" h="3748038">
                <a:moveTo>
                  <a:pt x="487711" y="3748038"/>
                </a:moveTo>
                <a:lnTo>
                  <a:pt x="3748038" y="661411"/>
                </a:lnTo>
                <a:lnTo>
                  <a:pt x="3748038" y="3748038"/>
                </a:lnTo>
                <a:close/>
                <a:moveTo>
                  <a:pt x="0" y="0"/>
                </a:moveTo>
                <a:lnTo>
                  <a:pt x="2064998" y="0"/>
                </a:lnTo>
                <a:lnTo>
                  <a:pt x="0" y="1954981"/>
                </a:lnTo>
                <a:close/>
              </a:path>
            </a:pathLst>
          </a:cu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84728F-B217-2A61-7B82-43D7CEB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8" t="66808" r="31241" b="16144"/>
          <a:stretch>
            <a:fillRect/>
          </a:stretch>
        </p:blipFill>
        <p:spPr>
          <a:xfrm>
            <a:off x="10638975" y="937785"/>
            <a:ext cx="840700" cy="738615"/>
          </a:xfrm>
          <a:prstGeom prst="rect">
            <a:avLst/>
          </a:prstGeom>
        </p:spPr>
      </p:pic>
      <p:pic>
        <p:nvPicPr>
          <p:cNvPr id="28" name="Image 27" descr="Announcing the Winners of Engoo's 2022 Halloween Costume Contest | Engoo  Blog">
            <a:extLst>
              <a:ext uri="{FF2B5EF4-FFF2-40B4-BE49-F238E27FC236}">
                <a16:creationId xmlns:a16="http://schemas.microsoft.com/office/drawing/2014/main" id="{4A48D0ED-2F7C-765C-E719-69068C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538" y="5546541"/>
            <a:ext cx="670392" cy="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6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F0BE7-76D6-9834-CD60-55103520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57346B-D271-49A5-987A-83EE90E98CE3}"/>
              </a:ext>
            </a:extLst>
          </p:cNvPr>
          <p:cNvSpPr/>
          <p:nvPr/>
        </p:nvSpPr>
        <p:spPr>
          <a:xfrm>
            <a:off x="838200" y="18796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25B3784-EEEE-4D9C-9BDB-83F0E316E455}"/>
              </a:ext>
            </a:extLst>
          </p:cNvPr>
          <p:cNvSpPr/>
          <p:nvPr/>
        </p:nvSpPr>
        <p:spPr>
          <a:xfrm>
            <a:off x="1041400" y="20320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5EA1F2-5653-4985-990C-97EAB40140AC}"/>
              </a:ext>
            </a:extLst>
          </p:cNvPr>
          <p:cNvSpPr txBox="1"/>
          <p:nvPr/>
        </p:nvSpPr>
        <p:spPr>
          <a:xfrm>
            <a:off x="1854200" y="19939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Best week since tracking began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0A473C-6AEE-4DCF-8B67-511C3D76994A}"/>
              </a:ext>
            </a:extLst>
          </p:cNvPr>
          <p:cNvSpPr txBox="1"/>
          <p:nvPr/>
        </p:nvSpPr>
        <p:spPr>
          <a:xfrm>
            <a:off x="1854200" y="22987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3,063 views  ·  +50% WoW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1A8B3F1-7DB2-45C0-B8DD-2F5B32872A58}"/>
              </a:ext>
            </a:extLst>
          </p:cNvPr>
          <p:cNvSpPr/>
          <p:nvPr/>
        </p:nvSpPr>
        <p:spPr>
          <a:xfrm>
            <a:off x="838200" y="2819400"/>
            <a:ext cx="105156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93A8583-8A18-4B36-9288-BF07FF07215B}"/>
              </a:ext>
            </a:extLst>
          </p:cNvPr>
          <p:cNvSpPr/>
          <p:nvPr/>
        </p:nvSpPr>
        <p:spPr>
          <a:xfrm>
            <a:off x="1041400" y="29718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175490-B236-46C7-AD13-9189EF5D3FDE}"/>
              </a:ext>
            </a:extLst>
          </p:cNvPr>
          <p:cNvSpPr txBox="1"/>
          <p:nvPr/>
        </p:nvSpPr>
        <p:spPr>
          <a:xfrm>
            <a:off x="1854200" y="29337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New followers more than doubled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E769D9-2FDB-4B2C-85FD-7EBC8297CE7C}"/>
              </a:ext>
            </a:extLst>
          </p:cNvPr>
          <p:cNvSpPr txBox="1"/>
          <p:nvPr/>
        </p:nvSpPr>
        <p:spPr>
          <a:xfrm>
            <a:off x="1854200" y="32385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+47 new  ·  +147% WoW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BBF506E-3077-47B3-9F76-4FB3641A2E03}"/>
              </a:ext>
            </a:extLst>
          </p:cNvPr>
          <p:cNvSpPr/>
          <p:nvPr/>
        </p:nvSpPr>
        <p:spPr>
          <a:xfrm>
            <a:off x="838200" y="37592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44EA7F-4BC7-4CF6-A693-F9E16FC0C56E}"/>
              </a:ext>
            </a:extLst>
          </p:cNvPr>
          <p:cNvSpPr/>
          <p:nvPr/>
        </p:nvSpPr>
        <p:spPr>
          <a:xfrm>
            <a:off x="1041400" y="39116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878D2-D2E1-40FC-BE0C-BBB1A8BC49AB}"/>
              </a:ext>
            </a:extLst>
          </p:cNvPr>
          <p:cNvSpPr txBox="1"/>
          <p:nvPr/>
        </p:nvSpPr>
        <p:spPr>
          <a:xfrm>
            <a:off x="1854200" y="38735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Engagement rate hit 5.5%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8F2C64-23F6-46BE-AB01-58E4CE6E8C3D}"/>
              </a:ext>
            </a:extLst>
          </p:cNvPr>
          <p:cNvSpPr txBox="1"/>
          <p:nvPr/>
        </p:nvSpPr>
        <p:spPr>
          <a:xfrm>
            <a:off x="1854200" y="41783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Saves +67%  ·  Comments +75%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64B6F4-C80B-4294-900E-6FCD0045A463}"/>
              </a:ext>
            </a:extLst>
          </p:cNvPr>
          <p:cNvSpPr/>
          <p:nvPr/>
        </p:nvSpPr>
        <p:spPr>
          <a:xfrm>
            <a:off x="838200" y="4699000"/>
            <a:ext cx="105156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BBFB6BE-7B99-4983-B706-544E3EA37DA1}"/>
              </a:ext>
            </a:extLst>
          </p:cNvPr>
          <p:cNvSpPr/>
          <p:nvPr/>
        </p:nvSpPr>
        <p:spPr>
          <a:xfrm>
            <a:off x="1041400" y="48514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5C94BC-1A7F-4EBD-92BF-1885B699509B}"/>
              </a:ext>
            </a:extLst>
          </p:cNvPr>
          <p:cNvSpPr txBox="1"/>
          <p:nvPr/>
        </p:nvSpPr>
        <p:spPr>
          <a:xfrm>
            <a:off x="1854200" y="48133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Profile visits climbed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65FDDB-742A-44D1-9E82-3FC05AA49E33}"/>
              </a:ext>
            </a:extLst>
          </p:cNvPr>
          <p:cNvSpPr txBox="1"/>
          <p:nvPr/>
        </p:nvSpPr>
        <p:spPr>
          <a:xfrm>
            <a:off x="1854200" y="51181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 dirty="0">
                <a:solidFill>
                  <a:srgbClr val="C8102E"/>
                </a:solidFill>
                <a:latin typeface="Poppins"/>
                <a:cs typeface="Poppins"/>
              </a:rPr>
              <a:t>175 profile visits  ·  +36% WoW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E25FF9-9ED1-4ADF-81E2-156DB1032DE3}"/>
              </a:ext>
            </a:extLst>
          </p:cNvPr>
          <p:cNvSpPr/>
          <p:nvPr/>
        </p:nvSpPr>
        <p:spPr>
          <a:xfrm>
            <a:off x="838200" y="56388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F4B1B87-2655-4CCA-9AAC-19BE3CD15541}"/>
              </a:ext>
            </a:extLst>
          </p:cNvPr>
          <p:cNvSpPr/>
          <p:nvPr/>
        </p:nvSpPr>
        <p:spPr>
          <a:xfrm>
            <a:off x="1041400" y="5791200"/>
            <a:ext cx="558800" cy="5588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7A0019"/>
                </a:solidFill>
                <a:latin typeface="Poppins"/>
                <a:cs typeface="Poppins"/>
              </a:rPr>
              <a:t>★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49C35-2BA5-4544-8884-6179FAD48AF1}"/>
              </a:ext>
            </a:extLst>
          </p:cNvPr>
          <p:cNvSpPr txBox="1"/>
          <p:nvPr/>
        </p:nvSpPr>
        <p:spPr>
          <a:xfrm>
            <a:off x="1854200" y="57531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A8132B"/>
                </a:solidFill>
                <a:latin typeface="Poppins"/>
                <a:cs typeface="Poppins"/>
              </a:rPr>
              <a:t>Takeaway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DA856A6-88CB-4B99-A49E-87FCE6854459}"/>
              </a:ext>
            </a:extLst>
          </p:cNvPr>
          <p:cNvSpPr txBox="1"/>
          <p:nvPr/>
        </p:nvSpPr>
        <p:spPr>
          <a:xfrm>
            <a:off x="1854200" y="60579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dirty="0">
                <a:solidFill>
                  <a:srgbClr val="3A3A44"/>
                </a:solidFill>
              </a:rPr>
              <a:t>Momentum is real — watch the post-holiday dip.</a:t>
            </a:r>
          </a:p>
        </p:txBody>
      </p:sp>
    </p:spTree>
    <p:extLst>
      <p:ext uri="{BB962C8B-B14F-4D97-AF65-F5344CB8AC3E}">
        <p14:creationId xmlns:p14="http://schemas.microsoft.com/office/powerpoint/2010/main" val="339544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7C511-7E5B-6A4C-75D5-E3E2996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KPI Scorecard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E2FB19-5B08-4EC0-BFB1-849EE1EC9D21}"/>
              </a:ext>
            </a:extLst>
          </p:cNvPr>
          <p:cNvSpPr/>
          <p:nvPr/>
        </p:nvSpPr>
        <p:spPr>
          <a:xfrm>
            <a:off x="8382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620643-1E2C-4499-8223-62D850E73262}"/>
              </a:ext>
            </a:extLst>
          </p:cNvPr>
          <p:cNvSpPr txBox="1"/>
          <p:nvPr/>
        </p:nvSpPr>
        <p:spPr>
          <a:xfrm>
            <a:off x="10668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Views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AFD5F-6EB7-4E14-8E41-C8B7F1FCB6A5}"/>
              </a:ext>
            </a:extLst>
          </p:cNvPr>
          <p:cNvSpPr txBox="1"/>
          <p:nvPr/>
        </p:nvSpPr>
        <p:spPr>
          <a:xfrm>
            <a:off x="10668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3,063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9F25297-0409-4671-A292-6F8B08DCC10F}"/>
              </a:ext>
            </a:extLst>
          </p:cNvPr>
          <p:cNvSpPr/>
          <p:nvPr/>
        </p:nvSpPr>
        <p:spPr>
          <a:xfrm>
            <a:off x="27368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</a:t>
            </a:r>
            <a:r>
              <a:rPr lang="en-US" altLang="zh-TW" sz="1400" b="1" dirty="0">
                <a:solidFill>
                  <a:srgbClr val="196B24"/>
                </a:solidFill>
              </a:rPr>
              <a:t>+50%</a:t>
            </a:r>
            <a:endParaRPr lang="zh-TW" altLang="en-US" sz="1400" b="1" dirty="0">
              <a:solidFill>
                <a:srgbClr val="196B24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240592-22B7-46E3-825A-47D351EDBE72}"/>
              </a:ext>
            </a:extLst>
          </p:cNvPr>
          <p:cNvSpPr/>
          <p:nvPr/>
        </p:nvSpPr>
        <p:spPr>
          <a:xfrm>
            <a:off x="44450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1776DE-380B-4FA5-805F-E93811DC04CE}"/>
              </a:ext>
            </a:extLst>
          </p:cNvPr>
          <p:cNvSpPr txBox="1"/>
          <p:nvPr/>
        </p:nvSpPr>
        <p:spPr>
          <a:xfrm>
            <a:off x="46736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New Followers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60AAA-A214-416C-BC4F-01A8B32F2ED8}"/>
              </a:ext>
            </a:extLst>
          </p:cNvPr>
          <p:cNvSpPr txBox="1"/>
          <p:nvPr/>
        </p:nvSpPr>
        <p:spPr>
          <a:xfrm>
            <a:off x="46736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47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D2222-C682-4609-B4D0-D3B144554039}"/>
              </a:ext>
            </a:extLst>
          </p:cNvPr>
          <p:cNvSpPr/>
          <p:nvPr/>
        </p:nvSpPr>
        <p:spPr>
          <a:xfrm>
            <a:off x="63436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</a:t>
            </a:r>
            <a:r>
              <a:rPr lang="en-US" altLang="zh-TW" sz="1400" b="1">
                <a:solidFill>
                  <a:srgbClr val="196B24"/>
                </a:solidFill>
              </a:rPr>
              <a:t>+147%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E850E8-FA82-41FD-BBB7-AD0A022E78BC}"/>
              </a:ext>
            </a:extLst>
          </p:cNvPr>
          <p:cNvSpPr/>
          <p:nvPr/>
        </p:nvSpPr>
        <p:spPr>
          <a:xfrm>
            <a:off x="80518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7A5BB4-9625-4061-BB6A-AC8D10E694F1}"/>
              </a:ext>
            </a:extLst>
          </p:cNvPr>
          <p:cNvSpPr txBox="1"/>
          <p:nvPr/>
        </p:nvSpPr>
        <p:spPr>
          <a:xfrm>
            <a:off x="82804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Engagement Rate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420857-7F91-499F-8393-DF7CB454B014}"/>
              </a:ext>
            </a:extLst>
          </p:cNvPr>
          <p:cNvSpPr txBox="1"/>
          <p:nvPr/>
        </p:nvSpPr>
        <p:spPr>
          <a:xfrm>
            <a:off x="82804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5.5%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9A35F48-672F-4B64-8B9B-BB91077E0F89}"/>
              </a:ext>
            </a:extLst>
          </p:cNvPr>
          <p:cNvSpPr/>
          <p:nvPr/>
        </p:nvSpPr>
        <p:spPr>
          <a:xfrm>
            <a:off x="99504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400" b="1">
                <a:solidFill>
                  <a:srgbClr val="196B24"/>
                </a:solidFill>
              </a:rPr>
              <a:t>▲ +0.4pp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B86BA3-CB8E-4905-9C08-FBB74272628A}"/>
              </a:ext>
            </a:extLst>
          </p:cNvPr>
          <p:cNvSpPr/>
          <p:nvPr/>
        </p:nvSpPr>
        <p:spPr>
          <a:xfrm>
            <a:off x="8382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930C86-A9F3-4345-8C8B-7803D151B817}"/>
              </a:ext>
            </a:extLst>
          </p:cNvPr>
          <p:cNvSpPr txBox="1"/>
          <p:nvPr/>
        </p:nvSpPr>
        <p:spPr>
          <a:xfrm>
            <a:off x="10668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Saves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2221BB9-59F2-479C-AE30-E549A72905BE}"/>
              </a:ext>
            </a:extLst>
          </p:cNvPr>
          <p:cNvSpPr txBox="1"/>
          <p:nvPr/>
        </p:nvSpPr>
        <p:spPr>
          <a:xfrm>
            <a:off x="10668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40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160988F-ED28-4C2E-BE6C-45515D97314F}"/>
              </a:ext>
            </a:extLst>
          </p:cNvPr>
          <p:cNvSpPr/>
          <p:nvPr/>
        </p:nvSpPr>
        <p:spPr>
          <a:xfrm>
            <a:off x="27368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</a:t>
            </a:r>
            <a:r>
              <a:rPr lang="en-US" altLang="zh-TW" sz="1400" b="1">
                <a:solidFill>
                  <a:srgbClr val="196B24"/>
                </a:solidFill>
              </a:rPr>
              <a:t>+67%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9C893AA-9C06-4E22-B806-CD2E68D9CF49}"/>
              </a:ext>
            </a:extLst>
          </p:cNvPr>
          <p:cNvSpPr/>
          <p:nvPr/>
        </p:nvSpPr>
        <p:spPr>
          <a:xfrm>
            <a:off x="44450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2DD2D9-7607-4216-9CD8-D3D958F37E08}"/>
              </a:ext>
            </a:extLst>
          </p:cNvPr>
          <p:cNvSpPr txBox="1"/>
          <p:nvPr/>
        </p:nvSpPr>
        <p:spPr>
          <a:xfrm>
            <a:off x="46736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Comments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A2DC342-82C4-4E81-A841-AFBA0356D0F3}"/>
              </a:ext>
            </a:extLst>
          </p:cNvPr>
          <p:cNvSpPr txBox="1"/>
          <p:nvPr/>
        </p:nvSpPr>
        <p:spPr>
          <a:xfrm>
            <a:off x="46736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14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E53546A-34CC-4D11-9A5C-22AC7229792F}"/>
              </a:ext>
            </a:extLst>
          </p:cNvPr>
          <p:cNvSpPr/>
          <p:nvPr/>
        </p:nvSpPr>
        <p:spPr>
          <a:xfrm>
            <a:off x="63436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</a:t>
            </a:r>
            <a:r>
              <a:rPr lang="en-US" altLang="zh-TW" sz="1400" b="1" dirty="0">
                <a:solidFill>
                  <a:srgbClr val="196B24"/>
                </a:solidFill>
              </a:rPr>
              <a:t>+75%</a:t>
            </a:r>
            <a:endParaRPr lang="zh-TW" altLang="en-US" sz="1400" b="1" dirty="0">
              <a:solidFill>
                <a:srgbClr val="196B24"/>
              </a:solidFill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51E108D-C3D2-4C76-B9B7-13860BB6F439}"/>
              </a:ext>
            </a:extLst>
          </p:cNvPr>
          <p:cNvSpPr/>
          <p:nvPr/>
        </p:nvSpPr>
        <p:spPr>
          <a:xfrm>
            <a:off x="80518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884E1A-9387-42FC-B5C3-128A13D8B10B}"/>
              </a:ext>
            </a:extLst>
          </p:cNvPr>
          <p:cNvSpPr txBox="1"/>
          <p:nvPr/>
        </p:nvSpPr>
        <p:spPr>
          <a:xfrm>
            <a:off x="82804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Watch Time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912550-550C-48BB-83EB-B41D730E6897}"/>
              </a:ext>
            </a:extLst>
          </p:cNvPr>
          <p:cNvSpPr txBox="1"/>
          <p:nvPr/>
        </p:nvSpPr>
        <p:spPr>
          <a:xfrm>
            <a:off x="82804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22 </a:t>
            </a:r>
            <a:r>
              <a:rPr lang="fr-FR" altLang="zh-TW" sz="2800" b="1" dirty="0" err="1">
                <a:solidFill>
                  <a:srgbClr val="1A1A2E"/>
                </a:solidFill>
                <a:latin typeface="Poppins"/>
                <a:cs typeface="Poppins"/>
              </a:rPr>
              <a:t>hrs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DC2291-CFBD-4B16-BF66-B9698FF550C7}"/>
              </a:ext>
            </a:extLst>
          </p:cNvPr>
          <p:cNvSpPr/>
          <p:nvPr/>
        </p:nvSpPr>
        <p:spPr>
          <a:xfrm>
            <a:off x="99504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</a:t>
            </a:r>
            <a:r>
              <a:rPr lang="en-US" altLang="zh-TW" sz="1400" b="1">
                <a:solidFill>
                  <a:srgbClr val="196B24"/>
                </a:solidFill>
              </a:rPr>
              <a:t>+46%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4ED926-B44C-49FF-998E-C2F47D881308}"/>
              </a:ext>
            </a:extLst>
          </p:cNvPr>
          <p:cNvSpPr txBox="1"/>
          <p:nvPr/>
        </p:nvSpPr>
        <p:spPr>
          <a:xfrm>
            <a:off x="838200" y="65024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400" i="1" dirty="0">
                <a:solidFill>
                  <a:srgbClr val="6B7280"/>
                </a:solidFill>
              </a:rPr>
              <a:t>Week of Jan 27 – </a:t>
            </a:r>
            <a:r>
              <a:rPr lang="fr-FR" altLang="zh-TW" sz="1400" i="1" dirty="0" err="1">
                <a:solidFill>
                  <a:srgbClr val="6B7280"/>
                </a:solidFill>
              </a:rPr>
              <a:t>Feb</a:t>
            </a:r>
            <a:r>
              <a:rPr lang="fr-FR" altLang="zh-TW" sz="1400" i="1" dirty="0">
                <a:solidFill>
                  <a:srgbClr val="6B7280"/>
                </a:solidFill>
              </a:rPr>
              <a:t> 2, 2025 vs Jan 20 – 26, 2025</a:t>
            </a:r>
            <a:endParaRPr lang="zh-TW" altLang="en-US" sz="1400" i="1" dirty="0">
              <a:solidFill>
                <a:srgbClr val="6B728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57A9F-DFE5-43B3-B977-78C1426D24C8}"/>
              </a:ext>
            </a:extLst>
          </p:cNvPr>
          <p:cNvSpPr/>
          <p:nvPr/>
        </p:nvSpPr>
        <p:spPr>
          <a:xfrm>
            <a:off x="8382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597592-1691-4BE8-AEA5-2D61E844A16A}"/>
              </a:ext>
            </a:extLst>
          </p:cNvPr>
          <p:cNvSpPr/>
          <p:nvPr/>
        </p:nvSpPr>
        <p:spPr>
          <a:xfrm>
            <a:off x="44450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B87B2-C084-4658-A623-41D2EDDEA355}"/>
              </a:ext>
            </a:extLst>
          </p:cNvPr>
          <p:cNvSpPr/>
          <p:nvPr/>
        </p:nvSpPr>
        <p:spPr>
          <a:xfrm>
            <a:off x="80518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9422B-8A96-4E2C-98FE-59DF39F7400F}"/>
              </a:ext>
            </a:extLst>
          </p:cNvPr>
          <p:cNvSpPr/>
          <p:nvPr/>
        </p:nvSpPr>
        <p:spPr>
          <a:xfrm>
            <a:off x="8382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8C831-5C81-422C-9AF9-13FFDF5CC3B3}"/>
              </a:ext>
            </a:extLst>
          </p:cNvPr>
          <p:cNvSpPr/>
          <p:nvPr/>
        </p:nvSpPr>
        <p:spPr>
          <a:xfrm>
            <a:off x="44450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9B33-2CEC-4A4C-B62A-0FDF9A7E653F}"/>
              </a:ext>
            </a:extLst>
          </p:cNvPr>
          <p:cNvSpPr/>
          <p:nvPr/>
        </p:nvSpPr>
        <p:spPr>
          <a:xfrm>
            <a:off x="80518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aphicFrame>
        <p:nvGraphicFramePr>
          <p:cNvPr id="201" name="Daily Trend Chart"/>
          <p:cNvGraphicFramePr/>
          <p:nvPr>
            <p:extLst>
              <p:ext uri="{D42A27DB-BD31-4B8C-83A1-F6EECF244321}">
                <p14:modId xmlns:p14="http://schemas.microsoft.com/office/powerpoint/2010/main" val="3654495304"/>
              </p:ext>
            </p:extLst>
          </p:nvPr>
        </p:nvGraphicFramePr>
        <p:xfrm>
          <a:off x="838200" y="4241800"/>
          <a:ext cx="10515600" cy="223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5416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What Drove the Week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8382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8382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6482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1430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Cultural timing won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143000" y="251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Posting the Zodiac content on the actual CNY dates put us in front of a surging, intent-driven audience.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F4A3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100838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Saves outpaced likes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51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40 saves (+67%) means viewers bookmarked posts as study references — high-value, repeat-view behavior.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8382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838200" y="4292600"/>
            <a:ext cx="76200" cy="1549400"/>
          </a:xfrm>
          <a:prstGeom prst="rect">
            <a:avLst/>
          </a:prstGeom>
          <a:solidFill>
            <a:srgbClr val="3A7D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648200" y="42926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1430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Followers compounded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143000" y="47244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+47 new followers (+147%): the holiday series converted browsers into subscribers.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100838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WATCH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Watch the post-holiday dip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47244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Sunday (Feb 2) views fell to 210 as the holiday wound down. Expect normalization next week without a new hook.</a:t>
            </a:r>
            <a:endParaRPr lang="zh-TW" altLang="en-US" sz="140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18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294C-6AE3-1367-DD15-A082DDC1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BAA9C5-06BF-412A-8590-5333B298BEE7}"/>
              </a:ext>
            </a:extLst>
          </p:cNvPr>
          <p:cNvSpPr/>
          <p:nvPr/>
        </p:nvSpPr>
        <p:spPr>
          <a:xfrm>
            <a:off x="838200" y="2006600"/>
            <a:ext cx="105156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2C96E92-F959-46CF-AABE-0E41F5E763BD}"/>
              </a:ext>
            </a:extLst>
          </p:cNvPr>
          <p:cNvSpPr/>
          <p:nvPr/>
        </p:nvSpPr>
        <p:spPr>
          <a:xfrm>
            <a:off x="1041400" y="22098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2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5490F-3749-4D5C-99C4-C923507F4961}"/>
              </a:ext>
            </a:extLst>
          </p:cNvPr>
          <p:cNvSpPr txBox="1"/>
          <p:nvPr/>
        </p:nvSpPr>
        <p:spPr>
          <a:xfrm>
            <a:off x="1854200" y="21463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Build a cultural-calendar content engine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72ACE2-D13C-4A1E-BCCD-B25D1CD131F8}"/>
              </a:ext>
            </a:extLst>
          </p:cNvPr>
          <p:cNvSpPr txBox="1"/>
          <p:nvPr/>
        </p:nvSpPr>
        <p:spPr>
          <a:xfrm>
            <a:off x="1854200" y="24765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Pre-produce bilingual posts for Lantern, Qingming, May Day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E1EF83-AEE3-4C65-BE32-C88751F432A2}"/>
              </a:ext>
            </a:extLst>
          </p:cNvPr>
          <p:cNvSpPr/>
          <p:nvPr/>
        </p:nvSpPr>
        <p:spPr>
          <a:xfrm>
            <a:off x="838200" y="3175000"/>
            <a:ext cx="105156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370F2C-D940-4DC0-BFBA-5B70B82D88BA}"/>
              </a:ext>
            </a:extLst>
          </p:cNvPr>
          <p:cNvSpPr/>
          <p:nvPr/>
        </p:nvSpPr>
        <p:spPr>
          <a:xfrm>
            <a:off x="1041400" y="33782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9D4CED-BC29-4DC3-A42C-BC4C22678553}"/>
              </a:ext>
            </a:extLst>
          </p:cNvPr>
          <p:cNvSpPr txBox="1"/>
          <p:nvPr/>
        </p:nvSpPr>
        <p:spPr>
          <a:xfrm>
            <a:off x="1854200" y="33147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Lean into “save-worthy” formats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AD0EE-393A-4EEB-9B26-E2AE141FF671}"/>
              </a:ext>
            </a:extLst>
          </p:cNvPr>
          <p:cNvSpPr txBox="1"/>
          <p:nvPr/>
        </p:nvSpPr>
        <p:spPr>
          <a:xfrm>
            <a:off x="1854200" y="36449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One reference carousel per week — rankings, riddles, glossaries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8C3FE41-D6BE-4202-BD9D-2445732CFDE7}"/>
              </a:ext>
            </a:extLst>
          </p:cNvPr>
          <p:cNvSpPr/>
          <p:nvPr/>
        </p:nvSpPr>
        <p:spPr>
          <a:xfrm>
            <a:off x="838200" y="4343400"/>
            <a:ext cx="105156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DBB9D8-072B-418D-A273-78B86F3C5BA2}"/>
              </a:ext>
            </a:extLst>
          </p:cNvPr>
          <p:cNvSpPr/>
          <p:nvPr/>
        </p:nvSpPr>
        <p:spPr>
          <a:xfrm>
            <a:off x="1041400" y="45466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5FE9B5-258F-4790-8B63-33F6C6A9B96F}"/>
              </a:ext>
            </a:extLst>
          </p:cNvPr>
          <p:cNvSpPr txBox="1"/>
          <p:nvPr/>
        </p:nvSpPr>
        <p:spPr>
          <a:xfrm>
            <a:off x="1854200" y="44831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Convert the follower spike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6CC5DF-5A94-4444-A2BB-2130C9712A00}"/>
              </a:ext>
            </a:extLst>
          </p:cNvPr>
          <p:cNvSpPr txBox="1"/>
          <p:nvPr/>
        </p:nvSpPr>
        <p:spPr>
          <a:xfrm>
            <a:off x="1854200" y="48133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Pin a “start here” post + free-trial CTA while interest is warm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861290-1E5D-4D03-9CBD-F51096A9E9D3}"/>
              </a:ext>
            </a:extLst>
          </p:cNvPr>
          <p:cNvSpPr/>
          <p:nvPr/>
        </p:nvSpPr>
        <p:spPr>
          <a:xfrm>
            <a:off x="838200" y="5511800"/>
            <a:ext cx="105156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7CA9D2A-A764-4D20-AB0A-3246E9B44D2C}"/>
              </a:ext>
            </a:extLst>
          </p:cNvPr>
          <p:cNvSpPr/>
          <p:nvPr/>
        </p:nvSpPr>
        <p:spPr>
          <a:xfrm>
            <a:off x="1041400" y="57150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34312-10C5-4DA2-9EF1-B9F3ACB5E4F1}"/>
              </a:ext>
            </a:extLst>
          </p:cNvPr>
          <p:cNvSpPr txBox="1"/>
          <p:nvPr/>
        </p:nvSpPr>
        <p:spPr>
          <a:xfrm>
            <a:off x="1854200" y="56515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50" b="1">
                <a:solidFill>
                  <a:srgbClr val="1A1A2E"/>
                </a:solidFill>
                <a:latin typeface="Poppins"/>
                <a:cs typeface="Poppins"/>
              </a:rPr>
              <a:t>Reply to every comment within 24h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E81E51B-CAE0-4AC8-A932-6BA895E02052}"/>
              </a:ext>
            </a:extLst>
          </p:cNvPr>
          <p:cNvSpPr txBox="1"/>
          <p:nvPr/>
        </p:nvSpPr>
        <p:spPr>
          <a:xfrm>
            <a:off x="1854200" y="59817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Comments +75% — sustained replies signal the algorithm</a:t>
            </a:r>
          </a:p>
        </p:txBody>
      </p:sp>
    </p:spTree>
    <p:extLst>
      <p:ext uri="{BB962C8B-B14F-4D97-AF65-F5344CB8AC3E}">
        <p14:creationId xmlns:p14="http://schemas.microsoft.com/office/powerpoint/2010/main" val="2741382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Next Week — Action Plan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515598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5942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3254828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Success Metric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Pre-build Lantern Festival riddle carousel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Mon–Tue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Publish on festival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Pin “start here” welcome post + trial CTA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Social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Mon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Profile-visit → trial clicks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Daily bilingual news post (study-ready)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Hold save rate ≥ 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Reply to all comments within 24h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Community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Daily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100% reply rate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Test 1 slang/glossary reference 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Thu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A3A44"/>
                          </a:solidFill>
                        </a:rPr>
                        <a:t>Beat avg saves (5.7/day)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17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838200" y="5537200"/>
            <a:ext cx="105156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5664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One owner per action · Review outcomes at next weekly sync</a:t>
            </a:r>
            <a:endParaRPr lang="en-US" sz="13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92392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From Findings to Hypotheses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8382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838200" y="20828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648200" y="20828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H1 · TOPIC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1430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Cultural-calendar posts draw more views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1430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Dec 25, Dec 31 and Jan 1: 306 to 328 views, vs a median of 172 views per day in Dec – Jan.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10083800" y="20828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H2 · TOPIC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Reference content gets saved more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Saves +67% this week (1.3% of views): posts are kept as study material.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8382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8382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6482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H3 · DAY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1430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Sunday carries the key post better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1430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Sunday median: 173 views, vs 144 to 160 on other days (Oct – Feb). Small gap, to be confirmed.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100838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H4 · TIME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Evening posts reach a more available audience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The dashboard only holds daily totals: a hypothesis drawn from audience habits (students, workers), to be tested.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6172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Each hypothesis starts from a finding and is checked by one metric · Excel dashboard, 10/2024 – 02/2025</a:t>
            </a:r>
            <a:endParaRPr lang="en-US" sz="13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A/B Test Plan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2768000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Hypothesis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Version A vs version B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Decision rule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H1 · Topic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Festival post vs news post, same format, same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48h views per post · Lantern, Qingming, May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Adopt the cultural calendar if A beats B at every festival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H2 · Topic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Glossary carousel vs news post on the same subject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Save rate per post · 4 weeks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One carousel per week if A wins 3 weeks out of 4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H3 ·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Same key post on Sunday vs Friday, alternating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7-day views per post · 4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Key post moved to Sunday if the gap exceeds 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H4 · Time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Same format posted at 12pm vs 8pm, alternating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24h views and new followers · 2 weeks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Keep the slot that wins on both metrics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838200" y="5537200"/>
            <a:ext cx="105156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5664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One variable changes at a time · Measured per post in each note's analytics (the dashboard only holds daily totals)</a:t>
            </a:r>
            <a:endParaRPr lang="en-US" sz="13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Follow-Up: Week of Feb 3 – 9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8382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8382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6482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CONFIRMED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1430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The predicted dip happened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1430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1,310 views (−57%) and 13 new followers vs 47: without the holiday effect, volume falls back.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100838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MET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The save rate held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19 saves, i.e. 1.45% of views (target ≥ 1.3%), and a 6.1% engagement rate: the audience that stayed is loyal.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8382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8382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6482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MISSED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1430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Glossary test: target missed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1430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Thursday Feb 6: 3 saves vs a 5.7 target. The target came from the holiday week; the result matches an ordinary Thursday (3).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100838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REVIEW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Lantern effect came late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Feb 12: 176 views; Feb 13: 355, twice the median. The peak came a day later: test the day and time (H3, H4).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6172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Read from the Excel dashboard's daily totals: a post is not isolated from the day's other posts</a:t>
            </a:r>
            <a:endParaRPr lang="en-US" sz="13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 [1780680433428]">
  <a:themeElements>
    <a:clrScheme name="Office">
      <a:dk1>
        <a:srgbClr val="1A1A2E"/>
      </a:dk1>
      <a:lt1>
        <a:srgbClr val="FFFFFF"/>
      </a:lt1>
      <a:dk2>
        <a:srgbClr val="2B2D42"/>
      </a:dk2>
      <a:lt2>
        <a:srgbClr val="FBF7F2"/>
      </a:lt2>
      <a:accent1>
        <a:srgbClr val="C8102E"/>
      </a:accent1>
      <a:accent2>
        <a:srgbClr val="F4A300"/>
      </a:accent2>
      <a:accent3>
        <a:srgbClr val="2B2D42"/>
      </a:accent3>
      <a:accent4>
        <a:srgbClr val="E8825A"/>
      </a:accent4>
      <a:accent5>
        <a:srgbClr val="3A7D8C"/>
      </a:accent5>
      <a:accent6>
        <a:srgbClr val="6B7280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F86862-D519-40AA-91B8-2CE1ACBDEE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1fb6c2b-a2f1-40e7-a5dd-7f025dc0ee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450</Words>
  <Application>Microsoft Office PowerPoint</Application>
  <PresentationFormat>Grand écran</PresentationFormat>
  <Paragraphs>105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Thème Office [1780680433428]</vt:lpstr>
      <vt:lpstr>ENGOO · XIAOHONGSHU  |  WEEKLY SOCIAL PERFORMANCE</vt:lpstr>
      <vt:lpstr>Executive Summary</vt:lpstr>
      <vt:lpstr>KPI Scorecard</vt:lpstr>
      <vt:lpstr>Content Highlights</vt:lpstr>
      <vt:lpstr>What Drove the Week</vt:lpstr>
      <vt:lpstr>Recommendations</vt:lpstr>
      <vt:lpstr>Next Week — Action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Yu-Ting</dc:creator>
  <cp:lastModifiedBy>TSENG Yu-Ting</cp:lastModifiedBy>
  <cp:revision>11</cp:revision>
  <dcterms:created xsi:type="dcterms:W3CDTF">2026-06-05T16:38:19Z</dcterms:created>
  <dcterms:modified xsi:type="dcterms:W3CDTF">2026-10-23T06:14:15Z</dcterms:modified>
</cp:coreProperties>
</file>