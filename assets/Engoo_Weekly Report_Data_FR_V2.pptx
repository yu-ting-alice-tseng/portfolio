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31" r:id="rId2"/>
    <p:sldId id="327" r:id="rId3"/>
    <p:sldId id="325" r:id="rId4"/>
    <p:sldId id="329" r:id="rId6"/>
    <p:sldId id="332" r:id="rId13"/>
    <p:sldId id="333" r:id="rId14"/>
    <p:sldId id="334" r:id="rId15"/>
    <p:sldId id="320" r:id="rId7"/>
    <p:sldId id="330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0D23"/>
    <a:srgbClr val="9E0D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7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Vues</c:v>
                </c:pt>
              </c:strCache>
            </c:strRef>
          </c:tx>
          <c:spPr>
            <a:solidFill>
              <a:srgbClr val="C8102E"/>
            </a:solidFill>
          </c:spPr>
          <c:invertIfNegative val="1"/>
          <c:dPt>
            <c:idx val="24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c:spPr>
          </c:dPt>
          <c:dPt>
            <c:idx val="3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c:spPr>
          </c:dPt>
          <c:dPt>
            <c:idx val="31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c:spPr>
          </c:dPt>
          <c:dPt>
            <c:idx val="58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c:spPr>
          </c:dPt>
          <c:dPt>
            <c:idx val="59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c:spPr>
          </c:dPt>
          <c:cat>
            <c:strRef>
              <c:f>Sheet1!$A$2:$A$63</c:f>
              <c:strCache>
                <c:ptCount val="62"/>
                <c:pt idx="0">
                  <c:v>1 déc.</c:v>
                </c:pt>
                <c:pt idx="1">
                  <c:v>2 déc.</c:v>
                </c:pt>
                <c:pt idx="2">
                  <c:v>3 déc.</c:v>
                </c:pt>
                <c:pt idx="3">
                  <c:v>4 déc.</c:v>
                </c:pt>
                <c:pt idx="4">
                  <c:v>5 déc.</c:v>
                </c:pt>
                <c:pt idx="5">
                  <c:v>6 déc.</c:v>
                </c:pt>
                <c:pt idx="6">
                  <c:v>7 déc.</c:v>
                </c:pt>
                <c:pt idx="7">
                  <c:v>8 déc.</c:v>
                </c:pt>
                <c:pt idx="8">
                  <c:v>9 déc.</c:v>
                </c:pt>
                <c:pt idx="9">
                  <c:v>10 déc.</c:v>
                </c:pt>
                <c:pt idx="10">
                  <c:v>11 déc.</c:v>
                </c:pt>
                <c:pt idx="11">
                  <c:v>12 déc.</c:v>
                </c:pt>
                <c:pt idx="12">
                  <c:v>13 déc.</c:v>
                </c:pt>
                <c:pt idx="13">
                  <c:v>14 déc.</c:v>
                </c:pt>
                <c:pt idx="14">
                  <c:v>15 déc.</c:v>
                </c:pt>
                <c:pt idx="15">
                  <c:v>16 déc.</c:v>
                </c:pt>
                <c:pt idx="16">
                  <c:v>17 déc.</c:v>
                </c:pt>
                <c:pt idx="17">
                  <c:v>18 déc.</c:v>
                </c:pt>
                <c:pt idx="18">
                  <c:v>19 déc.</c:v>
                </c:pt>
                <c:pt idx="19">
                  <c:v>20 déc.</c:v>
                </c:pt>
                <c:pt idx="20">
                  <c:v>21 déc.</c:v>
                </c:pt>
                <c:pt idx="21">
                  <c:v>22 déc.</c:v>
                </c:pt>
                <c:pt idx="22">
                  <c:v>23 déc.</c:v>
                </c:pt>
                <c:pt idx="23">
                  <c:v>24 déc.</c:v>
                </c:pt>
                <c:pt idx="24">
                  <c:v>25 déc.</c:v>
                </c:pt>
                <c:pt idx="25">
                  <c:v>26 déc.</c:v>
                </c:pt>
                <c:pt idx="26">
                  <c:v>27 déc.</c:v>
                </c:pt>
                <c:pt idx="27">
                  <c:v>28 déc.</c:v>
                </c:pt>
                <c:pt idx="28">
                  <c:v>29 déc.</c:v>
                </c:pt>
                <c:pt idx="29">
                  <c:v>30 déc.</c:v>
                </c:pt>
                <c:pt idx="30">
                  <c:v>31 déc.</c:v>
                </c:pt>
                <c:pt idx="31">
                  <c:v>1 janv.</c:v>
                </c:pt>
                <c:pt idx="32">
                  <c:v>2 janv.</c:v>
                </c:pt>
                <c:pt idx="33">
                  <c:v>3 janv.</c:v>
                </c:pt>
                <c:pt idx="34">
                  <c:v>4 janv.</c:v>
                </c:pt>
                <c:pt idx="35">
                  <c:v>5 janv.</c:v>
                </c:pt>
                <c:pt idx="36">
                  <c:v>6 janv.</c:v>
                </c:pt>
                <c:pt idx="37">
                  <c:v>7 janv.</c:v>
                </c:pt>
                <c:pt idx="38">
                  <c:v>8 janv.</c:v>
                </c:pt>
                <c:pt idx="39">
                  <c:v>9 janv.</c:v>
                </c:pt>
                <c:pt idx="40">
                  <c:v>10 janv.</c:v>
                </c:pt>
                <c:pt idx="41">
                  <c:v>11 janv.</c:v>
                </c:pt>
                <c:pt idx="42">
                  <c:v>12 janv.</c:v>
                </c:pt>
                <c:pt idx="43">
                  <c:v>13 janv.</c:v>
                </c:pt>
                <c:pt idx="44">
                  <c:v>14 janv.</c:v>
                </c:pt>
                <c:pt idx="45">
                  <c:v>15 janv.</c:v>
                </c:pt>
                <c:pt idx="46">
                  <c:v>16 janv.</c:v>
                </c:pt>
                <c:pt idx="47">
                  <c:v>17 janv.</c:v>
                </c:pt>
                <c:pt idx="48">
                  <c:v>18 janv.</c:v>
                </c:pt>
                <c:pt idx="49">
                  <c:v>19 janv.</c:v>
                </c:pt>
                <c:pt idx="50">
                  <c:v>20 janv.</c:v>
                </c:pt>
                <c:pt idx="51">
                  <c:v>21 janv.</c:v>
                </c:pt>
                <c:pt idx="52">
                  <c:v>22 janv.</c:v>
                </c:pt>
                <c:pt idx="53">
                  <c:v>23 janv.</c:v>
                </c:pt>
                <c:pt idx="54">
                  <c:v>24 janv.</c:v>
                </c:pt>
                <c:pt idx="55">
                  <c:v>25 janv.</c:v>
                </c:pt>
                <c:pt idx="56">
                  <c:v>26 janv.</c:v>
                </c:pt>
                <c:pt idx="57">
                  <c:v>27 janv.</c:v>
                </c:pt>
                <c:pt idx="58">
                  <c:v>28 janv.</c:v>
                </c:pt>
                <c:pt idx="59">
                  <c:v>29 janv.</c:v>
                </c:pt>
                <c:pt idx="60">
                  <c:v>30 janv.</c:v>
                </c:pt>
                <c:pt idx="61">
                  <c:v>31 janv.</c:v>
                </c:pt>
              </c:strCache>
            </c:str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171</c:v>
                </c:pt>
                <c:pt idx="1">
                  <c:v>122</c:v>
                </c:pt>
                <c:pt idx="2">
                  <c:v>127</c:v>
                </c:pt>
                <c:pt idx="3">
                  <c:v>126</c:v>
                </c:pt>
                <c:pt idx="4">
                  <c:v>135</c:v>
                </c:pt>
                <c:pt idx="5">
                  <c:v>149</c:v>
                </c:pt>
                <c:pt idx="6">
                  <c:v>153</c:v>
                </c:pt>
                <c:pt idx="7">
                  <c:v>183</c:v>
                </c:pt>
                <c:pt idx="8">
                  <c:v>111</c:v>
                </c:pt>
                <c:pt idx="9">
                  <c:v>126</c:v>
                </c:pt>
                <c:pt idx="10">
                  <c:v>241</c:v>
                </c:pt>
                <c:pt idx="11">
                  <c:v>285</c:v>
                </c:pt>
                <c:pt idx="12">
                  <c:v>189</c:v>
                </c:pt>
                <c:pt idx="13">
                  <c:v>141</c:v>
                </c:pt>
                <c:pt idx="14">
                  <c:v>158</c:v>
                </c:pt>
                <c:pt idx="15">
                  <c:v>151</c:v>
                </c:pt>
                <c:pt idx="16">
                  <c:v>155</c:v>
                </c:pt>
                <c:pt idx="17">
                  <c:v>152</c:v>
                </c:pt>
                <c:pt idx="18">
                  <c:v>153</c:v>
                </c:pt>
                <c:pt idx="19">
                  <c:v>126</c:v>
                </c:pt>
                <c:pt idx="20">
                  <c:v>198</c:v>
                </c:pt>
                <c:pt idx="21">
                  <c:v>178</c:v>
                </c:pt>
                <c:pt idx="22">
                  <c:v>204</c:v>
                </c:pt>
                <c:pt idx="23">
                  <c:v>237</c:v>
                </c:pt>
                <c:pt idx="24">
                  <c:v>321</c:v>
                </c:pt>
                <c:pt idx="25">
                  <c:v>240</c:v>
                </c:pt>
                <c:pt idx="26">
                  <c:v>130</c:v>
                </c:pt>
                <c:pt idx="27">
                  <c:v>176</c:v>
                </c:pt>
                <c:pt idx="28">
                  <c:v>178</c:v>
                </c:pt>
                <c:pt idx="29">
                  <c:v>279</c:v>
                </c:pt>
                <c:pt idx="30">
                  <c:v>328</c:v>
                </c:pt>
                <c:pt idx="31">
                  <c:v>306</c:v>
                </c:pt>
                <c:pt idx="32">
                  <c:v>148</c:v>
                </c:pt>
                <c:pt idx="33">
                  <c:v>175</c:v>
                </c:pt>
                <c:pt idx="34">
                  <c:v>174</c:v>
                </c:pt>
                <c:pt idx="35">
                  <c:v>173</c:v>
                </c:pt>
                <c:pt idx="36">
                  <c:v>155</c:v>
                </c:pt>
                <c:pt idx="37">
                  <c:v>184</c:v>
                </c:pt>
                <c:pt idx="38">
                  <c:v>140</c:v>
                </c:pt>
                <c:pt idx="39">
                  <c:v>161</c:v>
                </c:pt>
                <c:pt idx="40">
                  <c:v>163</c:v>
                </c:pt>
                <c:pt idx="41">
                  <c:v>206</c:v>
                </c:pt>
                <c:pt idx="42">
                  <c:v>226</c:v>
                </c:pt>
                <c:pt idx="43">
                  <c:v>171</c:v>
                </c:pt>
                <c:pt idx="44">
                  <c:v>181</c:v>
                </c:pt>
                <c:pt idx="45">
                  <c:v>151</c:v>
                </c:pt>
                <c:pt idx="46">
                  <c:v>166</c:v>
                </c:pt>
                <c:pt idx="47">
                  <c:v>178</c:v>
                </c:pt>
                <c:pt idx="48">
                  <c:v>214</c:v>
                </c:pt>
                <c:pt idx="49">
                  <c:v>179</c:v>
                </c:pt>
                <c:pt idx="50">
                  <c:v>173</c:v>
                </c:pt>
                <c:pt idx="51">
                  <c:v>174</c:v>
                </c:pt>
                <c:pt idx="52">
                  <c:v>177</c:v>
                </c:pt>
                <c:pt idx="53">
                  <c:v>517</c:v>
                </c:pt>
                <c:pt idx="54">
                  <c:v>185</c:v>
                </c:pt>
                <c:pt idx="55">
                  <c:v>240</c:v>
                </c:pt>
                <c:pt idx="56">
                  <c:v>582</c:v>
                </c:pt>
                <c:pt idx="57">
                  <c:v>436</c:v>
                </c:pt>
                <c:pt idx="58">
                  <c:v>523</c:v>
                </c:pt>
                <c:pt idx="59">
                  <c:v>450</c:v>
                </c:pt>
                <c:pt idx="60">
                  <c:v>516</c:v>
                </c:pt>
                <c:pt idx="61">
                  <c:v>413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7E4-4EDE-829C-F87658C2AF63}"/>
            </c:ext>
          </c:extLst>
        </c:ser>
        <c:gapWidth val="4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0"/>
          <a:lstStyle/>
          <a:p>
            <a:pPr>
              <a:defRPr sz="900"/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7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  <c:spPr>
    <a:ln>
      <a:noFill/>
    </a:ln>
  </c:sp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A782A0-30E2-C156-CFBC-C959B1FEB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05EA457-22D3-D0DE-8551-20380F888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altLang="zh-TW"/>
              <a:t>Modifiez le style des sous-titres du masque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162023-06EB-6AF3-621F-D3C272D6F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BD87E1-77E0-24C3-B245-34735914A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0A7955-30B6-46EA-55A8-441BFDCB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878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HeaderBand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A50D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1" name="HeaderGold"/>
          <p:cNvSpPr/>
          <p:nvPr/>
        </p:nvSpPr>
        <p:spPr>
          <a:xfrm>
            <a:off x="0" y="1524000"/>
            <a:ext cx="12192000" cy="762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2" name="HeaderAccent"/>
          <p:cNvSpPr/>
          <p:nvPr/>
        </p:nvSpPr>
        <p:spPr>
          <a:xfrm>
            <a:off x="0" y="0"/>
            <a:ext cx="177800" cy="1524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209B077-7621-FFE1-EE94-80C87BBE1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B3493B-3CA9-00D0-0086-EF94FBFD3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FA6384-8AFD-2E89-7ABE-60C467EE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4F59CA-1F3B-AB78-4A89-7BBC9E777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86E9F5-FFB5-567A-0F42-D256C292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84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17FF3D-2EFB-9341-0539-65FA01520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BD049B4-FD94-58C3-1577-B96239C31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92803F-5A41-4504-43E5-253B0A92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BBDCC3-B904-ADE6-E03D-3198F44F7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F2B01-125C-80FB-3950-0C660450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6296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0E786B-F5D7-6225-738E-CD6F7B84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0A8228-0798-FAD8-D29F-23DBE32B11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118A7DE-D6DF-CA1A-366F-0BA327873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CBA178-AC1D-AF9C-58CE-344C15693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FB9D48-7149-FB8A-8C72-33021C50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35249D-C0F2-4674-B508-610DE7CD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27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F0F125-2DF8-C1BB-D03D-CAC7E54D7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0BECB3-3AC4-6D87-905B-4736E09F2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449CF12-A3EB-E2DC-08AB-00093F160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5CB1A26-1E35-E682-937F-8C34E2230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8185A9C-92DA-80AE-70BD-8622DE5765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CA66921-C209-5532-638A-12D0D7832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94D078A-68DE-4011-1B94-D014A727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1589B5C-B7C7-EA67-4051-76D21053C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2343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HeaderBand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A50D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1" name="HeaderGold"/>
          <p:cNvSpPr/>
          <p:nvPr/>
        </p:nvSpPr>
        <p:spPr>
          <a:xfrm>
            <a:off x="0" y="1524000"/>
            <a:ext cx="12192000" cy="762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2" name="HeaderAccent"/>
          <p:cNvSpPr/>
          <p:nvPr/>
        </p:nvSpPr>
        <p:spPr>
          <a:xfrm>
            <a:off x="0" y="0"/>
            <a:ext cx="177800" cy="1524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81DC9D-B75B-36F4-4CBE-A3297A41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B94CAEF-A751-E884-0AF2-30B0A8D7D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8AADDE3-9436-308F-168C-F346A7842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4A42E11-92C9-1955-F52D-B1CDBDB8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65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02DB7EB-0D4E-CE5A-A7B4-D1FDAE87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FB80BFD-8FA0-2F80-9E25-EB6969CA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D31B7A-B68F-A11E-C396-AEFB5285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91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9BFE90-0B3B-2F34-E0EC-0664DE483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7A82D1-07DA-4F41-BC58-79016FE15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892DBDE-68D4-28E9-7865-F9E5985CD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598812-8040-AE1D-FF32-426376E95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1EA53B8-00C7-0C28-3108-C00B2B89E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8A805C-9039-9A17-05EA-98D4F7C1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8258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1CB7A-9A8C-D80F-0D41-F5D44E44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22F2E8E-0899-0155-4656-F431111860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371931A-4F92-2ADF-8D48-16B082F33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27891B-F877-3DB7-676B-020CBCD3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6125F6-4D0D-0F9E-1262-48AEFCF34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7643CA-85A0-C19C-1FAD-84ADB695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4466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02BBD9-C103-7D39-4CC5-F6B1536D4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5004B08-9C7F-2BB9-7572-5B00A80F2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430FBF-4497-0357-2B8B-157369020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5AFA34-37D7-7C6F-7FF9-5FB9626D0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94D7F5-CE75-DFD1-7D56-25174AC5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850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8E9554E-D173-6E1C-5B7A-5B176EE62D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1DFBB09-246F-42EA-452B-0E1306B38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D0F0B7-A06A-8D35-7A30-355968351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5DA886-1141-E1A8-EC66-DD49BEE3C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753DCC-79A6-F866-6E7A-909EE181B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0380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546168-1C02-390E-D19F-E8F7C5F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7DB620-804D-B4E9-CE1D-B00B9EA63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63A12C-2B0A-500E-7E9D-C55A1F405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2B5687-96E3-C3BD-F440-AB63BC38E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96ACDC-678C-7B31-E99F-3C157DA87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  <p:sp>
        <p:nvSpPr>
          <p:cNvPr id="900" name="AccentBar"/>
          <p:cNvSpPr/>
          <p:nvPr/>
        </p:nvSpPr>
        <p:spPr>
          <a:xfrm>
            <a:off x="0" y="0"/>
            <a:ext cx="6096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1292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2D4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0D24"/>
            </a:gs>
            <a:gs pos="100000">
              <a:srgbClr val="6E07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ring950"/>
          <p:cNvSpPr/>
          <p:nvPr/>
        </p:nvSpPr>
        <p:spPr>
          <a:xfrm>
            <a:off x="10160000" y="381000"/>
            <a:ext cx="1778000" cy="1778000"/>
          </a:xfrm>
          <a:prstGeom prst="ellipse">
            <a:avLst/>
          </a:prstGeom>
          <a:noFill/>
          <a:ln w="2540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1" name="ring951"/>
          <p:cNvSpPr/>
          <p:nvPr/>
        </p:nvSpPr>
        <p:spPr>
          <a:xfrm>
            <a:off x="10477500" y="698500"/>
            <a:ext cx="1143000" cy="1143000"/>
          </a:xfrm>
          <a:prstGeom prst="ellipse">
            <a:avLst/>
          </a:prstGeom>
          <a:noFill/>
          <a:ln w="1905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4" name="dot954"/>
          <p:cNvSpPr/>
          <p:nvPr/>
        </p:nvSpPr>
        <p:spPr>
          <a:xfrm>
            <a:off x="10033000" y="2286000"/>
            <a:ext cx="228600" cy="2286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dot955"/>
          <p:cNvSpPr/>
          <p:nvPr/>
        </p:nvSpPr>
        <p:spPr>
          <a:xfrm>
            <a:off x="11557000" y="1524000"/>
            <a:ext cx="152400" cy="1524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ring952"/>
          <p:cNvSpPr/>
          <p:nvPr/>
        </p:nvSpPr>
        <p:spPr>
          <a:xfrm>
            <a:off x="229508" y="4923310"/>
            <a:ext cx="1778000" cy="1778000"/>
          </a:xfrm>
          <a:prstGeom prst="ellipse">
            <a:avLst/>
          </a:prstGeom>
          <a:noFill/>
          <a:ln w="2540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3" name="ring953"/>
          <p:cNvSpPr/>
          <p:nvPr/>
        </p:nvSpPr>
        <p:spPr>
          <a:xfrm>
            <a:off x="547008" y="5240810"/>
            <a:ext cx="1143000" cy="1143000"/>
          </a:xfrm>
          <a:prstGeom prst="ellipse">
            <a:avLst/>
          </a:prstGeom>
          <a:noFill/>
          <a:ln w="1905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6" name="dot956"/>
          <p:cNvSpPr/>
          <p:nvPr/>
        </p:nvSpPr>
        <p:spPr>
          <a:xfrm>
            <a:off x="2261508" y="5812310"/>
            <a:ext cx="228600" cy="2286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dot957"/>
          <p:cNvSpPr/>
          <p:nvPr/>
        </p:nvSpPr>
        <p:spPr>
          <a:xfrm>
            <a:off x="991508" y="4923310"/>
            <a:ext cx="152400" cy="1524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C4C6A9C-99E8-A192-C2DD-E64D4A09D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00" y="328185"/>
            <a:ext cx="9144000" cy="292100"/>
          </a:xfrm>
        </p:spPr>
        <p:txBody>
          <a:bodyPr>
            <a:normAutofit/>
          </a:bodyPr>
          <a:lstStyle/>
          <a:p>
            <a:pPr algn="ctr"/>
            <a:r>
              <a:rPr lang="en-US" sz="1400" b="1" dirty="0">
                <a:solidFill>
                  <a:srgbClr val="F4C430"/>
                </a:solidFill>
              </a:rPr>
              <a:t>ENGOO · XIAOHONGSHU  |  BILAN DE PERFORMANCE SOCIALE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3BE4F6D-8B17-4249-D6FE-55F3EE0F2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920"/>
            <a:ext cx="9144000" cy="1655762"/>
          </a:xfrm>
        </p:spPr>
        <p:txBody>
          <a:bodyPr>
            <a:noAutofit/>
          </a:bodyPr>
          <a:lstStyle/>
          <a:p>
            <a:pPr algn="ctr"/>
            <a:r>
              <a:rPr lang="en-US" sz="2000" b="1" dirty="0">
                <a:solidFill>
                  <a:srgbClr val="FFE9A8"/>
                </a:solidFill>
              </a:rPr>
              <a:t>Période : 1er déc. 2024 – 31 janv. 2025</a:t>
            </a:r>
          </a:p>
          <a:p>
            <a:pPr algn="ctr"/>
            <a:r>
              <a:rPr lang="en-US" sz="1600" dirty="0">
                <a:solidFill>
                  <a:srgbClr val="FBE3E5"/>
                </a:solidFill>
              </a:rPr>
              <a:t>Deux mois de pilotage : des données aux hypothèses, puis aux tests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7AED07-148B-43CC-B024-2629818852F5}"/>
              </a:ext>
            </a:extLst>
          </p:cNvPr>
          <p:cNvSpPr/>
          <p:nvPr/>
        </p:nvSpPr>
        <p:spPr>
          <a:xfrm>
            <a:off x="4635500" y="5649787"/>
            <a:ext cx="2540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pic>
        <p:nvPicPr>
          <p:cNvPr id="22" name="Graphique 21" descr="Serpent contour">
            <a:extLst>
              <a:ext uri="{FF2B5EF4-FFF2-40B4-BE49-F238E27FC236}">
                <a16:creationId xmlns:a16="http://schemas.microsoft.com/office/drawing/2014/main" id="{0FD45922-C970-9EEF-470A-EA3C885448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428" b="3446"/>
          <a:stretch>
            <a:fillRect/>
          </a:stretch>
        </p:blipFill>
        <p:spPr>
          <a:xfrm rot="2605941">
            <a:off x="4164695" y="656904"/>
            <a:ext cx="3731978" cy="3618865"/>
          </a:xfrm>
          <a:custGeom>
            <a:avLst/>
            <a:gdLst>
              <a:gd name="csX0" fmla="*/ 2412037 w 3731978"/>
              <a:gd name="csY0" fmla="*/ 3618865 h 3618865"/>
              <a:gd name="csX1" fmla="*/ 3731978 w 3731978"/>
              <a:gd name="csY1" fmla="*/ 2369246 h 3618865"/>
              <a:gd name="csX2" fmla="*/ 3731978 w 3731978"/>
              <a:gd name="csY2" fmla="*/ 3618865 h 3618865"/>
              <a:gd name="csX3" fmla="*/ 0 w 3731978"/>
              <a:gd name="csY3" fmla="*/ 0 h 3618865"/>
              <a:gd name="csX4" fmla="*/ 3731978 w 3731978"/>
              <a:gd name="csY4" fmla="*/ 0 h 3618865"/>
              <a:gd name="csX5" fmla="*/ 3731978 w 3731978"/>
              <a:gd name="csY5" fmla="*/ 407452 h 3618865"/>
              <a:gd name="csX6" fmla="*/ 339842 w 3731978"/>
              <a:gd name="csY6" fmla="*/ 3618865 h 3618865"/>
              <a:gd name="csX7" fmla="*/ 0 w 3731978"/>
              <a:gd name="csY7" fmla="*/ 3618865 h 3618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31978" h="3618865">
                <a:moveTo>
                  <a:pt x="2412037" y="3618865"/>
                </a:moveTo>
                <a:lnTo>
                  <a:pt x="3731978" y="2369246"/>
                </a:lnTo>
                <a:lnTo>
                  <a:pt x="3731978" y="3618865"/>
                </a:lnTo>
                <a:close/>
                <a:moveTo>
                  <a:pt x="0" y="0"/>
                </a:moveTo>
                <a:lnTo>
                  <a:pt x="3731978" y="0"/>
                </a:lnTo>
                <a:lnTo>
                  <a:pt x="3731978" y="407452"/>
                </a:lnTo>
                <a:lnTo>
                  <a:pt x="339842" y="3618865"/>
                </a:lnTo>
                <a:lnTo>
                  <a:pt x="0" y="3618865"/>
                </a:lnTo>
                <a:close/>
              </a:path>
            </a:pathLst>
          </a:cu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8EEA42D7-3074-85C7-D6A6-BE715463E056}"/>
              </a:ext>
            </a:extLst>
          </p:cNvPr>
          <p:cNvSpPr txBox="1">
            <a:spLocks/>
          </p:cNvSpPr>
          <p:nvPr/>
        </p:nvSpPr>
        <p:spPr>
          <a:xfrm>
            <a:off x="1524000" y="2592815"/>
            <a:ext cx="9144000" cy="76835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1A1A2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rgbClr val="FFFFFF"/>
                </a:solidFill>
              </a:rPr>
              <a:t>Garder l'élan entre deux fêtes</a:t>
            </a:r>
          </a:p>
        </p:txBody>
      </p:sp>
      <p:pic>
        <p:nvPicPr>
          <p:cNvPr id="25" name="Graphique 24" descr="Serpent contour">
            <a:extLst>
              <a:ext uri="{FF2B5EF4-FFF2-40B4-BE49-F238E27FC236}">
                <a16:creationId xmlns:a16="http://schemas.microsoft.com/office/drawing/2014/main" id="{FE965CA8-C1CF-6C31-2512-EA0B052D2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2605941">
            <a:off x="4106431" y="1144465"/>
            <a:ext cx="3748038" cy="3748038"/>
          </a:xfrm>
          <a:custGeom>
            <a:avLst/>
            <a:gdLst>
              <a:gd name="csX0" fmla="*/ 487711 w 3748038"/>
              <a:gd name="csY0" fmla="*/ 3748038 h 3748038"/>
              <a:gd name="csX1" fmla="*/ 3748038 w 3748038"/>
              <a:gd name="csY1" fmla="*/ 661411 h 3748038"/>
              <a:gd name="csX2" fmla="*/ 3748038 w 3748038"/>
              <a:gd name="csY2" fmla="*/ 3748038 h 3748038"/>
              <a:gd name="csX3" fmla="*/ 0 w 3748038"/>
              <a:gd name="csY3" fmla="*/ 0 h 3748038"/>
              <a:gd name="csX4" fmla="*/ 2064998 w 3748038"/>
              <a:gd name="csY4" fmla="*/ 0 h 3748038"/>
              <a:gd name="csX5" fmla="*/ 0 w 3748038"/>
              <a:gd name="csY5" fmla="*/ 1954981 h 3748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748038" h="3748038">
                <a:moveTo>
                  <a:pt x="487711" y="3748038"/>
                </a:moveTo>
                <a:lnTo>
                  <a:pt x="3748038" y="661411"/>
                </a:lnTo>
                <a:lnTo>
                  <a:pt x="3748038" y="3748038"/>
                </a:lnTo>
                <a:close/>
                <a:moveTo>
                  <a:pt x="0" y="0"/>
                </a:moveTo>
                <a:lnTo>
                  <a:pt x="2064998" y="0"/>
                </a:lnTo>
                <a:lnTo>
                  <a:pt x="0" y="1954981"/>
                </a:lnTo>
                <a:close/>
              </a:path>
            </a:pathLst>
          </a:cu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8E84728F-B217-2A61-7B82-43D7CEB95D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888" t="66808" r="31241" b="16144"/>
          <a:stretch>
            <a:fillRect/>
          </a:stretch>
        </p:blipFill>
        <p:spPr>
          <a:xfrm>
            <a:off x="10638975" y="937785"/>
            <a:ext cx="840700" cy="738615"/>
          </a:xfrm>
          <a:prstGeom prst="rect">
            <a:avLst/>
          </a:prstGeom>
        </p:spPr>
      </p:pic>
      <p:pic>
        <p:nvPicPr>
          <p:cNvPr id="28" name="Image 27" descr="Announcing the Winners of Engoo's 2022 Halloween Costume Contest | Engoo  Blog">
            <a:extLst>
              <a:ext uri="{FF2B5EF4-FFF2-40B4-BE49-F238E27FC236}">
                <a16:creationId xmlns:a16="http://schemas.microsoft.com/office/drawing/2014/main" id="{4A48D0ED-2F7C-765C-E719-69068C616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7538" y="5546541"/>
            <a:ext cx="670392" cy="53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005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3F0BE7-76D6-9834-CD60-55103520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Synthèse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757346B-D271-49A5-987A-83EE90E98CE3}"/>
              </a:ext>
            </a:extLst>
          </p:cNvPr>
          <p:cNvSpPr/>
          <p:nvPr/>
        </p:nvSpPr>
        <p:spPr>
          <a:xfrm>
            <a:off x="762000" y="1879600"/>
            <a:ext cx="106680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25B3784-EEEE-4D9C-9BDB-83F0E316E455}"/>
              </a:ext>
            </a:extLst>
          </p:cNvPr>
          <p:cNvSpPr/>
          <p:nvPr/>
        </p:nvSpPr>
        <p:spPr>
          <a:xfrm>
            <a:off x="965200" y="20320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1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55EA1F2-5653-4985-990C-97EAB40140AC}"/>
              </a:ext>
            </a:extLst>
          </p:cNvPr>
          <p:cNvSpPr txBox="1"/>
          <p:nvPr/>
        </p:nvSpPr>
        <p:spPr>
          <a:xfrm>
            <a:off x="1727200" y="1993900"/>
            <a:ext cx="9499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13 460 vues en deux mois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50A473C-6AEE-4DCF-8B67-511C3D76994A}"/>
              </a:ext>
            </a:extLst>
          </p:cNvPr>
          <p:cNvSpPr txBox="1"/>
          <p:nvPr/>
        </p:nvSpPr>
        <p:spPr>
          <a:xfrm>
            <a:off x="1727200" y="22987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 dirty="0">
                <a:solidFill>
                  <a:srgbClr val="C8102E"/>
                </a:solidFill>
                <a:latin typeface="Poppins"/>
                <a:cs typeface="Poppins"/>
              </a:rPr>
              <a:t>217 vues par jour  ·  janvier +39 % vs décembre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A1A8B3F1-7DB2-45C0-B8DD-2F5B32872A58}"/>
              </a:ext>
            </a:extLst>
          </p:cNvPr>
          <p:cNvSpPr/>
          <p:nvPr/>
        </p:nvSpPr>
        <p:spPr>
          <a:xfrm>
            <a:off x="762000" y="2819400"/>
            <a:ext cx="10668000" cy="863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93A8583-8A18-4B36-9288-BF07FF07215B}"/>
              </a:ext>
            </a:extLst>
          </p:cNvPr>
          <p:cNvSpPr/>
          <p:nvPr/>
        </p:nvSpPr>
        <p:spPr>
          <a:xfrm>
            <a:off x="965200" y="29718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2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2175490-B236-46C7-AD13-9189EF5D3FDE}"/>
              </a:ext>
            </a:extLst>
          </p:cNvPr>
          <p:cNvSpPr txBox="1"/>
          <p:nvPr/>
        </p:nvSpPr>
        <p:spPr>
          <a:xfrm>
            <a:off x="1727200" y="2933700"/>
            <a:ext cx="9499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187 nouveaux abonnés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EE769D9-2FDB-4B2C-85FD-7EBC8297CE7C}"/>
              </a:ext>
            </a:extLst>
          </p:cNvPr>
          <p:cNvSpPr txBox="1"/>
          <p:nvPr/>
        </p:nvSpPr>
        <p:spPr>
          <a:xfrm>
            <a:off x="1727200" y="32385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 dirty="0">
                <a:solidFill>
                  <a:srgbClr val="C8102E"/>
                </a:solidFill>
                <a:latin typeface="Poppins"/>
                <a:cs typeface="Poppins"/>
              </a:rPr>
              <a:t>Pics les jours de fête : 12 le 25 déc., 11 le 1er janv.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7BBF506E-3077-47B3-9F76-4FB3641A2E03}"/>
              </a:ext>
            </a:extLst>
          </p:cNvPr>
          <p:cNvSpPr/>
          <p:nvPr/>
        </p:nvSpPr>
        <p:spPr>
          <a:xfrm>
            <a:off x="762000" y="3759200"/>
            <a:ext cx="106680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744EA7F-4BC7-4CF6-A693-F9E16FC0C56E}"/>
              </a:ext>
            </a:extLst>
          </p:cNvPr>
          <p:cNvSpPr/>
          <p:nvPr/>
        </p:nvSpPr>
        <p:spPr>
          <a:xfrm>
            <a:off x="965200" y="39116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3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AD878D2-D2E1-40FC-BE0C-BBB1A8BC49AB}"/>
              </a:ext>
            </a:extLst>
          </p:cNvPr>
          <p:cNvSpPr txBox="1"/>
          <p:nvPr/>
        </p:nvSpPr>
        <p:spPr>
          <a:xfrm>
            <a:off x="1727200" y="3873500"/>
            <a:ext cx="9499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Taux d'engagement stable à 5,7 %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58F2C64-23F6-46BE-AB01-58E4CE6E8C3D}"/>
              </a:ext>
            </a:extLst>
          </p:cNvPr>
          <p:cNvSpPr txBox="1"/>
          <p:nvPr/>
        </p:nvSpPr>
        <p:spPr>
          <a:xfrm>
            <a:off x="1727200" y="41783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 dirty="0">
                <a:solidFill>
                  <a:srgbClr val="C8102E"/>
                </a:solidFill>
                <a:latin typeface="Poppins"/>
                <a:cs typeface="Poppins"/>
              </a:rPr>
              <a:t>187 enregistrements  ·  65 commentaires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5564B6F4-C80B-4294-900E-6FCD0045A463}"/>
              </a:ext>
            </a:extLst>
          </p:cNvPr>
          <p:cNvSpPr/>
          <p:nvPr/>
        </p:nvSpPr>
        <p:spPr>
          <a:xfrm>
            <a:off x="762000" y="4699000"/>
            <a:ext cx="10668000" cy="863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BBFB6BE-7B99-4983-B706-544E3EA37DA1}"/>
              </a:ext>
            </a:extLst>
          </p:cNvPr>
          <p:cNvSpPr/>
          <p:nvPr/>
        </p:nvSpPr>
        <p:spPr>
          <a:xfrm>
            <a:off x="965200" y="48514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4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95C94BC-1A7F-4EBD-92BF-1885B699509B}"/>
              </a:ext>
            </a:extLst>
          </p:cNvPr>
          <p:cNvSpPr txBox="1"/>
          <p:nvPr/>
        </p:nvSpPr>
        <p:spPr>
          <a:xfrm>
            <a:off x="1727200" y="4813300"/>
            <a:ext cx="9499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Un creux après chaque fête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565FDDB-742A-44D1-9E82-3FC05AA49E33}"/>
              </a:ext>
            </a:extLst>
          </p:cNvPr>
          <p:cNvSpPr txBox="1"/>
          <p:nvPr/>
        </p:nvSpPr>
        <p:spPr>
          <a:xfrm>
            <a:off x="1727200" y="51181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 dirty="0">
                <a:solidFill>
                  <a:srgbClr val="C8102E"/>
                </a:solidFill>
                <a:latin typeface="Poppins"/>
                <a:cs typeface="Poppins"/>
              </a:rPr>
              <a:t>2 janv. : 148 vues et 1 abonné, contre 306 et 11 la veille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E4E25FF9-9ED1-4ADF-81E2-156DB1032DE3}"/>
              </a:ext>
            </a:extLst>
          </p:cNvPr>
          <p:cNvSpPr/>
          <p:nvPr/>
        </p:nvSpPr>
        <p:spPr>
          <a:xfrm>
            <a:off x="762000" y="5638800"/>
            <a:ext cx="106680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0F4B1B87-2655-4CCA-9AAC-19BE3CD15541}"/>
              </a:ext>
            </a:extLst>
          </p:cNvPr>
          <p:cNvSpPr/>
          <p:nvPr/>
        </p:nvSpPr>
        <p:spPr>
          <a:xfrm>
            <a:off x="965200" y="5791200"/>
            <a:ext cx="558800" cy="558800"/>
          </a:xfrm>
          <a:prstGeom prst="ellipse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TW" altLang="en-US" sz="2000" b="1" dirty="0">
                <a:solidFill>
                  <a:srgbClr val="7A0019"/>
                </a:solidFill>
                <a:latin typeface="Poppins"/>
                <a:cs typeface="Poppins"/>
              </a:rPr>
              <a:t>★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B349C35-2BA5-4544-8884-6179FAD48AF1}"/>
              </a:ext>
            </a:extLst>
          </p:cNvPr>
          <p:cNvSpPr txBox="1"/>
          <p:nvPr/>
        </p:nvSpPr>
        <p:spPr>
          <a:xfrm>
            <a:off x="1727200" y="5753100"/>
            <a:ext cx="9499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A8132B"/>
                </a:solidFill>
                <a:latin typeface="Poppins"/>
                <a:cs typeface="Poppins"/>
              </a:rPr>
              <a:t>À retenir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DA856A6-88CB-4B99-A49E-87FCE6854459}"/>
              </a:ext>
            </a:extLst>
          </p:cNvPr>
          <p:cNvSpPr txBox="1"/>
          <p:nvPr/>
        </p:nvSpPr>
        <p:spPr>
          <a:xfrm>
            <a:off x="1727200" y="60579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3A3A44"/>
                </a:solidFill>
              </a:rPr>
              <a:t>Les fêtes font les pics : l'enjeu est de garder l'audience entre deux fêtes.</a:t>
            </a:r>
          </a:p>
        </p:txBody>
      </p:sp>
    </p:spTree>
    <p:extLst>
      <p:ext uri="{BB962C8B-B14F-4D97-AF65-F5344CB8AC3E}">
        <p14:creationId xmlns:p14="http://schemas.microsoft.com/office/powerpoint/2010/main" val="4050364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47C511-7E5B-6A4C-75D5-E3E2996BF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Tableau de bord des KPI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8E2FB19-5B08-4EC0-BFB1-849EE1EC9D21}"/>
              </a:ext>
            </a:extLst>
          </p:cNvPr>
          <p:cNvSpPr/>
          <p:nvPr/>
        </p:nvSpPr>
        <p:spPr>
          <a:xfrm>
            <a:off x="762000" y="19050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620643-1E2C-4499-8223-62D850E73262}"/>
              </a:ext>
            </a:extLst>
          </p:cNvPr>
          <p:cNvSpPr txBox="1"/>
          <p:nvPr/>
        </p:nvSpPr>
        <p:spPr>
          <a:xfrm>
            <a:off x="990600" y="20269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Vues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63AFD5F-6EB7-4E14-8E41-C8B7F1FCB6A5}"/>
              </a:ext>
            </a:extLst>
          </p:cNvPr>
          <p:cNvSpPr txBox="1"/>
          <p:nvPr/>
        </p:nvSpPr>
        <p:spPr>
          <a:xfrm>
            <a:off x="990600" y="23114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C8102E"/>
                </a:solidFill>
                <a:latin typeface="Poppins"/>
                <a:cs typeface="Poppins"/>
              </a:rPr>
              <a:t>13 460</a:t>
            </a:r>
            <a:endParaRPr lang="zh-TW" altLang="en-US" sz="2800" b="1">
              <a:solidFill>
                <a:srgbClr val="C8102E"/>
              </a:solidFill>
              <a:latin typeface="Poppins"/>
              <a:cs typeface="Poppin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9F25297-0409-4671-A292-6F8B08DCC10F}"/>
              </a:ext>
            </a:extLst>
          </p:cNvPr>
          <p:cNvSpPr/>
          <p:nvPr/>
        </p:nvSpPr>
        <p:spPr>
          <a:xfrm>
            <a:off x="2692400" y="23495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 dirty="0">
                <a:solidFill>
                  <a:srgbClr val="196B24"/>
                </a:solidFill>
                <a:latin typeface="Calibri"/>
                <a:cs typeface="Calibri"/>
              </a:rPr>
              <a:t>▲ +39 %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2240592-22B7-46E3-825A-47D351EDBE72}"/>
              </a:ext>
            </a:extLst>
          </p:cNvPr>
          <p:cNvSpPr/>
          <p:nvPr/>
        </p:nvSpPr>
        <p:spPr>
          <a:xfrm>
            <a:off x="4419600" y="19050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B1776DE-380B-4FA5-805F-E93811DC04CE}"/>
              </a:ext>
            </a:extLst>
          </p:cNvPr>
          <p:cNvSpPr txBox="1"/>
          <p:nvPr/>
        </p:nvSpPr>
        <p:spPr>
          <a:xfrm>
            <a:off x="4648200" y="20269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Nouveaux abonnés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1160AAA-A214-416C-BC4F-01A8B32F2ED8}"/>
              </a:ext>
            </a:extLst>
          </p:cNvPr>
          <p:cNvSpPr txBox="1"/>
          <p:nvPr/>
        </p:nvSpPr>
        <p:spPr>
          <a:xfrm>
            <a:off x="4648200" y="23114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C8102E"/>
                </a:solidFill>
                <a:latin typeface="Poppins"/>
                <a:cs typeface="Poppins"/>
              </a:rPr>
              <a:t>187</a:t>
            </a:r>
            <a:endParaRPr lang="zh-TW" altLang="en-US" sz="2800" b="1">
              <a:solidFill>
                <a:srgbClr val="C8102E"/>
              </a:solidFill>
              <a:latin typeface="Poppins"/>
              <a:cs typeface="Poppins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D8D2222-C682-4609-B4D0-D3B144554039}"/>
              </a:ext>
            </a:extLst>
          </p:cNvPr>
          <p:cNvSpPr/>
          <p:nvPr/>
        </p:nvSpPr>
        <p:spPr>
          <a:xfrm>
            <a:off x="6350000" y="23495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  <a:latin typeface="Calibri"/>
                <a:cs typeface="Calibri"/>
              </a:rPr>
              <a:t>▲ +13 %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ACE850E8-FA82-41FD-BBB7-AD0A022E78BC}"/>
              </a:ext>
            </a:extLst>
          </p:cNvPr>
          <p:cNvSpPr/>
          <p:nvPr/>
        </p:nvSpPr>
        <p:spPr>
          <a:xfrm>
            <a:off x="8077200" y="19050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C7A5BB4-9625-4061-BB6A-AC8D10E694F1}"/>
              </a:ext>
            </a:extLst>
          </p:cNvPr>
          <p:cNvSpPr txBox="1"/>
          <p:nvPr/>
        </p:nvSpPr>
        <p:spPr>
          <a:xfrm>
            <a:off x="8305800" y="20269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Taux d'engagement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F420857-7F91-499F-8393-DF7CB454B014}"/>
              </a:ext>
            </a:extLst>
          </p:cNvPr>
          <p:cNvSpPr txBox="1"/>
          <p:nvPr/>
        </p:nvSpPr>
        <p:spPr>
          <a:xfrm>
            <a:off x="8305800" y="23114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1A1A2E"/>
                </a:solidFill>
                <a:latin typeface="Poppins"/>
                <a:cs typeface="Poppins"/>
              </a:rPr>
              <a:t>5,7 %</a:t>
            </a:r>
            <a:endParaRPr lang="zh-TW" altLang="en-US" sz="28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9A35F48-672F-4B64-8B9B-BB91077E0F89}"/>
              </a:ext>
            </a:extLst>
          </p:cNvPr>
          <p:cNvSpPr/>
          <p:nvPr/>
        </p:nvSpPr>
        <p:spPr>
          <a:xfrm>
            <a:off x="10007600" y="23495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400" b="1">
                <a:solidFill>
                  <a:srgbClr val="196B24"/>
                </a:solidFill>
                <a:latin typeface="Calibri"/>
                <a:ea typeface="Calibri"/>
                <a:cs typeface="Calibri"/>
              </a:rPr>
              <a:t>▲ +0,2 pt</a:t>
            </a:r>
            <a:endParaRPr lang="zh-TW" altLang="en-US" sz="1400" b="1">
              <a:solidFill>
                <a:srgbClr val="196B24"/>
              </a:solidFill>
              <a:latin typeface="Calibri"/>
              <a:cs typeface="Calibri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3B86BA3-CB8E-4905-9C08-FBB74272628A}"/>
              </a:ext>
            </a:extLst>
          </p:cNvPr>
          <p:cNvSpPr/>
          <p:nvPr/>
        </p:nvSpPr>
        <p:spPr>
          <a:xfrm>
            <a:off x="762000" y="31369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D930C86-A9F3-4345-8C8B-7803D151B817}"/>
              </a:ext>
            </a:extLst>
          </p:cNvPr>
          <p:cNvSpPr txBox="1"/>
          <p:nvPr/>
        </p:nvSpPr>
        <p:spPr>
          <a:xfrm>
            <a:off x="990600" y="32588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Enregistrements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2221BB9-59F2-479C-AE30-E549A72905BE}"/>
              </a:ext>
            </a:extLst>
          </p:cNvPr>
          <p:cNvSpPr txBox="1"/>
          <p:nvPr/>
        </p:nvSpPr>
        <p:spPr>
          <a:xfrm>
            <a:off x="990600" y="35433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1A1A2E"/>
                </a:solidFill>
                <a:latin typeface="Poppins"/>
                <a:cs typeface="Poppins"/>
              </a:rPr>
              <a:t>187</a:t>
            </a:r>
            <a:endParaRPr lang="zh-TW" altLang="en-US" sz="28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160988F-ED28-4C2E-BE6C-45515D97314F}"/>
              </a:ext>
            </a:extLst>
          </p:cNvPr>
          <p:cNvSpPr/>
          <p:nvPr/>
        </p:nvSpPr>
        <p:spPr>
          <a:xfrm>
            <a:off x="2692400" y="35814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  <a:latin typeface="Calibri"/>
                <a:cs typeface="Calibri"/>
              </a:rPr>
              <a:t>▲ +40 %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9C893AA-9C06-4E22-B806-CD2E68D9CF49}"/>
              </a:ext>
            </a:extLst>
          </p:cNvPr>
          <p:cNvSpPr/>
          <p:nvPr/>
        </p:nvSpPr>
        <p:spPr>
          <a:xfrm>
            <a:off x="4419600" y="31369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02DD2D9-7607-4216-9CD8-D3D958F37E08}"/>
              </a:ext>
            </a:extLst>
          </p:cNvPr>
          <p:cNvSpPr txBox="1"/>
          <p:nvPr/>
        </p:nvSpPr>
        <p:spPr>
          <a:xfrm>
            <a:off x="4648200" y="32588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Commentaires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A2DC342-82C4-4E81-A841-AFBA0356D0F3}"/>
              </a:ext>
            </a:extLst>
          </p:cNvPr>
          <p:cNvSpPr txBox="1"/>
          <p:nvPr/>
        </p:nvSpPr>
        <p:spPr>
          <a:xfrm>
            <a:off x="4648200" y="35433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 dirty="0">
                <a:solidFill>
                  <a:srgbClr val="1A1A2E"/>
                </a:solidFill>
                <a:latin typeface="Poppins"/>
                <a:cs typeface="Poppins"/>
              </a:rPr>
              <a:t>65</a:t>
            </a:r>
            <a:endParaRPr lang="zh-TW" altLang="en-US" sz="28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5E53546A-34CC-4D11-9A5C-22AC7229792F}"/>
              </a:ext>
            </a:extLst>
          </p:cNvPr>
          <p:cNvSpPr/>
          <p:nvPr/>
        </p:nvSpPr>
        <p:spPr>
          <a:xfrm>
            <a:off x="6350000" y="35814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 dirty="0">
                <a:solidFill>
                  <a:srgbClr val="196B24"/>
                </a:solidFill>
                <a:latin typeface="Calibri"/>
                <a:cs typeface="Calibri"/>
              </a:rPr>
              <a:t>▲ +41 %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251E108D-C3D2-4C76-B9B7-13860BB6F439}"/>
              </a:ext>
            </a:extLst>
          </p:cNvPr>
          <p:cNvSpPr/>
          <p:nvPr/>
        </p:nvSpPr>
        <p:spPr>
          <a:xfrm>
            <a:off x="8077200" y="31369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C884E1A-9387-42FC-B5C3-128A13D8B10B}"/>
              </a:ext>
            </a:extLst>
          </p:cNvPr>
          <p:cNvSpPr txBox="1"/>
          <p:nvPr/>
        </p:nvSpPr>
        <p:spPr>
          <a:xfrm>
            <a:off x="8305800" y="32588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Temps de visionnage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0912550-550C-48BB-83EB-B41D730E6897}"/>
              </a:ext>
            </a:extLst>
          </p:cNvPr>
          <p:cNvSpPr txBox="1"/>
          <p:nvPr/>
        </p:nvSpPr>
        <p:spPr>
          <a:xfrm>
            <a:off x="8305800" y="35433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2800" b="1" dirty="0">
                <a:solidFill>
                  <a:srgbClr val="1A1A2E"/>
                </a:solidFill>
                <a:latin typeface="Poppins"/>
                <a:cs typeface="Poppins"/>
              </a:rPr>
              <a:t>95 h</a:t>
            </a:r>
            <a:endParaRPr lang="zh-TW" altLang="en-US" sz="28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3DDC2291-CFBD-4B16-BF66-B9698FF550C7}"/>
              </a:ext>
            </a:extLst>
          </p:cNvPr>
          <p:cNvSpPr/>
          <p:nvPr/>
        </p:nvSpPr>
        <p:spPr>
          <a:xfrm>
            <a:off x="10007600" y="35814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  <a:latin typeface="Calibri"/>
                <a:cs typeface="Calibri"/>
              </a:rPr>
              <a:t>▲ +39 %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F4ED926-B44C-49FF-998E-C2F47D881308}"/>
              </a:ext>
            </a:extLst>
          </p:cNvPr>
          <p:cNvSpPr txBox="1"/>
          <p:nvPr/>
        </p:nvSpPr>
        <p:spPr>
          <a:xfrm>
            <a:off x="762000" y="63246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400" i="1" dirty="0">
                <a:solidFill>
                  <a:srgbClr val="6B7280"/>
                </a:solidFill>
              </a:rPr>
              <a:t>Vues par jour du 1er déc. 2024 au 31 janv. 2025 (en jaune : 25 déc., 31 déc., 1er janv., 28 et 29 janv.)  ·  variations des KPI : janvier vs décembre</a:t>
            </a:r>
            <a:endParaRPr lang="zh-TW" altLang="en-US" sz="1400" i="1" dirty="0">
              <a:solidFill>
                <a:srgbClr val="6B728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457A9F-DFE5-43B3-B977-78C1426D24C8}"/>
              </a:ext>
            </a:extLst>
          </p:cNvPr>
          <p:cNvSpPr/>
          <p:nvPr/>
        </p:nvSpPr>
        <p:spPr>
          <a:xfrm>
            <a:off x="762000" y="19050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597592-1691-4BE8-AEA5-2D61E844A16A}"/>
              </a:ext>
            </a:extLst>
          </p:cNvPr>
          <p:cNvSpPr/>
          <p:nvPr/>
        </p:nvSpPr>
        <p:spPr>
          <a:xfrm>
            <a:off x="4419600" y="19050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7B87B2-C084-4658-A623-41D2EDDEA355}"/>
              </a:ext>
            </a:extLst>
          </p:cNvPr>
          <p:cNvSpPr/>
          <p:nvPr/>
        </p:nvSpPr>
        <p:spPr>
          <a:xfrm>
            <a:off x="8077200" y="19050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49422B-8A96-4E2C-98FE-59DF39F7400F}"/>
              </a:ext>
            </a:extLst>
          </p:cNvPr>
          <p:cNvSpPr/>
          <p:nvPr/>
        </p:nvSpPr>
        <p:spPr>
          <a:xfrm>
            <a:off x="762000" y="31369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B8C831-5C81-422C-9AF9-13FFDF5CC3B3}"/>
              </a:ext>
            </a:extLst>
          </p:cNvPr>
          <p:cNvSpPr/>
          <p:nvPr/>
        </p:nvSpPr>
        <p:spPr>
          <a:xfrm>
            <a:off x="4419600" y="31369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049B33-2CEC-4A4C-B62A-0FDF9A7E653F}"/>
              </a:ext>
            </a:extLst>
          </p:cNvPr>
          <p:cNvSpPr/>
          <p:nvPr/>
        </p:nvSpPr>
        <p:spPr>
          <a:xfrm>
            <a:off x="8077200" y="31369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graphicFrame>
        <p:nvGraphicFramePr>
          <p:cNvPr id="201" name="Daily Trend Chart"/>
          <p:cNvGraphicFramePr/>
          <p:nvPr>
            <p:extLst>
              <p:ext uri="{D42A27DB-BD31-4B8C-83A1-F6EECF244321}">
                <p14:modId xmlns:p14="http://schemas.microsoft.com/office/powerpoint/2010/main" val="1771525519"/>
              </p:ext>
            </p:extLst>
          </p:nvPr>
        </p:nvGraphicFramePr>
        <p:xfrm>
          <a:off x="762000" y="4292600"/>
          <a:ext cx="10668000" cy="200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29620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B1EE8E-5EA8-75CA-BF44-31EF69AD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Ce que disent les données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3294660-46E7-4FF0-BF4B-0E5F4A5D71F9}"/>
              </a:ext>
            </a:extLst>
          </p:cNvPr>
          <p:cNvSpPr/>
          <p:nvPr/>
        </p:nvSpPr>
        <p:spPr>
          <a:xfrm>
            <a:off x="762000" y="19050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ACDEAD-E3FF-4BB5-800D-3FDE834E269D}"/>
              </a:ext>
            </a:extLst>
          </p:cNvPr>
          <p:cNvSpPr/>
          <p:nvPr/>
        </p:nvSpPr>
        <p:spPr>
          <a:xfrm>
            <a:off x="762000" y="2082800"/>
            <a:ext cx="76200" cy="15494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CB82E14-6CC4-43F7-BC11-F4B9B0998E40}"/>
              </a:ext>
            </a:extLst>
          </p:cNvPr>
          <p:cNvSpPr/>
          <p:nvPr/>
        </p:nvSpPr>
        <p:spPr>
          <a:xfrm>
            <a:off x="4445000" y="2082800"/>
            <a:ext cx="12700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196B24"/>
                </a:solidFill>
              </a:rPr>
              <a:t>RÉUSSI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A9A761-AF84-409F-BF4F-96766B6442F4}"/>
              </a:ext>
            </a:extLst>
          </p:cNvPr>
          <p:cNvSpPr txBox="1"/>
          <p:nvPr/>
        </p:nvSpPr>
        <p:spPr>
          <a:xfrm>
            <a:off x="1066800" y="20828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Une croissance qui s'accélère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79B5B9-5F2B-422B-AC64-8D341AD65A98}"/>
              </a:ext>
            </a:extLst>
          </p:cNvPr>
          <p:cNvSpPr txBox="1"/>
          <p:nvPr/>
        </p:nvSpPr>
        <p:spPr>
          <a:xfrm>
            <a:off x="1066800" y="28448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Janvier contre décembre : vues +39 %, interactions +44 %, enregistrements +40 %.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C772483-E4EB-4D1A-8368-229E30B1D59E}"/>
              </a:ext>
            </a:extLst>
          </p:cNvPr>
          <p:cNvSpPr/>
          <p:nvPr/>
        </p:nvSpPr>
        <p:spPr>
          <a:xfrm>
            <a:off x="6273800" y="19050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3A54E-0B28-4466-AE9A-ACF41BFCCAC5}"/>
              </a:ext>
            </a:extLst>
          </p:cNvPr>
          <p:cNvSpPr/>
          <p:nvPr/>
        </p:nvSpPr>
        <p:spPr>
          <a:xfrm>
            <a:off x="6273800" y="2082800"/>
            <a:ext cx="76200" cy="1549400"/>
          </a:xfrm>
          <a:prstGeom prst="rect">
            <a:avLst/>
          </a:prstGeom>
          <a:solidFill>
            <a:srgbClr val="F4A3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E514AE4-8E1B-4E88-ABEC-8210677EAB15}"/>
              </a:ext>
            </a:extLst>
          </p:cNvPr>
          <p:cNvSpPr/>
          <p:nvPr/>
        </p:nvSpPr>
        <p:spPr>
          <a:xfrm>
            <a:off x="9956800" y="2082800"/>
            <a:ext cx="12700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196B24"/>
                </a:solidFill>
              </a:rPr>
              <a:t>RÉUSSI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AAFE91-4755-416B-A767-BCD219DE739B}"/>
              </a:ext>
            </a:extLst>
          </p:cNvPr>
          <p:cNvSpPr txBox="1"/>
          <p:nvPr/>
        </p:nvSpPr>
        <p:spPr>
          <a:xfrm>
            <a:off x="6578600" y="20828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La qualité tient avec le volume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45189C8-050B-438D-801C-5A556271C93F}"/>
              </a:ext>
            </a:extLst>
          </p:cNvPr>
          <p:cNvSpPr txBox="1"/>
          <p:nvPr/>
        </p:nvSpPr>
        <p:spPr>
          <a:xfrm>
            <a:off x="6578600" y="28448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Taux d'engagement entre 5,1 et 6,7 % chaque semaine : plus de vues, sans audience moins attentive.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1F014CE7-B377-4D38-B59E-B6808BB868A0}"/>
              </a:ext>
            </a:extLst>
          </p:cNvPr>
          <p:cNvSpPr/>
          <p:nvPr/>
        </p:nvSpPr>
        <p:spPr>
          <a:xfrm>
            <a:off x="762000" y="41148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EBA7F-0412-4355-BD67-27D8DD39F378}"/>
              </a:ext>
            </a:extLst>
          </p:cNvPr>
          <p:cNvSpPr/>
          <p:nvPr/>
        </p:nvSpPr>
        <p:spPr>
          <a:xfrm>
            <a:off x="762000" y="4292600"/>
            <a:ext cx="76200" cy="1549400"/>
          </a:xfrm>
          <a:prstGeom prst="rect">
            <a:avLst/>
          </a:prstGeom>
          <a:solidFill>
            <a:srgbClr val="3A7D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54F0823-1284-4E42-9BED-F0E950EA261A}"/>
              </a:ext>
            </a:extLst>
          </p:cNvPr>
          <p:cNvSpPr/>
          <p:nvPr/>
        </p:nvSpPr>
        <p:spPr>
          <a:xfrm>
            <a:off x="4445000" y="4292600"/>
            <a:ext cx="12700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196B24"/>
                </a:solidFill>
              </a:rPr>
              <a:t>RÉUSSI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33362FF-9692-467C-BCDE-B12620F9C234}"/>
              </a:ext>
            </a:extLst>
          </p:cNvPr>
          <p:cNvSpPr txBox="1"/>
          <p:nvPr/>
        </p:nvSpPr>
        <p:spPr>
          <a:xfrm>
            <a:off x="1066800" y="42926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Les fêtes créent les pics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AC9B10B-3E23-4F88-AC21-20684F115ACC}"/>
              </a:ext>
            </a:extLst>
          </p:cNvPr>
          <p:cNvSpPr txBox="1"/>
          <p:nvPr/>
        </p:nvSpPr>
        <p:spPr>
          <a:xfrm>
            <a:off x="1066800" y="5054600"/>
            <a:ext cx="4648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25 déc. : 321 vues, 31 déc. : 328, 1er janv. : 306, contre une médiane de 177 vues par jour.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FA23EED-00DE-427F-9418-810C93DDD6D4}"/>
              </a:ext>
            </a:extLst>
          </p:cNvPr>
          <p:cNvSpPr/>
          <p:nvPr/>
        </p:nvSpPr>
        <p:spPr>
          <a:xfrm>
            <a:off x="6273800" y="41148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D6698F-A4BF-4643-AACD-FECD8FB67D91}"/>
              </a:ext>
            </a:extLst>
          </p:cNvPr>
          <p:cNvSpPr/>
          <p:nvPr/>
        </p:nvSpPr>
        <p:spPr>
          <a:xfrm>
            <a:off x="62738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6F207F0-7525-4DF8-BBA2-3528399A1702}"/>
              </a:ext>
            </a:extLst>
          </p:cNvPr>
          <p:cNvSpPr/>
          <p:nvPr/>
        </p:nvSpPr>
        <p:spPr>
          <a:xfrm>
            <a:off x="9956800" y="4292600"/>
            <a:ext cx="12700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8A5A00"/>
                </a:solidFill>
              </a:rPr>
              <a:t>À SURVEILLER</a:t>
            </a:r>
            <a:endParaRPr lang="zh-TW" altLang="en-US" sz="1200" b="1">
              <a:solidFill>
                <a:srgbClr val="8A5A0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8DAE924-AFA7-4A0F-BE20-4FA579C2EED4}"/>
              </a:ext>
            </a:extLst>
          </p:cNvPr>
          <p:cNvSpPr txBox="1"/>
          <p:nvPr/>
        </p:nvSpPr>
        <p:spPr>
          <a:xfrm>
            <a:off x="6578600" y="42926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L'audience repart le lendemain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C52A10A-64FE-4284-B040-902F62266209}"/>
              </a:ext>
            </a:extLst>
          </p:cNvPr>
          <p:cNvSpPr txBox="1"/>
          <p:nvPr/>
        </p:nvSpPr>
        <p:spPr>
          <a:xfrm>
            <a:off x="6578600" y="50546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1er janv. : 306 vues et 11 abonnés ; 2 janv. : 148 vues et 1 abonné. Même creux le 27 déc. (130 vues).</a:t>
            </a:r>
            <a:endParaRPr lang="zh-TW" altLang="en-US" sz="1400">
              <a:solidFill>
                <a:srgbClr val="2B2D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676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9F294C-6AE3-1367-DD15-A082DDC1A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Après les fêtes : garder l'audience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C5BAA9C5-06BF-412A-8590-5333B298BEE7}"/>
              </a:ext>
            </a:extLst>
          </p:cNvPr>
          <p:cNvSpPr/>
          <p:nvPr/>
        </p:nvSpPr>
        <p:spPr>
          <a:xfrm>
            <a:off x="762000" y="2032000"/>
            <a:ext cx="106680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02C96E92-F959-46CF-AABE-0E41F5E763BD}"/>
              </a:ext>
            </a:extLst>
          </p:cNvPr>
          <p:cNvSpPr/>
          <p:nvPr/>
        </p:nvSpPr>
        <p:spPr>
          <a:xfrm>
            <a:off x="965200" y="22479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1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555490F-3749-4D5C-99C4-C923507F4961}"/>
              </a:ext>
            </a:extLst>
          </p:cNvPr>
          <p:cNvSpPr txBox="1"/>
          <p:nvPr/>
        </p:nvSpPr>
        <p:spPr>
          <a:xfrm>
            <a:off x="1727200" y="2171700"/>
            <a:ext cx="9499600" cy="3462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1A1A2E"/>
                </a:solidFill>
                <a:latin typeface="Poppins"/>
                <a:cs typeface="Poppins"/>
              </a:rPr>
              <a:t>Prolonger chaque fête par une série de trois jours</a:t>
            </a:r>
            <a:endParaRPr lang="zh-TW" altLang="en-US" sz="16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472ACE2-D13C-4A1E-BCCD-B25D1CD131F8}"/>
              </a:ext>
            </a:extLst>
          </p:cNvPr>
          <p:cNvSpPr txBox="1"/>
          <p:nvPr/>
        </p:nvSpPr>
        <p:spPr>
          <a:xfrm>
            <a:off x="1727200" y="25019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3A3A44"/>
                </a:solidFill>
              </a:rPr>
              <a:t>Récapitulatif, vocabulaire, quiz de J+1 à J+3 (H3)  ·  suivi : vues de J+1 au-dessus de 177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4E1EF83-AEE3-4C65-BE32-C88751F432A2}"/>
              </a:ext>
            </a:extLst>
          </p:cNvPr>
          <p:cNvSpPr/>
          <p:nvPr/>
        </p:nvSpPr>
        <p:spPr>
          <a:xfrm>
            <a:off x="762000" y="3149600"/>
            <a:ext cx="10668000" cy="990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5370F2C-D940-4DC0-BFBA-5B70B82D88BA}"/>
              </a:ext>
            </a:extLst>
          </p:cNvPr>
          <p:cNvSpPr/>
          <p:nvPr/>
        </p:nvSpPr>
        <p:spPr>
          <a:xfrm>
            <a:off x="965200" y="33655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>
                <a:solidFill>
                  <a:srgbClr val="FFFFFF"/>
                </a:solidFill>
                <a:latin typeface="Poppins"/>
                <a:cs typeface="Poppins"/>
              </a:rPr>
              <a:t>2</a:t>
            </a:r>
            <a:endParaRPr lang="zh-TW" altLang="en-US" sz="20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99D4CED-BC29-4DC3-A42C-BC4C22678553}"/>
              </a:ext>
            </a:extLst>
          </p:cNvPr>
          <p:cNvSpPr txBox="1"/>
          <p:nvPr/>
        </p:nvSpPr>
        <p:spPr>
          <a:xfrm>
            <a:off x="1727200" y="3289300"/>
            <a:ext cx="9499600" cy="3462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1A1A2E"/>
                </a:solidFill>
                <a:latin typeface="Poppins"/>
                <a:cs typeface="Poppins"/>
              </a:rPr>
              <a:t>Relier les fêtes par un calendrier continu</a:t>
            </a:r>
            <a:endParaRPr lang="zh-TW" altLang="en-US" sz="16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9AAD0EE-393A-4EEB-9B26-E2AE141FF671}"/>
              </a:ext>
            </a:extLst>
          </p:cNvPr>
          <p:cNvSpPr txBox="1"/>
          <p:nvPr/>
        </p:nvSpPr>
        <p:spPr>
          <a:xfrm>
            <a:off x="1727200" y="36195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3A3A44"/>
                </a:solidFill>
              </a:rPr>
              <a:t>Lanternes, Saint-Valentin, Qingming, 1er mai : jamais plus de deux semaines sans temps fort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B8C3FE41-D6BE-4202-BD9D-2445732CFDE7}"/>
              </a:ext>
            </a:extLst>
          </p:cNvPr>
          <p:cNvSpPr/>
          <p:nvPr/>
        </p:nvSpPr>
        <p:spPr>
          <a:xfrm>
            <a:off x="762000" y="4267200"/>
            <a:ext cx="106680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BDBB9D8-072B-418D-A273-78B86F3C5BA2}"/>
              </a:ext>
            </a:extLst>
          </p:cNvPr>
          <p:cNvSpPr/>
          <p:nvPr/>
        </p:nvSpPr>
        <p:spPr>
          <a:xfrm>
            <a:off x="965200" y="44831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>
                <a:solidFill>
                  <a:srgbClr val="FFFFFF"/>
                </a:solidFill>
                <a:latin typeface="Poppins"/>
                <a:cs typeface="Poppins"/>
              </a:rPr>
              <a:t>3</a:t>
            </a:r>
            <a:endParaRPr lang="zh-TW" altLang="en-US" sz="20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C5FE9B5-258F-4790-8B63-33F6C6A9B96F}"/>
              </a:ext>
            </a:extLst>
          </p:cNvPr>
          <p:cNvSpPr txBox="1"/>
          <p:nvPr/>
        </p:nvSpPr>
        <p:spPr>
          <a:xfrm>
            <a:off x="1727200" y="4406900"/>
            <a:ext cx="9499600" cy="3462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1A1A2E"/>
                </a:solidFill>
                <a:latin typeface="Poppins"/>
                <a:cs typeface="Poppins"/>
              </a:rPr>
              <a:t>Donner un rendez-vous fixe aux nouveaux abonnés</a:t>
            </a:r>
            <a:endParaRPr lang="zh-TW" altLang="en-US" sz="16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16CC5DF-5A94-4444-A2BB-2130C9712A00}"/>
              </a:ext>
            </a:extLst>
          </p:cNvPr>
          <p:cNvSpPr txBox="1"/>
          <p:nvPr/>
        </p:nvSpPr>
        <p:spPr>
          <a:xfrm>
            <a:off x="1727200" y="47371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3A3A44"/>
                </a:solidFill>
              </a:rPr>
              <a:t>Post épinglé « commencez ici » et une série hebdomadaire  ·  suivi : abonnés hors jours de fête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5861290-1E5D-4D03-9CBD-F51096A9E9D3}"/>
              </a:ext>
            </a:extLst>
          </p:cNvPr>
          <p:cNvSpPr/>
          <p:nvPr/>
        </p:nvSpPr>
        <p:spPr>
          <a:xfrm>
            <a:off x="762000" y="5384800"/>
            <a:ext cx="10668000" cy="990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07CA9D2A-A764-4D20-AB0A-3246E9B44D2C}"/>
              </a:ext>
            </a:extLst>
          </p:cNvPr>
          <p:cNvSpPr/>
          <p:nvPr/>
        </p:nvSpPr>
        <p:spPr>
          <a:xfrm>
            <a:off x="965200" y="56007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>
                <a:solidFill>
                  <a:srgbClr val="FFFFFF"/>
                </a:solidFill>
                <a:latin typeface="Poppins"/>
                <a:cs typeface="Poppins"/>
              </a:rPr>
              <a:t>4</a:t>
            </a:r>
            <a:endParaRPr lang="zh-TW" altLang="en-US" sz="20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D634312-10C5-4DA2-9EF1-B9F3ACB5E4F1}"/>
              </a:ext>
            </a:extLst>
          </p:cNvPr>
          <p:cNvSpPr txBox="1"/>
          <p:nvPr/>
        </p:nvSpPr>
        <p:spPr>
          <a:xfrm>
            <a:off x="1727200" y="5524500"/>
            <a:ext cx="9499600" cy="3462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Faire parler l'audience entre deux fêtes</a:t>
            </a:r>
            <a:endParaRPr lang="zh-TW" altLang="en-US" sz="16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E81E51B-CAE0-4AC8-A932-6BA895E02052}"/>
              </a:ext>
            </a:extLst>
          </p:cNvPr>
          <p:cNvSpPr txBox="1"/>
          <p:nvPr/>
        </p:nvSpPr>
        <p:spPr>
          <a:xfrm>
            <a:off x="1727200" y="58547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3A3A44"/>
                </a:solidFill>
              </a:rPr>
              <a:t>Question en légende et réponse à chaque commentaire sous 24 h  ·  suivi : commentaires par jour</a:t>
            </a:r>
          </a:p>
        </p:txBody>
      </p:sp>
    </p:spTree>
    <p:extLst>
      <p:ext uri="{BB962C8B-B14F-4D97-AF65-F5344CB8AC3E}">
        <p14:creationId xmlns:p14="http://schemas.microsoft.com/office/powerpoint/2010/main" val="2024313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79E01E-8748-FAE8-B9DB-90CF6C5B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Plan d'action — semaines suivantes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F398227-9EC2-4AAC-B004-3679E77E0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744817"/>
              </p:ext>
            </p:extLst>
          </p:nvPr>
        </p:nvGraphicFramePr>
        <p:xfrm>
          <a:off x="762000" y="1905000"/>
          <a:ext cx="10668000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48991615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49463495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041318134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427167077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Responsable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Échéance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Indicateur de réussite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32676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 dirty="0">
                          <a:solidFill>
                            <a:srgbClr val="1A1A2E"/>
                          </a:solidFill>
                        </a:rPr>
                        <a:t>Série « après les Lanternes » de J+1 à J+3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Contenu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13 – 15 févr.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Vues de J+1 ≥ 177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52017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Test d'heure : 12 h contre 20 h, en alternance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Réseaux sociaux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2 semaines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Vues à 24 h par post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8611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Carrousel glossaire contre post d'actualité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Contenu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Chaque jeudi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Taux d'enregistrement par 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4013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Post épinglé « commencez ici »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Réseaux sociaux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Lun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Visites du profil → abonnés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63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Répondre à tous les commentaires sous 24 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Communauté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Quotidien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dirty="0">
                          <a:solidFill>
                            <a:srgbClr val="3A3A44"/>
                          </a:solidFill>
                        </a:rPr>
                        <a:t>100 % de taux de réponse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4177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0A35D4B-E195-4387-9DC0-EF3404D6EA81}"/>
              </a:ext>
            </a:extLst>
          </p:cNvPr>
          <p:cNvSpPr/>
          <p:nvPr/>
        </p:nvSpPr>
        <p:spPr>
          <a:xfrm>
            <a:off x="762000" y="5537200"/>
            <a:ext cx="10668000" cy="508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2E96E9-059D-4FF7-A2BB-01EF67652DF5}"/>
              </a:ext>
            </a:extLst>
          </p:cNvPr>
          <p:cNvSpPr txBox="1"/>
          <p:nvPr/>
        </p:nvSpPr>
        <p:spPr>
          <a:xfrm>
            <a:off x="762000" y="5664200"/>
            <a:ext cx="10668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i="1">
                <a:solidFill>
                  <a:srgbClr val="6B7280"/>
                </a:solidFill>
              </a:rPr>
              <a:t>Un responsable par action  ·  Bilan des tests à la réunion hebdomadaire</a:t>
            </a:r>
            <a:endParaRPr lang="zh-TW" altLang="en-US" sz="1400" i="1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12729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 1">
            <a:extLst>
              <a:ext uri="{FF2B5EF4-FFF2-40B4-BE49-F238E27FC236}">
                <a16:creationId xmlns:a16="http://schemas.microsoft.com/office/drawing/2014/main" id="{E5B1EE8E-5EA8-75CA-BF44-31EF69AD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Fin janvier : quatre hypothèses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3294660-46E7-4FF0-BF4B-0E5F4A5D71F9}"/>
              </a:ext>
            </a:extLst>
          </p:cNvPr>
          <p:cNvSpPr/>
          <p:nvPr/>
        </p:nvSpPr>
        <p:spPr>
          <a:xfrm>
            <a:off x="762000" y="19050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ACDEAD-E3FF-4BB5-800D-3FDE834E269D}"/>
              </a:ext>
            </a:extLst>
          </p:cNvPr>
          <p:cNvSpPr/>
          <p:nvPr/>
        </p:nvSpPr>
        <p:spPr>
          <a:xfrm>
            <a:off x="762000" y="20828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CB82E14-6CC4-43F7-BC11-F4B9B0998E40}"/>
              </a:ext>
            </a:extLst>
          </p:cNvPr>
          <p:cNvSpPr/>
          <p:nvPr/>
        </p:nvSpPr>
        <p:spPr>
          <a:xfrm>
            <a:off x="4445000" y="2082800"/>
            <a:ext cx="12700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8A5A00"/>
                </a:solidFill>
              </a:rPr>
              <a:t>H1 · THÈME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A9A761-AF84-409F-BF4F-96766B6442F4}"/>
              </a:ext>
            </a:extLst>
          </p:cNvPr>
          <p:cNvSpPr txBox="1"/>
          <p:nvPr/>
        </p:nvSpPr>
        <p:spPr>
          <a:xfrm>
            <a:off x="1066800" y="20828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Le calendrier culturel attire plus de vues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79B5B9-5F2B-422B-AC64-8D341AD65A98}"/>
              </a:ext>
            </a:extLst>
          </p:cNvPr>
          <p:cNvSpPr txBox="1"/>
          <p:nvPr/>
        </p:nvSpPr>
        <p:spPr>
          <a:xfrm>
            <a:off x="1066800" y="28448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Avant la semaine du Nouvel An chinois, les trois meilleurs jours sont le 31 déc., le 25 déc. et le 1er janv.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C772483-E4EB-4D1A-8368-229E30B1D59E}"/>
              </a:ext>
            </a:extLst>
          </p:cNvPr>
          <p:cNvSpPr/>
          <p:nvPr/>
        </p:nvSpPr>
        <p:spPr>
          <a:xfrm>
            <a:off x="6273800" y="19050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3A54E-0B28-4466-AE9A-ACF41BFCCAC5}"/>
              </a:ext>
            </a:extLst>
          </p:cNvPr>
          <p:cNvSpPr/>
          <p:nvPr/>
        </p:nvSpPr>
        <p:spPr>
          <a:xfrm>
            <a:off x="6273800" y="20828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E514AE4-8E1B-4E88-ABEC-8210677EAB15}"/>
              </a:ext>
            </a:extLst>
          </p:cNvPr>
          <p:cNvSpPr/>
          <p:nvPr/>
        </p:nvSpPr>
        <p:spPr>
          <a:xfrm>
            <a:off x="9956800" y="2082800"/>
            <a:ext cx="12700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8A5A00"/>
                </a:solidFill>
              </a:rPr>
              <a:t>H2 · THÈME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AAFE91-4755-416B-A767-BCD219DE739B}"/>
              </a:ext>
            </a:extLst>
          </p:cNvPr>
          <p:cNvSpPr txBox="1"/>
          <p:nvPr/>
        </p:nvSpPr>
        <p:spPr>
          <a:xfrm>
            <a:off x="6578600" y="20828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Les contenus de référence sont plus enregistrés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45189C8-050B-438D-801C-5A556271C93F}"/>
              </a:ext>
            </a:extLst>
          </p:cNvPr>
          <p:cNvSpPr txBox="1"/>
          <p:nvPr/>
        </p:nvSpPr>
        <p:spPr>
          <a:xfrm>
            <a:off x="6578600" y="28448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Le taux d'enregistrement reste à 1,4 % en décembre comme en janvier : un format à garder fait-il mieux ?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1F014CE7-B377-4D38-B59E-B6808BB868A0}"/>
              </a:ext>
            </a:extLst>
          </p:cNvPr>
          <p:cNvSpPr/>
          <p:nvPr/>
        </p:nvSpPr>
        <p:spPr>
          <a:xfrm>
            <a:off x="762000" y="41148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EBA7F-0412-4355-BD67-27D8DD39F378}"/>
              </a:ext>
            </a:extLst>
          </p:cNvPr>
          <p:cNvSpPr/>
          <p:nvPr/>
        </p:nvSpPr>
        <p:spPr>
          <a:xfrm>
            <a:off x="7620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54F0823-1284-4E42-9BED-F0E950EA261A}"/>
              </a:ext>
            </a:extLst>
          </p:cNvPr>
          <p:cNvSpPr/>
          <p:nvPr/>
        </p:nvSpPr>
        <p:spPr>
          <a:xfrm>
            <a:off x="4445000" y="4292600"/>
            <a:ext cx="12700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8A5A00"/>
                </a:solidFill>
              </a:rPr>
              <a:t>H3 · APRÈS-FÊTE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33362FF-9692-467C-BCDE-B12620F9C234}"/>
              </a:ext>
            </a:extLst>
          </p:cNvPr>
          <p:cNvSpPr txBox="1"/>
          <p:nvPr/>
        </p:nvSpPr>
        <p:spPr>
          <a:xfrm>
            <a:off x="1066800" y="42926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Une suite le lendemain garde l'audience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AC9B10B-3E23-4F88-AC21-20684F115ACC}"/>
              </a:ext>
            </a:extLst>
          </p:cNvPr>
          <p:cNvSpPr txBox="1"/>
          <p:nvPr/>
        </p:nvSpPr>
        <p:spPr>
          <a:xfrm>
            <a:off x="1066800" y="5054600"/>
            <a:ext cx="4648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Après chaque pic, les vues et les abonnés retombent dès le jour suivant.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FA23EED-00DE-427F-9418-810C93DDD6D4}"/>
              </a:ext>
            </a:extLst>
          </p:cNvPr>
          <p:cNvSpPr/>
          <p:nvPr/>
        </p:nvSpPr>
        <p:spPr>
          <a:xfrm>
            <a:off x="6273800" y="41148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D6698F-A4BF-4643-AACD-FECD8FB67D91}"/>
              </a:ext>
            </a:extLst>
          </p:cNvPr>
          <p:cNvSpPr/>
          <p:nvPr/>
        </p:nvSpPr>
        <p:spPr>
          <a:xfrm>
            <a:off x="62738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6F207F0-7525-4DF8-BBA2-3528399A1702}"/>
              </a:ext>
            </a:extLst>
          </p:cNvPr>
          <p:cNvSpPr/>
          <p:nvPr/>
        </p:nvSpPr>
        <p:spPr>
          <a:xfrm>
            <a:off x="9956800" y="4292600"/>
            <a:ext cx="12700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8A5A00"/>
                </a:solidFill>
              </a:rPr>
              <a:t>H4 · HEURE</a:t>
            </a:r>
            <a:endParaRPr lang="zh-TW" altLang="en-US" sz="1200" b="1">
              <a:solidFill>
                <a:srgbClr val="8A5A0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8DAE924-AFA7-4A0F-BE20-4FA579C2EED4}"/>
              </a:ext>
            </a:extLst>
          </p:cNvPr>
          <p:cNvSpPr txBox="1"/>
          <p:nvPr/>
        </p:nvSpPr>
        <p:spPr>
          <a:xfrm>
            <a:off x="6578600" y="42926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L'heure de publication compte plus que le jour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C52A10A-64FE-4284-B040-902F62266209}"/>
              </a:ext>
            </a:extLst>
          </p:cNvPr>
          <p:cNvSpPr txBox="1"/>
          <p:nvPr/>
        </p:nvSpPr>
        <p:spPr>
          <a:xfrm>
            <a:off x="6578600" y="50546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Aucun jour ne se détache (médianes de 166 à 187 vues) et l'heure n'est pas suivie dans le dashboard.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2E96E9-059D-4FF7-A2BB-01EF67652DF5}"/>
              </a:ext>
            </a:extLst>
          </p:cNvPr>
          <p:cNvSpPr txBox="1"/>
          <p:nvPr/>
        </p:nvSpPr>
        <p:spPr>
          <a:xfrm>
            <a:off x="762000" y="6172200"/>
            <a:ext cx="10668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i="1">
                <a:solidFill>
                  <a:srgbClr val="6B7280"/>
                </a:solidFill>
              </a:rPr>
              <a:t>Chaque hypothèse part d'un constat et se vérifie par un indicateur  ·  Dashboard Excel, 12/2024 – 01/2025</a:t>
            </a:r>
            <a:endParaRPr lang="zh-TW" altLang="en-US" sz="1400" i="1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 1">
            <a:extLst>
              <a:ext uri="{FF2B5EF4-FFF2-40B4-BE49-F238E27FC236}">
                <a16:creationId xmlns:a16="http://schemas.microsoft.com/office/drawing/2014/main" id="{6279E01E-8748-FAE8-B9DB-90CF6C5B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Plan de test A/B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F398227-9EC2-4AAC-B004-3679E77E0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744817"/>
              </p:ext>
            </p:extLst>
          </p:nvPr>
        </p:nvGraphicFramePr>
        <p:xfrm>
          <a:off x="762000" y="1905000"/>
          <a:ext cx="10668000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3648991615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1494634959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4041318134"/>
                    </a:ext>
                  </a:extLst>
                </a:gridCol>
                <a:gridCol w="2768000">
                  <a:extLst>
                    <a:ext uri="{9D8B030D-6E8A-4147-A177-3AD203B41FA5}">
                      <a16:colId xmlns:a16="http://schemas.microsoft.com/office/drawing/2014/main" val="427167077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Hypothèse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Version A contre version B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Mesure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Règle de décision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32676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 dirty="0">
                          <a:solidFill>
                            <a:srgbClr val="1A1A2E"/>
                          </a:solidFill>
                        </a:rPr>
                        <a:t>H1 · Thème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Post de fête contre post d'actualité, même format, même heure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Vues à 48 h par post  ·  Lanternes, Qingming, 1er mai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Calendrier culturel adopté si A dépasse B à chaque fête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52017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H2 · Thème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Carrousel glossaire contre post d'actualité sur le même sujet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Taux d'enregistrement par post  ·  4 semaines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Un carrousel par semaine si A l'emporte 3 semaines sur 4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8611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H3 · Après-fête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Suite de la série le lendemain contre post habituel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Vues et abonnés de J+1 à J+3  ·  à chaque fête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Série gardée si J+1 reste au-dessus de la médiane (177 vues)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4013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H4 · Heure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Même format publié à 12 h contre 20 h, en alternance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Vues et nouveaux abonnés à 24 h  ·  2 semaines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Créneau retenu s'il gagne sur les deux indicateurs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63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0A35D4B-E195-4387-9DC0-EF3404D6EA81}"/>
              </a:ext>
            </a:extLst>
          </p:cNvPr>
          <p:cNvSpPr/>
          <p:nvPr/>
        </p:nvSpPr>
        <p:spPr>
          <a:xfrm>
            <a:off x="762000" y="5537200"/>
            <a:ext cx="10668000" cy="508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2E96E9-059D-4FF7-A2BB-01EF67652DF5}"/>
              </a:ext>
            </a:extLst>
          </p:cNvPr>
          <p:cNvSpPr txBox="1"/>
          <p:nvPr/>
        </p:nvSpPr>
        <p:spPr>
          <a:xfrm>
            <a:off x="762000" y="5664200"/>
            <a:ext cx="10668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i="1">
                <a:solidFill>
                  <a:srgbClr val="6B7280"/>
                </a:solidFill>
              </a:rPr>
              <a:t>Une seule variable change à la fois  ·  Mesure par post dans les statistiques de chaque note (le dashboard n'a que des totaux par jour)</a:t>
            </a:r>
            <a:endParaRPr lang="zh-TW" altLang="en-US" sz="1400" i="1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 1">
            <a:extLst>
              <a:ext uri="{FF2B5EF4-FFF2-40B4-BE49-F238E27FC236}">
                <a16:creationId xmlns:a16="http://schemas.microsoft.com/office/drawing/2014/main" id="{E5B1EE8E-5EA8-75CA-BF44-31EF69AD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Premiers signaux : 1er – 13 févr.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3294660-46E7-4FF0-BF4B-0E5F4A5D71F9}"/>
              </a:ext>
            </a:extLst>
          </p:cNvPr>
          <p:cNvSpPr/>
          <p:nvPr/>
        </p:nvSpPr>
        <p:spPr>
          <a:xfrm>
            <a:off x="762000" y="19050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ACDEAD-E3FF-4BB5-800D-3FDE834E269D}"/>
              </a:ext>
            </a:extLst>
          </p:cNvPr>
          <p:cNvSpPr/>
          <p:nvPr/>
        </p:nvSpPr>
        <p:spPr>
          <a:xfrm>
            <a:off x="762000" y="2082800"/>
            <a:ext cx="76200" cy="15494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CB82E14-6CC4-43F7-BC11-F4B9B0998E40}"/>
              </a:ext>
            </a:extLst>
          </p:cNvPr>
          <p:cNvSpPr/>
          <p:nvPr/>
        </p:nvSpPr>
        <p:spPr>
          <a:xfrm>
            <a:off x="4445000" y="2082800"/>
            <a:ext cx="12700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196B24"/>
                </a:solidFill>
              </a:rPr>
              <a:t>CONFIRMÉE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A9A761-AF84-409F-BF4F-96766B6442F4}"/>
              </a:ext>
            </a:extLst>
          </p:cNvPr>
          <p:cNvSpPr txBox="1"/>
          <p:nvPr/>
        </p:nvSpPr>
        <p:spPr>
          <a:xfrm>
            <a:off x="1066800" y="20828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Le creux d'après-fête se répète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79B5B9-5F2B-422B-AC64-8D341AD65A98}"/>
              </a:ext>
            </a:extLst>
          </p:cNvPr>
          <p:cNvSpPr txBox="1"/>
          <p:nvPr/>
        </p:nvSpPr>
        <p:spPr>
          <a:xfrm>
            <a:off x="1066800" y="28448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Semaine du 3 au 9 févr. : 1 310 vues (−57 %) et 13 abonnés contre 47 la semaine du Nouvel An (H3).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C772483-E4EB-4D1A-8368-229E30B1D59E}"/>
              </a:ext>
            </a:extLst>
          </p:cNvPr>
          <p:cNvSpPr/>
          <p:nvPr/>
        </p:nvSpPr>
        <p:spPr>
          <a:xfrm>
            <a:off x="6273800" y="19050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3A54E-0B28-4466-AE9A-ACF41BFCCAC5}"/>
              </a:ext>
            </a:extLst>
          </p:cNvPr>
          <p:cNvSpPr/>
          <p:nvPr/>
        </p:nvSpPr>
        <p:spPr>
          <a:xfrm>
            <a:off x="6273800" y="2082800"/>
            <a:ext cx="76200" cy="15494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E514AE4-8E1B-4E88-ABEC-8210677EAB15}"/>
              </a:ext>
            </a:extLst>
          </p:cNvPr>
          <p:cNvSpPr/>
          <p:nvPr/>
        </p:nvSpPr>
        <p:spPr>
          <a:xfrm>
            <a:off x="9956800" y="2082800"/>
            <a:ext cx="12700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196B24"/>
                </a:solidFill>
              </a:rPr>
              <a:t>ATTEINT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AAFE91-4755-416B-A767-BCD219DE739B}"/>
              </a:ext>
            </a:extLst>
          </p:cNvPr>
          <p:cNvSpPr txBox="1"/>
          <p:nvPr/>
        </p:nvSpPr>
        <p:spPr>
          <a:xfrm>
            <a:off x="6578600" y="20828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Le taux d'enregistrement a tenu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45189C8-050B-438D-801C-5A556271C93F}"/>
              </a:ext>
            </a:extLst>
          </p:cNvPr>
          <p:cNvSpPr txBox="1"/>
          <p:nvPr/>
        </p:nvSpPr>
        <p:spPr>
          <a:xfrm>
            <a:off x="6578600" y="28448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1,45 % des vues du 3 au 9 févr. (objectif ≥ 1,3 %) et un engagement à 6,1 % : le public resté est fidèle.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1F014CE7-B377-4D38-B59E-B6808BB868A0}"/>
              </a:ext>
            </a:extLst>
          </p:cNvPr>
          <p:cNvSpPr/>
          <p:nvPr/>
        </p:nvSpPr>
        <p:spPr>
          <a:xfrm>
            <a:off x="762000" y="41148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EBA7F-0412-4355-BD67-27D8DD39F378}"/>
              </a:ext>
            </a:extLst>
          </p:cNvPr>
          <p:cNvSpPr/>
          <p:nvPr/>
        </p:nvSpPr>
        <p:spPr>
          <a:xfrm>
            <a:off x="7620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54F0823-1284-4E42-9BED-F0E950EA261A}"/>
              </a:ext>
            </a:extLst>
          </p:cNvPr>
          <p:cNvSpPr/>
          <p:nvPr/>
        </p:nvSpPr>
        <p:spPr>
          <a:xfrm>
            <a:off x="4445000" y="4292600"/>
            <a:ext cx="12700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8A5A00"/>
                </a:solidFill>
              </a:rPr>
              <a:t>NON ATTEINT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33362FF-9692-467C-BCDE-B12620F9C234}"/>
              </a:ext>
            </a:extLst>
          </p:cNvPr>
          <p:cNvSpPr txBox="1"/>
          <p:nvPr/>
        </p:nvSpPr>
        <p:spPr>
          <a:xfrm>
            <a:off x="1066800" y="42926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Test glossaire : objectif manqué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AC9B10B-3E23-4F88-AC21-20684F115ACC}"/>
              </a:ext>
            </a:extLst>
          </p:cNvPr>
          <p:cNvSpPr txBox="1"/>
          <p:nvPr/>
        </p:nvSpPr>
        <p:spPr>
          <a:xfrm>
            <a:off x="1066800" y="5054600"/>
            <a:ext cx="4648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Jeudi 6 févr. : 3 enregistrements contre 5,7 visés. L'objectif venait de la semaine des fêtes (H2 reste à tester).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FA23EED-00DE-427F-9418-810C93DDD6D4}"/>
              </a:ext>
            </a:extLst>
          </p:cNvPr>
          <p:cNvSpPr/>
          <p:nvPr/>
        </p:nvSpPr>
        <p:spPr>
          <a:xfrm>
            <a:off x="6273800" y="41148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D6698F-A4BF-4643-AACD-FECD8FB67D91}"/>
              </a:ext>
            </a:extLst>
          </p:cNvPr>
          <p:cNvSpPr/>
          <p:nvPr/>
        </p:nvSpPr>
        <p:spPr>
          <a:xfrm>
            <a:off x="62738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6F207F0-7525-4DF8-BBA2-3528399A1702}"/>
              </a:ext>
            </a:extLst>
          </p:cNvPr>
          <p:cNvSpPr/>
          <p:nvPr/>
        </p:nvSpPr>
        <p:spPr>
          <a:xfrm>
            <a:off x="9956800" y="4292600"/>
            <a:ext cx="12700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8A5A00"/>
                </a:solidFill>
              </a:rPr>
              <a:t>À REVOIR</a:t>
            </a:r>
            <a:endParaRPr lang="zh-TW" altLang="en-US" sz="1200" b="1">
              <a:solidFill>
                <a:srgbClr val="8A5A0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8DAE924-AFA7-4A0F-BE20-4FA579C2EED4}"/>
              </a:ext>
            </a:extLst>
          </p:cNvPr>
          <p:cNvSpPr txBox="1"/>
          <p:nvPr/>
        </p:nvSpPr>
        <p:spPr>
          <a:xfrm>
            <a:off x="6578600" y="42926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Fête des lanternes : effet décalé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C52A10A-64FE-4284-B040-902F62266209}"/>
              </a:ext>
            </a:extLst>
          </p:cNvPr>
          <p:cNvSpPr txBox="1"/>
          <p:nvPr/>
        </p:nvSpPr>
        <p:spPr>
          <a:xfrm>
            <a:off x="6578600" y="50546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12 févr. : 176 vues ; 13 févr. : 355, deux fois la médiane. Le pic arrive le lendemain (H4 à tester).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2E96E9-059D-4FF7-A2BB-01EF67652DF5}"/>
              </a:ext>
            </a:extLst>
          </p:cNvPr>
          <p:cNvSpPr txBox="1"/>
          <p:nvPr/>
        </p:nvSpPr>
        <p:spPr>
          <a:xfrm>
            <a:off x="762000" y="6172200"/>
            <a:ext cx="10668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i="1">
                <a:solidFill>
                  <a:srgbClr val="6B7280"/>
                </a:solidFill>
              </a:rPr>
              <a:t>Lecture sur les totaux quotidiens du dashboard Excel : un post n'y est pas isolé des autres publications du jour</a:t>
            </a:r>
            <a:endParaRPr lang="zh-TW" altLang="en-US" sz="1400" i="1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 [1780680433428]">
  <a:themeElements>
    <a:clrScheme name="Office">
      <a:dk1>
        <a:srgbClr val="1A1A2E"/>
      </a:dk1>
      <a:lt1>
        <a:srgbClr val="FFFFFF"/>
      </a:lt1>
      <a:dk2>
        <a:srgbClr val="2B2D42"/>
      </a:dk2>
      <a:lt2>
        <a:srgbClr val="FBF7F2"/>
      </a:lt2>
      <a:accent1>
        <a:srgbClr val="C8102E"/>
      </a:accent1>
      <a:accent2>
        <a:srgbClr val="F4A300"/>
      </a:accent2>
      <a:accent3>
        <a:srgbClr val="2B2D42"/>
      </a:accent3>
      <a:accent4>
        <a:srgbClr val="E8825A"/>
      </a:accent4>
      <a:accent5>
        <a:srgbClr val="3A7D8C"/>
      </a:accent5>
      <a:accent6>
        <a:srgbClr val="6B7280"/>
      </a:accent6>
      <a:hlink>
        <a:srgbClr val="467886"/>
      </a:hlink>
      <a:folHlink>
        <a:srgbClr val="96607D"/>
      </a:folHlink>
    </a:clrScheme>
    <a:fontScheme name="Office">
      <a:majorFont>
        <a:latin typeface="Poppi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DF86862-D519-40AA-91B8-2CE1ACBDEEF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1fb6c2b-a2f1-40e7-a5dd-7f025dc0eec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572</Words>
  <Application>Microsoft Office PowerPoint</Application>
  <PresentationFormat>Grand écran</PresentationFormat>
  <Paragraphs>105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Poppins</vt:lpstr>
      <vt:lpstr>Thème Office [1780680433428]</vt:lpstr>
      <vt:lpstr>ENGOO · XIAOHONGSHU  |  PERFORMANCE SOCIALE HEBDOMADAIRE</vt:lpstr>
      <vt:lpstr>Synthèse</vt:lpstr>
      <vt:lpstr>Tableau de bord des KPI</vt:lpstr>
      <vt:lpstr>Aperçu des contenus</vt:lpstr>
      <vt:lpstr>Les moteurs de la semaine</vt:lpstr>
      <vt:lpstr>Recommandations</vt:lpstr>
      <vt:lpstr>Semaine prochaine — Plan d'action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TSENG Yu-Ting</dc:creator>
  <cp:lastModifiedBy>TSENG Yu-Ting</cp:lastModifiedBy>
  <cp:revision>15</cp:revision>
  <dcterms:created xsi:type="dcterms:W3CDTF">2026-06-05T16:38:19Z</dcterms:created>
  <dcterms:modified xsi:type="dcterms:W3CDTF">2026-10-23T06:13:24Z</dcterms:modified>
</cp:coreProperties>
</file>