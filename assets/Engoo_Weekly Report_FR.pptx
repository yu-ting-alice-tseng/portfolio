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317" r:id="rId3"/>
    <p:sldId id="325" r:id="rId4"/>
    <p:sldId id="323" r:id="rId5"/>
    <p:sldId id="324" r:id="rId6"/>
    <p:sldId id="320" r:id="rId7"/>
    <p:sldId id="315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Vues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(Feuil1!$A$2:$A$8,Feuil1!$M$2:$M$8)</c:f>
              <c:strCache>
                <c:ptCount val="14"/>
                <c:pt idx="0">
                  <c:v>Lun 27 / 20</c:v>
                </c:pt>
                <c:pt idx="1">
                  <c:v>Mar 28 / 21</c:v>
                </c:pt>
                <c:pt idx="2">
                  <c:v>Mer 29 / 22</c:v>
                </c:pt>
                <c:pt idx="3">
                  <c:v>Jeu 30 / 23</c:v>
                </c:pt>
                <c:pt idx="4">
                  <c:v>Ven 31 / 24</c:v>
                </c:pt>
                <c:pt idx="5">
                  <c:v>Sam 1 / 25</c:v>
                </c:pt>
                <c:pt idx="6">
                  <c:v>Dim 2 / 26</c:v>
                </c:pt>
                <c:pt idx="7">
                  <c:v>Lun 20</c:v>
                </c:pt>
                <c:pt idx="8">
                  <c:v>Mar 21</c:v>
                </c:pt>
                <c:pt idx="9">
                  <c:v>Mer 22</c:v>
                </c:pt>
                <c:pt idx="10">
                  <c:v>Jeu 23</c:v>
                </c:pt>
                <c:pt idx="11">
                  <c:v>Ven 24</c:v>
                </c:pt>
                <c:pt idx="12">
                  <c:v>Sam 25</c:v>
                </c:pt>
                <c:pt idx="13">
                  <c:v>Dim 26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436</c:v>
                </c:pt>
                <c:pt idx="1">
                  <c:v>523</c:v>
                </c:pt>
                <c:pt idx="2">
                  <c:v>450</c:v>
                </c:pt>
                <c:pt idx="3">
                  <c:v>516</c:v>
                </c:pt>
                <c:pt idx="4">
                  <c:v>413</c:v>
                </c:pt>
                <c:pt idx="5">
                  <c:v>515</c:v>
                </c:pt>
                <c:pt idx="6">
                  <c:v>210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ser>
          <c:idx val="1"/>
          <c:order val="2"/>
          <c:tx>
            <c:v>Vues (semaine précédente)</c:v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B2D4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Feuil1!$N$2:$N$8</c:f>
              <c:numCache>
                <c:formatCode>General</c:formatCode>
                <c:ptCount val="7"/>
                <c:pt idx="0">
                  <c:v>173</c:v>
                </c:pt>
                <c:pt idx="1">
                  <c:v>174</c:v>
                </c:pt>
                <c:pt idx="2">
                  <c:v>177</c:v>
                </c:pt>
                <c:pt idx="3">
                  <c:v>517</c:v>
                </c:pt>
                <c:pt idx="4">
                  <c:v>185</c:v>
                </c:pt>
                <c:pt idx="5">
                  <c:v>240</c:v>
                </c:pt>
                <c:pt idx="6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11-4BF4-91DD-C12B2E928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5"/>
          <c:order val="1"/>
          <c:tx>
            <c:strRef>
              <c:f>Feuil1!$J$1</c:f>
              <c:strCache>
                <c:ptCount val="1"/>
                <c:pt idx="0">
                  <c:v>Taux d'engagement</c:v>
                </c:pt>
              </c:strCache>
            </c:strRef>
          </c:tx>
          <c:spPr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3390138732658415E-2"/>
                  <c:y val="-5.78495113292350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D7-4346-9C30-AC9512C95ACB}"/>
                </c:ext>
              </c:extLst>
            </c:dLbl>
            <c:dLbl>
              <c:idx val="1"/>
              <c:layout>
                <c:manualLayout>
                  <c:x val="-3.981871016122987E-2"/>
                  <c:y val="-6.85589482826954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7-4346-9C30-AC9512C95ACB}"/>
                </c:ext>
              </c:extLst>
            </c:dLbl>
            <c:dLbl>
              <c:idx val="3"/>
              <c:layout>
                <c:manualLayout>
                  <c:x val="-2.3152043494563138E-2"/>
                  <c:y val="1.7116547344987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7-4346-9C30-AC9512C95ACB}"/>
                </c:ext>
              </c:extLst>
            </c:dLbl>
            <c:dLbl>
              <c:idx val="4"/>
              <c:layout>
                <c:manualLayout>
                  <c:x val="-2.1961567304087076E-2"/>
                  <c:y val="-8.99778221896160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D7-4346-9C30-AC9512C95ACB}"/>
                </c:ext>
              </c:extLst>
            </c:dLbl>
            <c:dLbl>
              <c:idx val="6"/>
              <c:layout>
                <c:manualLayout>
                  <c:x val="-4.1044244469441316E-3"/>
                  <c:y val="-6.3204229805965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C8102E"/>
                    </a:solidFill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Feuil1!$A$2:$A$8</c:f>
              <c:strCache>
                <c:ptCount val="7"/>
                <c:pt idx="0">
                  <c:v>Lun 27 / 20</c:v>
                </c:pt>
                <c:pt idx="1">
                  <c:v>Mar 28 / 21</c:v>
                </c:pt>
                <c:pt idx="2">
                  <c:v>Mer 29 / 22</c:v>
                </c:pt>
                <c:pt idx="3">
                  <c:v>Jeu 30 / 23</c:v>
                </c:pt>
                <c:pt idx="4">
                  <c:v>Ven 31 / 24</c:v>
                </c:pt>
                <c:pt idx="5">
                  <c:v>Sam 1 / 25</c:v>
                </c:pt>
                <c:pt idx="6">
                  <c:v>Dim 2 / 26</c:v>
                </c:pt>
              </c:strCache>
            </c:strRef>
          </c:cat>
          <c:val>
            <c:numRef>
              <c:f>Feuil1!$J$2:$J$8</c:f>
              <c:numCache>
                <c:formatCode>0.00%</c:formatCode>
                <c:ptCount val="7"/>
                <c:pt idx="0">
                  <c:v>4.82E-2</c:v>
                </c:pt>
                <c:pt idx="1">
                  <c:v>5.5399999999999998E-2</c:v>
                </c:pt>
                <c:pt idx="2">
                  <c:v>7.1099999999999997E-2</c:v>
                </c:pt>
                <c:pt idx="3">
                  <c:v>5.04E-2</c:v>
                </c:pt>
                <c:pt idx="4">
                  <c:v>6.0499999999999998E-2</c:v>
                </c:pt>
                <c:pt idx="5">
                  <c:v>4.6600000000000003E-2</c:v>
                </c:pt>
                <c:pt idx="6">
                  <c:v>5.7099999999999998E-2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11-4BF4-91DD-C12B2E928AD4}"/>
            </c:ext>
          </c:extLst>
        </c:ser>
        <c:ser>
          <c:idx val="2"/>
          <c:order val="3"/>
          <c:tx>
            <c:v>Taux d'engagement (semaine précédente)</c:v>
          </c:tx>
          <c:spPr>
            <a:ln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</c:marker>
          <c:dLbls>
            <c:dLbl>
              <c:idx val="3"/>
              <c:layout>
                <c:manualLayout>
                  <c:x val="-2.3152043494563138E-2"/>
                  <c:y val="-6.4071103915268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8A6D00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val>
            <c:numRef>
              <c:f>Feuil1!$V$2:$V$8</c:f>
              <c:numCache>
                <c:formatCode>0.00%</c:formatCode>
                <c:ptCount val="7"/>
                <c:pt idx="0">
                  <c:v>4.046242774566474E-2</c:v>
                </c:pt>
                <c:pt idx="1">
                  <c:v>2.8735632183908046E-2</c:v>
                </c:pt>
                <c:pt idx="2">
                  <c:v>5.6497175141242938E-2</c:v>
                </c:pt>
                <c:pt idx="3">
                  <c:v>7.3500967117988397E-2</c:v>
                </c:pt>
                <c:pt idx="4">
                  <c:v>6.4864864864864868E-2</c:v>
                </c:pt>
                <c:pt idx="5">
                  <c:v>4.1666666666666664E-2</c:v>
                </c:pt>
                <c:pt idx="6">
                  <c:v>3.951890034364261E-2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11-4BF4-91DD-C12B2E928A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9528671"/>
        <c:axId val="1519531551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  <c:valAx>
        <c:axId val="1519531551"/>
        <c:scaling>
          <c:orientation val="minMax"/>
          <c:max val="0.2"/>
        </c:scaling>
        <c:delete val="0"/>
        <c:axPos val="r"/>
        <c:numFmt formatCode="0%" sourceLinked="0"/>
        <c:majorTickMark val="none"/>
        <c:minorTickMark val="none"/>
        <c:tickLblPos val="nextTo"/>
        <c:crossAx val="1519528671"/>
        <c:crosses val="max"/>
        <c:crossBetween val="between"/>
      </c:valAx>
      <c:catAx>
        <c:axId val="15195286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31551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PERFORMANCE SOCIALE HEBDOMADAIRE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/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Semaine du rapport : 27 janv. – 2 févr.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La campagne du Nouvel An chinois signe la meilleure semaine depuis le début du suivi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65690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L'année du Serpent prend son envol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144465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70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Synthèse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736600" y="1879600"/>
            <a:ext cx="107188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9144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701800" y="1993900"/>
            <a:ext cx="9550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Meilleure semaine depuis le début du suivi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701800" y="2298700"/>
            <a:ext cx="9550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 dirty="0">
                <a:solidFill>
                  <a:srgbClr val="C8102E"/>
                </a:solidFill>
                <a:latin typeface="Poppins"/>
                <a:cs typeface="Poppins"/>
              </a:rPr>
              <a:t>3 063 vues  ·  +50 % vs S-1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736600" y="2819400"/>
            <a:ext cx="107188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9144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701800" y="2933700"/>
            <a:ext cx="9550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Les nouveaux abonnés ont plus que doublé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701800" y="3238500"/>
            <a:ext cx="9550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 dirty="0">
                <a:solidFill>
                  <a:srgbClr val="C8102E"/>
                </a:solidFill>
                <a:latin typeface="Poppins"/>
                <a:cs typeface="Poppins"/>
              </a:rPr>
              <a:t>+47 nouveaux abonnés  ·  +147 % vs S-1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736600" y="3759200"/>
            <a:ext cx="107188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9144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701800" y="3873500"/>
            <a:ext cx="9550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Taux d'engagement à 5,5 %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701800" y="4178300"/>
            <a:ext cx="9550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 dirty="0">
                <a:solidFill>
                  <a:srgbClr val="C8102E"/>
                </a:solidFill>
                <a:latin typeface="Poppins"/>
                <a:cs typeface="Poppins"/>
              </a:rPr>
              <a:t>Enregistrements +67 %  ·  Commentaires +75 %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736600" y="4699000"/>
            <a:ext cx="107188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9144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701800" y="4813300"/>
            <a:ext cx="9550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Visites du profil en hausse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701800" y="5118100"/>
            <a:ext cx="9550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 dirty="0">
                <a:solidFill>
                  <a:srgbClr val="C8102E"/>
                </a:solidFill>
                <a:latin typeface="Poppins"/>
                <a:cs typeface="Poppins"/>
              </a:rPr>
              <a:t>175 visites du profil  ·  +36 % vs S-1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736600" y="5638800"/>
            <a:ext cx="107188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9144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701800" y="5753100"/>
            <a:ext cx="9550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À retenir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701800" y="6057900"/>
            <a:ext cx="9550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La dynamique est réelle : surveiller la baisse post-fêtes.</a:t>
            </a:r>
          </a:p>
        </p:txBody>
      </p:sp>
    </p:spTree>
    <p:extLst>
      <p:ext uri="{BB962C8B-B14F-4D97-AF65-F5344CB8AC3E}">
        <p14:creationId xmlns:p14="http://schemas.microsoft.com/office/powerpoint/2010/main" val="358761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Tableau de bord des KPI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647700" y="1905000"/>
            <a:ext cx="3429000" cy="103146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876300" y="2026920"/>
            <a:ext cx="29718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Vues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876300" y="2311839"/>
            <a:ext cx="2971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3 063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686050" y="2339341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+50 %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381500" y="1905000"/>
            <a:ext cx="3429000" cy="103146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10100" y="2026920"/>
            <a:ext cx="29718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Nouveaux abonnés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10100" y="2311839"/>
            <a:ext cx="2971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47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400800" y="234442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+147 %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115300" y="1905000"/>
            <a:ext cx="3429000" cy="103146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343900" y="2026920"/>
            <a:ext cx="29718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Taux d'engagement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343900" y="2311839"/>
            <a:ext cx="2971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5,5 %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10134600" y="2396545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</a:rPr>
              <a:t>▲ +0,4 pt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647700" y="3139439"/>
            <a:ext cx="3429000" cy="1021919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876300" y="3261360"/>
            <a:ext cx="29718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Enregistrements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876300" y="3546278"/>
            <a:ext cx="2971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40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686050" y="360702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+67 %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381500" y="3139439"/>
            <a:ext cx="3429000" cy="1021919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10100" y="3261360"/>
            <a:ext cx="29718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Commentaires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10100" y="3546278"/>
            <a:ext cx="2971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14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400800" y="359663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+75 %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115300" y="3139439"/>
            <a:ext cx="3429000" cy="1021919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343900" y="3261360"/>
            <a:ext cx="29718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Temps de visionnage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343900" y="3546278"/>
            <a:ext cx="2971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22 h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10134600" y="360702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+46 %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647700" y="6502400"/>
            <a:ext cx="10896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Semaine du 27 janv. au 2 févr. 2025 vs semaine du 20 au 26 janv. 2025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647700" y="1905000"/>
            <a:ext cx="3429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381500" y="1905000"/>
            <a:ext cx="3429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115300" y="1905000"/>
            <a:ext cx="3429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647700" y="3139439"/>
            <a:ext cx="3429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381500" y="3139439"/>
            <a:ext cx="3429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115300" y="3139439"/>
            <a:ext cx="3429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/>
        </p:nvGraphicFramePr>
        <p:xfrm>
          <a:off x="762000" y="4222100"/>
          <a:ext cx="10668000" cy="2371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962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E69CA-1360-DFB5-41D5-2FBA0728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Aperçu des contenus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10C82A-4602-5EC7-A8C8-48E9A13A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90" y="1937026"/>
            <a:ext cx="2387600" cy="3175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696848E-EE7C-52A9-946D-353DB91F0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668" y="1937026"/>
            <a:ext cx="2387600" cy="3175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6B14EDE-1E9E-9941-19E9-CE62881DD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049" y="1937026"/>
            <a:ext cx="2387600" cy="317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FC17A4-CF94-44CE-A321-4F3679CEFD52}"/>
              </a:ext>
            </a:extLst>
          </p:cNvPr>
          <p:cNvSpPr/>
          <p:nvPr/>
        </p:nvSpPr>
        <p:spPr>
          <a:xfrm>
            <a:off x="95239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3361FC-C2B2-4F13-B5D8-AB5BD7BAD89D}"/>
              </a:ext>
            </a:extLst>
          </p:cNvPr>
          <p:cNvSpPr txBox="1"/>
          <p:nvPr/>
        </p:nvSpPr>
        <p:spPr>
          <a:xfrm>
            <a:off x="952389" y="5315226"/>
            <a:ext cx="2999409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Zodiaque du Nouvel An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65CF66-E978-40A7-871F-0A13CF4B81AA}"/>
              </a:ext>
            </a:extLst>
          </p:cNvPr>
          <p:cNvSpPr txBox="1"/>
          <p:nvPr/>
        </p:nvSpPr>
        <p:spPr>
          <a:xfrm>
            <a:off x="952390" y="5692874"/>
            <a:ext cx="2387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Classements de chance + couleurs porte-bonheur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0A78B-B49D-4449-9C4C-3E95DB16B6C5}"/>
              </a:ext>
            </a:extLst>
          </p:cNvPr>
          <p:cNvSpPr/>
          <p:nvPr/>
        </p:nvSpPr>
        <p:spPr>
          <a:xfrm>
            <a:off x="4807668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BBC2C6-D917-49BE-8A50-C9A1E46EC8ED}"/>
              </a:ext>
            </a:extLst>
          </p:cNvPr>
          <p:cNvSpPr txBox="1"/>
          <p:nvPr/>
        </p:nvSpPr>
        <p:spPr>
          <a:xfrm>
            <a:off x="4807668" y="5315226"/>
            <a:ext cx="23876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Actualités bilingues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637533-9A1F-41B6-80CA-E4005D4896D8}"/>
              </a:ext>
            </a:extLst>
          </p:cNvPr>
          <p:cNvSpPr txBox="1"/>
          <p:nvPr/>
        </p:nvSpPr>
        <p:spPr>
          <a:xfrm>
            <a:off x="4807668" y="5692874"/>
            <a:ext cx="23876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Actualités quotidiennes qui servent aussi de support d'étude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6CFDEC-B9C8-4132-856A-DBB9C679F962}"/>
              </a:ext>
            </a:extLst>
          </p:cNvPr>
          <p:cNvSpPr/>
          <p:nvPr/>
        </p:nvSpPr>
        <p:spPr>
          <a:xfrm>
            <a:off x="8973049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5A5ED1-DBE3-4460-913E-A12054766F09}"/>
              </a:ext>
            </a:extLst>
          </p:cNvPr>
          <p:cNvSpPr txBox="1"/>
          <p:nvPr/>
        </p:nvSpPr>
        <p:spPr>
          <a:xfrm>
            <a:off x="8973049" y="5315226"/>
            <a:ext cx="2794882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Jeux de mots festifs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9AE520-5462-446E-AEF7-4865080F59A0}"/>
              </a:ext>
            </a:extLst>
          </p:cNvPr>
          <p:cNvSpPr/>
          <p:nvPr/>
        </p:nvSpPr>
        <p:spPr>
          <a:xfrm>
            <a:off x="90159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DBFBD0-2738-466A-9886-043C0E89196B}"/>
              </a:ext>
            </a:extLst>
          </p:cNvPr>
          <p:cNvSpPr txBox="1"/>
          <p:nvPr/>
        </p:nvSpPr>
        <p:spPr>
          <a:xfrm>
            <a:off x="8973049" y="5673217"/>
            <a:ext cx="2387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Devinettes bilingues pour la Fête des lanternes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846B61-63D3-435B-9C23-963B13265FDF}"/>
              </a:ext>
            </a:extLst>
          </p:cNvPr>
          <p:cNvSpPr/>
          <p:nvPr/>
        </p:nvSpPr>
        <p:spPr>
          <a:xfrm>
            <a:off x="4756868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AE3124-FAB4-4D03-9469-403C638DA1A3}"/>
              </a:ext>
            </a:extLst>
          </p:cNvPr>
          <p:cNvSpPr/>
          <p:nvPr/>
        </p:nvSpPr>
        <p:spPr>
          <a:xfrm>
            <a:off x="8922249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268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Les moteurs de la semaine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 calendrier culturel a payé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844800"/>
            <a:ext cx="4521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Publier le contenu Zodiaque aux dates exactes du Nouvel An chinois nous a placés face à une audience en forte hausse et motivée.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Plus d'enregistrements que de j'aime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844800"/>
            <a:ext cx="4521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40 enregistrements (+67 %) : les utilisateurs gardent les posts comme supports d'étude et y reviennent, un comportement à forte valeur.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RÉUSSI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Les abonnés ont fortement progressé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505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+47 nouveaux abonnés (+147 %) : la série des fêtes a converti les visiteurs en abonnés.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À SURVEILLER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Surveiller la baisse après les fêtes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5054600"/>
            <a:ext cx="45212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Dimanche 2 févr., les vues sont tombées à 210 avec la fin des fêtes. Retour à la normale attendu la semaine prochaine sans nouvelle accroche.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02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Recommandations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736600" y="2032000"/>
            <a:ext cx="107188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939800" y="22352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2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752600" y="2171700"/>
            <a:ext cx="94742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Planifier les contenus selon le calendrier culturel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752600" y="2501900"/>
            <a:ext cx="94742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Préparer des posts bilingues pour la Fête des lanternes, Qingming et le 1er mai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736600" y="3149600"/>
            <a:ext cx="107188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939800" y="33528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752600" y="3289300"/>
            <a:ext cx="94742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Miser sur les formats « à enregistrer »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752600" y="3619500"/>
            <a:ext cx="94742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Un carrousel de référence par semaine : classements, devinettes, glossaires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736600" y="4267200"/>
            <a:ext cx="107188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939800" y="44704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752600" y="4406900"/>
            <a:ext cx="94742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Convertir le pic d'abonnés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752600" y="4737100"/>
            <a:ext cx="94742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Épingler un post « commencez ici » + CTA d'essai gratuit tant que l'intérêt est fort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736600" y="5384800"/>
            <a:ext cx="107188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939800" y="55880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752600" y="5524500"/>
            <a:ext cx="94742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50" b="1">
                <a:solidFill>
                  <a:srgbClr val="1A1A2E"/>
                </a:solidFill>
                <a:latin typeface="Poppins"/>
                <a:cs typeface="Poppins"/>
              </a:rPr>
              <a:t>Répondre à chaque commentaire sous 24 h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752600" y="5854700"/>
            <a:ext cx="94742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Commentaires +75 % : des réponses régulières envoient un signal à l'algorithme</a:t>
            </a:r>
          </a:p>
        </p:txBody>
      </p:sp>
    </p:spTree>
    <p:extLst>
      <p:ext uri="{BB962C8B-B14F-4D97-AF65-F5344CB8AC3E}">
        <p14:creationId xmlns:p14="http://schemas.microsoft.com/office/powerpoint/2010/main" val="202431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Semaine prochaine — Plan d'action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96553"/>
              </p:ext>
            </p:extLst>
          </p:nvPr>
        </p:nvGraphicFramePr>
        <p:xfrm>
          <a:off x="762000" y="1905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Échéance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500" b="1">
                          <a:solidFill>
                            <a:srgbClr val="FFFFFF"/>
                          </a:solidFill>
                        </a:rPr>
                        <a:t>Indicateur de réussite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 dirty="0">
                          <a:solidFill>
                            <a:srgbClr val="1A1A2E"/>
                          </a:solidFill>
                        </a:rPr>
                        <a:t>Préparer en amont le carrousel de devinettes de la Fête des lanternes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Lun–Mar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Publier le jour de la fête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Épingler le post d'accueil « commencez ici » + CTA d'essai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Réseaux sociaux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Lun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Visites du profil → clics d'essai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Post d'actualité bilingue quotidien (prêt à étudier)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Maintenir le taux d'enregistrement ≥ 1,3 %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Répondre à tous les commentaires sous 24 h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Communauté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Quotidien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100 % de taux de réponse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A1A2E"/>
                          </a:solidFill>
                        </a:rPr>
                        <a:t>Tester 1 post de référence argot/glossaire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C8102E"/>
                          </a:solidFill>
                        </a:rPr>
                        <a:t>Contenu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>
                          <a:solidFill>
                            <a:srgbClr val="3A3A44"/>
                          </a:solidFill>
                        </a:rPr>
                        <a:t>Jeudi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dirty="0">
                          <a:solidFill>
                            <a:srgbClr val="3A3A44"/>
                          </a:solidFill>
                        </a:rPr>
                        <a:t>Dépasser la moyenne d'enregistrements (5,7/jour)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762000" y="5537200"/>
            <a:ext cx="106680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762000" y="5664200"/>
            <a:ext cx="10668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Un responsable par action · Bilan des résultats à la prochaine réunion hebdomadaire</a:t>
            </a:r>
            <a:endParaRPr lang="zh-TW" altLang="en-US" sz="13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4019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580</Words>
  <Application>Microsoft Office PowerPoint</Application>
  <PresentationFormat>Grand écran</PresentationFormat>
  <Paragraphs>108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PERFORMANCE SOCIALE HEBDOMADAIRE</vt:lpstr>
      <vt:lpstr>Synthèse</vt:lpstr>
      <vt:lpstr>Tableau de bord des KPI</vt:lpstr>
      <vt:lpstr>Meilleurs contenus</vt:lpstr>
      <vt:lpstr>Les moteurs de la semaine</vt:lpstr>
      <vt:lpstr>Recommandations</vt:lpstr>
      <vt:lpstr>Semaine prochaine — Plan d'action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14</cp:revision>
  <dcterms:created xsi:type="dcterms:W3CDTF">2026-06-05T16:38:19Z</dcterms:created>
  <dcterms:modified xsi:type="dcterms:W3CDTF">2026-10-23T05:08:36Z</dcterms:modified>
</cp:coreProperties>
</file>