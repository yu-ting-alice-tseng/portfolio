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4" r:id="rId2"/>
    <p:sldId id="315" r:id="rId3"/>
    <p:sldId id="309" r:id="rId4"/>
    <p:sldId id="316" r:id="rId5"/>
    <p:sldId id="317" r:id="rId6"/>
    <p:sldId id="313" r:id="rId7"/>
    <p:sldId id="31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  <c:pt idx="7">
                  <c:v>Mon 20</c:v>
                </c:pt>
                <c:pt idx="8">
                  <c:v>Tue 21</c:v>
                </c:pt>
                <c:pt idx="9">
                  <c:v>Wed 22</c:v>
                </c:pt>
                <c:pt idx="10">
                  <c:v>Thu 23</c:v>
                </c:pt>
                <c:pt idx="11">
                  <c:v>Fri 24</c:v>
                </c:pt>
                <c:pt idx="12">
                  <c:v>Sat 25</c:v>
                </c:pt>
                <c:pt idx="13">
                  <c:v>Sun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Views_Previous Week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Engagement Rate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Engagement Rate_Previous Week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WEEKLY SOCIAL PERFORMANCE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Reporting week: Jan 27 – Feb 2,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Chinese New Year campaign drives the strongest week since tracking began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57377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Year of the Snake Lift-Off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044709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838200" y="18796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10414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854200" y="19939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Best week since tracking began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854200" y="2298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3,063 views  ·  +50% WoW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838200" y="28194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10414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854200" y="29337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New followers more than doubled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854200" y="3238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+47 new  ·  +147% WoW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838200" y="37592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10414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854200" y="38735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Engagement rate hit 5.5%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854200" y="4178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Saves +67%  ·  Comments +75%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838200" y="46990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10414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854200" y="48133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Profile visits climbed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854200" y="51181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175 profile visits  ·  +36% WoW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838200" y="56388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10414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854200" y="57531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Takeaway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854200" y="6057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dirty="0">
                <a:solidFill>
                  <a:srgbClr val="3A3A44"/>
                </a:solidFill>
              </a:rPr>
              <a:t>Momentum is real — watch the post-holiday dip.</a:t>
            </a:r>
          </a:p>
        </p:txBody>
      </p:sp>
    </p:spTree>
    <p:extLst>
      <p:ext uri="{BB962C8B-B14F-4D97-AF65-F5344CB8AC3E}">
        <p14:creationId xmlns:p14="http://schemas.microsoft.com/office/powerpoint/2010/main" val="339544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KPI Scorecard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8382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10668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Views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10668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3,063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7368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+50%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450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736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New Followers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736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436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+147%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518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2804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Engagement Rate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2804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5.5%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99504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</a:rPr>
              <a:t>▲ +0.4pp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8382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10668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Saves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10668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7368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+67%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450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736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736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436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+75%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518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2804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Watch Time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2804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</a:t>
            </a:r>
            <a:r>
              <a:rPr lang="fr-FR" altLang="zh-TW" sz="2800" b="1" dirty="0" err="1">
                <a:solidFill>
                  <a:srgbClr val="1A1A2E"/>
                </a:solidFill>
                <a:latin typeface="Poppins"/>
                <a:cs typeface="Poppins"/>
              </a:rPr>
              <a:t>hrs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99504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+46%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838200" y="6502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Week of Jan 27 – </a:t>
            </a:r>
            <a:r>
              <a:rPr lang="fr-FR" altLang="zh-TW" sz="1400" i="1" dirty="0" err="1">
                <a:solidFill>
                  <a:srgbClr val="6B7280"/>
                </a:solidFill>
              </a:rPr>
              <a:t>Feb</a:t>
            </a:r>
            <a:r>
              <a:rPr lang="fr-FR" altLang="zh-TW" sz="1400" i="1" dirty="0">
                <a:solidFill>
                  <a:srgbClr val="6B7280"/>
                </a:solidFill>
              </a:rPr>
              <a:t> 2, 2025 vs Jan 20 – 26,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8382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450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518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8382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450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518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3654495304"/>
              </p:ext>
            </p:extLst>
          </p:nvPr>
        </p:nvGraphicFramePr>
        <p:xfrm>
          <a:off x="838200" y="4241800"/>
          <a:ext cx="10515600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41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69CA-1360-DFB5-41D5-2FBA0728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Content Highlights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0C82A-4602-5EC7-A8C8-48E9A13A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937026"/>
            <a:ext cx="2387600" cy="3175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696848E-EE7C-52A9-946D-353DB91F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0" y="1937026"/>
            <a:ext cx="2387600" cy="3175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6B14EDE-1E9E-9941-19E9-CE62881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937026"/>
            <a:ext cx="2387600" cy="317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C17A4-CF94-44CE-A321-4F3679CEFD52}"/>
              </a:ext>
            </a:extLst>
          </p:cNvPr>
          <p:cNvSpPr/>
          <p:nvPr/>
        </p:nvSpPr>
        <p:spPr>
          <a:xfrm>
            <a:off x="8890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3361FC-C2B2-4F13-B5D8-AB5BD7BAD89D}"/>
              </a:ext>
            </a:extLst>
          </p:cNvPr>
          <p:cNvSpPr txBox="1"/>
          <p:nvPr/>
        </p:nvSpPr>
        <p:spPr>
          <a:xfrm>
            <a:off x="889000" y="531495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Lunar New </a:t>
            </a:r>
            <a:r>
              <a:rPr lang="fr-FR" altLang="zh-TW" sz="1600" b="1" dirty="0" err="1">
                <a:solidFill>
                  <a:srgbClr val="1A1A2E"/>
                </a:solidFill>
                <a:latin typeface="Poppins"/>
                <a:cs typeface="Poppins"/>
              </a:rPr>
              <a:t>Year</a:t>
            </a:r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 Zodiac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65CF66-E978-40A7-871F-0A13CF4B81AA}"/>
              </a:ext>
            </a:extLst>
          </p:cNvPr>
          <p:cNvSpPr txBox="1"/>
          <p:nvPr/>
        </p:nvSpPr>
        <p:spPr>
          <a:xfrm>
            <a:off x="889000" y="5664200"/>
            <a:ext cx="279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Fortune rankings + lucky colors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0A78B-B49D-4449-9C4C-3E95DB16B6C5}"/>
              </a:ext>
            </a:extLst>
          </p:cNvPr>
          <p:cNvSpPr/>
          <p:nvPr/>
        </p:nvSpPr>
        <p:spPr>
          <a:xfrm>
            <a:off x="49022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BBC2C6-D917-49BE-8A50-C9A1E46EC8ED}"/>
              </a:ext>
            </a:extLst>
          </p:cNvPr>
          <p:cNvSpPr txBox="1"/>
          <p:nvPr/>
        </p:nvSpPr>
        <p:spPr>
          <a:xfrm>
            <a:off x="4902200" y="5314950"/>
            <a:ext cx="279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Bilingual News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637533-9A1F-41B6-80CA-E4005D4896D8}"/>
              </a:ext>
            </a:extLst>
          </p:cNvPr>
          <p:cNvSpPr txBox="1"/>
          <p:nvPr/>
        </p:nvSpPr>
        <p:spPr>
          <a:xfrm>
            <a:off x="4902200" y="5664200"/>
            <a:ext cx="279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Daily news that doubles as study material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FDEC-B9C8-4132-856A-DBB9C679F962}"/>
              </a:ext>
            </a:extLst>
          </p:cNvPr>
          <p:cNvSpPr/>
          <p:nvPr/>
        </p:nvSpPr>
        <p:spPr>
          <a:xfrm>
            <a:off x="89154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5A5ED1-DBE3-4460-913E-A12054766F09}"/>
              </a:ext>
            </a:extLst>
          </p:cNvPr>
          <p:cNvSpPr txBox="1"/>
          <p:nvPr/>
        </p:nvSpPr>
        <p:spPr>
          <a:xfrm>
            <a:off x="8915400" y="531495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Festival Word Games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E520-5462-446E-AEF7-4865080F59A0}"/>
              </a:ext>
            </a:extLst>
          </p:cNvPr>
          <p:cNvSpPr/>
          <p:nvPr/>
        </p:nvSpPr>
        <p:spPr>
          <a:xfrm>
            <a:off x="8382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BFBD0-2738-466A-9886-043C0E89196B}"/>
              </a:ext>
            </a:extLst>
          </p:cNvPr>
          <p:cNvSpPr txBox="1"/>
          <p:nvPr/>
        </p:nvSpPr>
        <p:spPr>
          <a:xfrm>
            <a:off x="8915400" y="5664200"/>
            <a:ext cx="279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Bilingual riddles for the Lantern Festival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46B61-63D3-435B-9C23-963B13265FDF}"/>
              </a:ext>
            </a:extLst>
          </p:cNvPr>
          <p:cNvSpPr/>
          <p:nvPr/>
        </p:nvSpPr>
        <p:spPr>
          <a:xfrm>
            <a:off x="48514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E3124-FAB4-4D03-9469-403C638DA1A3}"/>
              </a:ext>
            </a:extLst>
          </p:cNvPr>
          <p:cNvSpPr/>
          <p:nvPr/>
        </p:nvSpPr>
        <p:spPr>
          <a:xfrm>
            <a:off x="88646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1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What Drove the Week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Cultural timing won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Posting the Zodiac content on the actual CNY dates put us in front of a surging, intent-driven audience.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Saves grew faster than likes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saves (+67%, vs +59% for likes) means viewers bookmarked posts as study references — high-value, repeat-view behavior.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Followers compounded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new followers (+147%): the holiday series converted browsers into subscribers.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WATCH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Watch the post-holiday dip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Sunday (Feb 2) views fell to 210 as the holiday wound down. Expect normalization next week without a new hook.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838200" y="20066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1041400" y="22098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854200" y="21463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Build a cultural-calendar content engine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854200" y="2476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Pre-produce bilingual posts for Lantern, Qingming, May Day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838200" y="31750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1041400" y="33782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854200" y="33147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Lean into “save-worthy” formats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854200" y="3644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One reference carousel per week — rankings, riddles, glossaries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838200" y="43434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1041400" y="45466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854200" y="44831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Convert the follower spike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854200" y="4813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Pin a “start here” post + free-trial CTA while interest is warm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838200" y="55118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1041400" y="57150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854200" y="56515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50" b="1">
                <a:solidFill>
                  <a:srgbClr val="1A1A2E"/>
                </a:solidFill>
                <a:latin typeface="Poppins"/>
                <a:cs typeface="Poppins"/>
              </a:rPr>
              <a:t>Reply to every comment within 24h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854200" y="5981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Comments +75% — sustained replies signal the algorithm</a:t>
            </a:r>
          </a:p>
        </p:txBody>
      </p:sp>
    </p:spTree>
    <p:extLst>
      <p:ext uri="{BB962C8B-B14F-4D97-AF65-F5344CB8AC3E}">
        <p14:creationId xmlns:p14="http://schemas.microsoft.com/office/powerpoint/2010/main" val="274138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Next Week — Action Plan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51559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942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254828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Success 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Pre-build Lantern Festival riddle carousel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Mon–Tue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Publish on festival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Pin “start here” welcome post + trial CTA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Social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Profile-visit → trial clicks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Daily bilingual news post (study-ready)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Hold save rate ≥ 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Reply to all comments within 24h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Community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100% reply rate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Test 1 slang/glossary reference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Thu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A3A44"/>
                          </a:solidFill>
                        </a:rPr>
                        <a:t>Beat avg saves (5.7/day)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owner per action · Review outcomes at next weekly sync</a:t>
            </a:r>
            <a:endParaRPr lang="en-US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923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450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WEEKLY SOCIAL PERFORMANCE</vt:lpstr>
      <vt:lpstr>Executive Summary</vt:lpstr>
      <vt:lpstr>KPI Scorecard</vt:lpstr>
      <vt:lpstr>Content Highlights</vt:lpstr>
      <vt:lpstr>What Drove the Week</vt:lpstr>
      <vt:lpstr>Recommendations</vt:lpstr>
      <vt:lpstr>Next Week —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11</cp:revision>
  <dcterms:created xsi:type="dcterms:W3CDTF">2026-06-05T16:38:19Z</dcterms:created>
  <dcterms:modified xsi:type="dcterms:W3CDTF">2026-10-23T06:14:15Z</dcterms:modified>
</cp:coreProperties>
</file>